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10"/>
  </p:notesMasterIdLst>
  <p:handoutMasterIdLst>
    <p:handoutMasterId r:id="rId11"/>
  </p:handoutMasterIdLst>
  <p:sldIdLst>
    <p:sldId id="327" r:id="rId5"/>
    <p:sldId id="328" r:id="rId6"/>
    <p:sldId id="329" r:id="rId7"/>
    <p:sldId id="330" r:id="rId8"/>
    <p:sldId id="331" r:id="rId9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pos="1247">
          <p15:clr>
            <a:srgbClr val="A4A3A4"/>
          </p15:clr>
        </p15:guide>
        <p15:guide id="4" pos="5556">
          <p15:clr>
            <a:srgbClr val="A4A3A4"/>
          </p15:clr>
        </p15:guide>
        <p15:guide id="5" pos="2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CCECFF"/>
    <a:srgbClr val="4629C1"/>
    <a:srgbClr val="DAEEF3"/>
    <a:srgbClr val="CCFFFF"/>
    <a:srgbClr val="FF3300"/>
    <a:srgbClr val="FFDDDD"/>
    <a:srgbClr val="92D050"/>
    <a:srgbClr val="0043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7" autoAdjust="0"/>
    <p:restoredTop sz="99564" autoAdjust="0"/>
  </p:normalViewPr>
  <p:slideViewPr>
    <p:cSldViewPr>
      <p:cViewPr varScale="1">
        <p:scale>
          <a:sx n="112" d="100"/>
          <a:sy n="112" d="100"/>
        </p:scale>
        <p:origin x="1408" y="76"/>
      </p:cViewPr>
      <p:guideLst>
        <p:guide orient="horz" pos="709"/>
        <p:guide orient="horz" pos="890"/>
        <p:guide pos="1247"/>
        <p:guide pos="5556"/>
        <p:guide pos="2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2718" y="-114"/>
      </p:cViewPr>
      <p:guideLst>
        <p:guide orient="horz" pos="3127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55" cy="496411"/>
          </a:xfrm>
          <a:prstGeom prst="rect">
            <a:avLst/>
          </a:prstGeom>
        </p:spPr>
        <p:txBody>
          <a:bodyPr vert="horz" lIns="92131" tIns="46066" rIns="92131" bIns="46066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796" y="0"/>
            <a:ext cx="2946254" cy="496411"/>
          </a:xfrm>
          <a:prstGeom prst="rect">
            <a:avLst/>
          </a:prstGeom>
        </p:spPr>
        <p:txBody>
          <a:bodyPr vert="horz" lIns="92131" tIns="46066" rIns="92131" bIns="46066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FF70492-5960-4495-A3EA-9952C0CDFBA5}" type="datetimeFigureOut">
              <a:rPr lang="ko-KR" altLang="en-US"/>
              <a:pPr>
                <a:defRPr/>
              </a:pPr>
              <a:t>2025-07-03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635"/>
            <a:ext cx="2946255" cy="496411"/>
          </a:xfrm>
          <a:prstGeom prst="rect">
            <a:avLst/>
          </a:prstGeom>
        </p:spPr>
        <p:txBody>
          <a:bodyPr vert="horz" lIns="92131" tIns="46066" rIns="92131" bIns="46066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796" y="9428635"/>
            <a:ext cx="2946254" cy="496411"/>
          </a:xfrm>
          <a:prstGeom prst="rect">
            <a:avLst/>
          </a:prstGeom>
        </p:spPr>
        <p:txBody>
          <a:bodyPr vert="horz" lIns="92131" tIns="46066" rIns="92131" bIns="46066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8D7067F-43B3-412B-8FD9-BC28832880B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963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55" cy="496411"/>
          </a:xfrm>
          <a:prstGeom prst="rect">
            <a:avLst/>
          </a:prstGeom>
        </p:spPr>
        <p:txBody>
          <a:bodyPr vert="horz" lIns="92408" tIns="46204" rIns="92408" bIns="46204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796" y="0"/>
            <a:ext cx="2946254" cy="496411"/>
          </a:xfrm>
          <a:prstGeom prst="rect">
            <a:avLst/>
          </a:prstGeom>
        </p:spPr>
        <p:txBody>
          <a:bodyPr vert="horz" lIns="92408" tIns="46204" rIns="92408" bIns="46204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9049277-E488-46A5-A40C-7743367A23E6}" type="datetimeFigureOut">
              <a:rPr lang="ko-KR" altLang="en-US"/>
              <a:pPr>
                <a:defRPr/>
              </a:pPr>
              <a:t>2025-07-03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08" tIns="46204" rIns="92408" bIns="46204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906" y="4715909"/>
            <a:ext cx="5437490" cy="4466112"/>
          </a:xfrm>
          <a:prstGeom prst="rect">
            <a:avLst/>
          </a:prstGeom>
        </p:spPr>
        <p:txBody>
          <a:bodyPr vert="horz" lIns="92408" tIns="46204" rIns="92408" bIns="46204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635"/>
            <a:ext cx="2946255" cy="496411"/>
          </a:xfrm>
          <a:prstGeom prst="rect">
            <a:avLst/>
          </a:prstGeom>
        </p:spPr>
        <p:txBody>
          <a:bodyPr vert="horz" lIns="92408" tIns="46204" rIns="92408" bIns="46204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796" y="9428635"/>
            <a:ext cx="2946254" cy="496411"/>
          </a:xfrm>
          <a:prstGeom prst="rect">
            <a:avLst/>
          </a:prstGeom>
        </p:spPr>
        <p:txBody>
          <a:bodyPr vert="horz" lIns="92408" tIns="46204" rIns="92408" bIns="46204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DB7C76D-64E5-43DF-B540-77242ACFE0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677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FD7F743-6229-410A-9BB2-36F9E78CF58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607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66407254"/>
              </p:ext>
            </p:extLst>
          </p:nvPr>
        </p:nvGraphicFramePr>
        <p:xfrm>
          <a:off x="347776" y="248616"/>
          <a:ext cx="8439150" cy="646112"/>
        </p:xfrm>
        <a:graphic>
          <a:graphicData uri="http://schemas.openxmlformats.org/drawingml/2006/table">
            <a:tbl>
              <a:tblPr/>
              <a:tblGrid>
                <a:gridCol w="911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4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477">
                <a:tc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T="45738" marB="45738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주간 보고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***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프로젝트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35">
                <a:tc gridSpan="2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문서종류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주간 보고서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#: 1.0</a:t>
                      </a:r>
                    </a:p>
                  </a:txBody>
                  <a:tcPr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20**.07.21</a:t>
                      </a:r>
                    </a:p>
                  </a:txBody>
                  <a:tcPr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6" r:id="rId3"/>
  </p:sldLayoutIdLst>
  <p:transition advClick="0"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4371975" cy="378936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 lIns="36000" tIns="0" rIns="36000" bIns="0" anchor="ctr">
            <a:spAutoFit/>
          </a:bodyPr>
          <a:lstStyle/>
          <a:p>
            <a:endParaRPr lang="ko-KR" alt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-5546"/>
            <a:ext cx="9142413" cy="685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36000" tIns="0" rIns="36000" bIns="0" anchor="ctr">
            <a:spAutoFit/>
          </a:bodyPr>
          <a:lstStyle/>
          <a:p>
            <a:pPr algn="ctr" eaLnBrk="0" latinLnBrk="0" hangingPunct="0">
              <a:spcBef>
                <a:spcPct val="50000"/>
              </a:spcBef>
              <a:buFont typeface="Wingdings" pitchFamily="2" charset="2"/>
              <a:buNone/>
            </a:pPr>
            <a:endParaRPr lang="ko-KR" altLang="ko-KR" sz="1000">
              <a:latin typeface="Trebuchet MS" pitchFamily="34" charset="0"/>
            </a:endParaRPr>
          </a:p>
        </p:txBody>
      </p:sp>
      <p:sp>
        <p:nvSpPr>
          <p:cNvPr id="2052" name="Rectangle 8"/>
          <p:cNvSpPr>
            <a:spLocks noChangeArrowheads="1"/>
          </p:cNvSpPr>
          <p:nvPr/>
        </p:nvSpPr>
        <p:spPr bwMode="auto">
          <a:xfrm>
            <a:off x="5176639" y="2773076"/>
            <a:ext cx="35990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altLang="ko-KR" sz="3200" b="1" dirty="0">
                <a:solidFill>
                  <a:srgbClr val="000000"/>
                </a:solidFill>
                <a:latin typeface="+mn-lt"/>
                <a:ea typeface="HY헤드라인M" pitchFamily="18" charset="-127"/>
              </a:rPr>
              <a:t>10</a:t>
            </a:r>
            <a:r>
              <a:rPr lang="ko-KR" altLang="en-US" sz="3200" b="1" dirty="0">
                <a:solidFill>
                  <a:srgbClr val="000000"/>
                </a:solidFill>
                <a:latin typeface="+mn-lt"/>
                <a:ea typeface="HY헤드라인M" pitchFamily="18" charset="-127"/>
              </a:rPr>
              <a:t>월 </a:t>
            </a:r>
            <a:r>
              <a:rPr lang="en-US" altLang="ko-KR" sz="3200" b="1" dirty="0">
                <a:solidFill>
                  <a:srgbClr val="000000"/>
                </a:solidFill>
                <a:latin typeface="+mn-lt"/>
                <a:ea typeface="HY헤드라인M" pitchFamily="18" charset="-127"/>
              </a:rPr>
              <a:t>2</a:t>
            </a:r>
            <a:r>
              <a:rPr lang="ko-KR" altLang="en-US" sz="3200" b="1" dirty="0">
                <a:solidFill>
                  <a:srgbClr val="000000"/>
                </a:solidFill>
                <a:latin typeface="+mn-lt"/>
                <a:ea typeface="HY헤드라인M" pitchFamily="18" charset="-127"/>
              </a:rPr>
              <a:t>주 주간회의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7578025" y="4489448"/>
            <a:ext cx="126836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2025. 10. 6</a:t>
            </a:r>
          </a:p>
          <a:p>
            <a:pPr algn="r">
              <a:defRPr/>
            </a:pPr>
            <a:endParaRPr lang="en-US" altLang="ko-KR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063" name="Rectangle 13"/>
          <p:cNvSpPr>
            <a:spLocks noChangeArrowheads="1"/>
          </p:cNvSpPr>
          <p:nvPr/>
        </p:nvSpPr>
        <p:spPr bwMode="auto">
          <a:xfrm>
            <a:off x="2497138" y="3424238"/>
            <a:ext cx="6645275" cy="47625"/>
          </a:xfrm>
          <a:prstGeom prst="rect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200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97138" y="2302017"/>
            <a:ext cx="6254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+mj-ea"/>
                <a:ea typeface="+mj-ea"/>
              </a:rPr>
              <a:t>[</a:t>
            </a:r>
            <a:r>
              <a:rPr lang="ko-KR" altLang="en-US" sz="2400" b="1" dirty="0">
                <a:latin typeface="+mj-ea"/>
                <a:ea typeface="+mj-ea"/>
              </a:rPr>
              <a:t>용인시 지능형교통체계</a:t>
            </a:r>
            <a:r>
              <a:rPr lang="en-US" altLang="ko-KR" sz="2400" b="1" dirty="0">
                <a:latin typeface="+mj-ea"/>
                <a:ea typeface="+mj-ea"/>
              </a:rPr>
              <a:t>(ITS) </a:t>
            </a:r>
            <a:r>
              <a:rPr lang="ko-KR" altLang="en-US" sz="2400" b="1" dirty="0">
                <a:latin typeface="+mj-ea"/>
                <a:ea typeface="+mj-ea"/>
              </a:rPr>
              <a:t>구축 사업</a:t>
            </a:r>
            <a:r>
              <a:rPr lang="en-US" altLang="ko-KR" sz="2400" b="1" dirty="0">
                <a:latin typeface="+mj-ea"/>
                <a:ea typeface="+mj-ea"/>
              </a:rPr>
              <a:t>]</a:t>
            </a:r>
            <a:endParaRPr lang="ko-KR" altLang="en-US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78"/>
          <p:cNvSpPr txBox="1">
            <a:spLocks noChangeArrowheads="1"/>
          </p:cNvSpPr>
          <p:nvPr/>
        </p:nvSpPr>
        <p:spPr bwMode="auto">
          <a:xfrm>
            <a:off x="236977" y="1052736"/>
            <a:ext cx="65274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【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개요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】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 Box 578"/>
          <p:cNvSpPr txBox="1">
            <a:spLocks noChangeArrowheads="1"/>
          </p:cNvSpPr>
          <p:nvPr/>
        </p:nvSpPr>
        <p:spPr bwMode="auto">
          <a:xfrm>
            <a:off x="232500" y="2204864"/>
            <a:ext cx="65274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【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단계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】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 Box 578"/>
          <p:cNvSpPr txBox="1">
            <a:spLocks noChangeArrowheads="1"/>
          </p:cNvSpPr>
          <p:nvPr/>
        </p:nvSpPr>
        <p:spPr bwMode="auto">
          <a:xfrm>
            <a:off x="212690" y="3072767"/>
            <a:ext cx="1377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【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주간 실적 요약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】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621597"/>
              </p:ext>
            </p:extLst>
          </p:nvPr>
        </p:nvGraphicFramePr>
        <p:xfrm>
          <a:off x="310648" y="3645024"/>
          <a:ext cx="8509502" cy="2789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2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6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00113" latinLnBrk="0"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금주 진척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(10.6~10.10)  10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주차</a:t>
                      </a:r>
                      <a:endParaRPr lang="en-US" altLang="ko-KR" sz="1100" b="1" baseline="3000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9005" marR="39005" marT="72009" marB="72009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00113" latinLnBrk="0"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차주 계획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(10.12~10.17)  10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lang="en-US" altLang="ko-KR" sz="1100" b="1" baseline="30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72009" marB="72009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기획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/>
                        <a:t>핵심 기능 이분화 및 기능 도출 시작</a:t>
                      </a: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baseline="0" dirty="0"/>
                        <a:t>스마트 횡단보도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</a:t>
                      </a:r>
                      <a:r>
                        <a:rPr lang="ko-KR" altLang="en-US" sz="1000" baseline="0" dirty="0"/>
                        <a:t>○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보행신호 자동 연장 기능 조건 분석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중점 진행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    - </a:t>
                      </a:r>
                      <a:r>
                        <a:rPr lang="ko-KR" altLang="en-US" sz="1000" baseline="0" dirty="0"/>
                        <a:t>신호 연장 알고리즘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요소 정리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</a:t>
                      </a:r>
                      <a:r>
                        <a:rPr lang="ko-KR" altLang="en-US" sz="1000" baseline="0" dirty="0"/>
                        <a:t>○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음성안내 보조 기능 요구사항 정의 진행 중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    - </a:t>
                      </a:r>
                      <a:r>
                        <a:rPr lang="ko-KR" altLang="en-US" sz="1000" baseline="0" dirty="0"/>
                        <a:t>접근성 관련 법령 기준 검토 완료 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    - </a:t>
                      </a:r>
                      <a:r>
                        <a:rPr lang="ko-KR" altLang="en-US" sz="1000" baseline="0" dirty="0"/>
                        <a:t>보건복지부 기준 </a:t>
                      </a:r>
                      <a:r>
                        <a:rPr lang="en-US" altLang="ko-KR" sz="1000" baseline="0" dirty="0"/>
                        <a:t>3</a:t>
                      </a:r>
                      <a:r>
                        <a:rPr lang="ko-KR" altLang="en-US" sz="1000" baseline="0" dirty="0"/>
                        <a:t>가지 유형 요건 정리 중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</a:t>
                      </a:r>
                      <a:r>
                        <a:rPr lang="ko-KR" altLang="en-US" sz="1000" baseline="0" dirty="0"/>
                        <a:t>○ 보행자 감지 기술 방식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    - 3</a:t>
                      </a:r>
                      <a:r>
                        <a:rPr lang="ko-KR" altLang="en-US" sz="1000" baseline="0" dirty="0"/>
                        <a:t>가지 옵션 기술 요건 정리 완료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</a:t>
                      </a:r>
                    </a:p>
                  </a:txBody>
                  <a:tcPr marL="71994" marR="0" marT="35985" marB="35985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baseline="0" dirty="0"/>
                        <a:t>요구사항 분석 기반 고객과 커뮤니케이션 진행 예정</a:t>
                      </a: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baseline="0" dirty="0"/>
                        <a:t>보행자 감지 기술방식 담당자 기술 검토 예정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 - 3</a:t>
                      </a:r>
                      <a:r>
                        <a:rPr lang="ko-KR" altLang="en-US" sz="1000" baseline="0" dirty="0"/>
                        <a:t>가지 옵션 기술 요건 정리 완료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 startAt="3"/>
                        <a:tabLst/>
                        <a:defRPr/>
                      </a:pPr>
                      <a:r>
                        <a:rPr lang="ko-KR" altLang="en-US" sz="1000" baseline="0" dirty="0"/>
                        <a:t>현장 답사 및 추가 요구사항 검토</a:t>
                      </a: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 startAt="3"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 startAt="3"/>
                        <a:tabLst/>
                        <a:defRPr/>
                      </a:pPr>
                      <a:r>
                        <a:rPr lang="ko-KR" altLang="en-US" sz="1000" baseline="0" dirty="0"/>
                        <a:t>고객미팅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- </a:t>
                      </a:r>
                      <a:r>
                        <a:rPr lang="ko-KR" altLang="en-US" sz="1000" baseline="0" dirty="0"/>
                        <a:t>월요일 오전 </a:t>
                      </a:r>
                      <a:r>
                        <a:rPr lang="en-US" altLang="ko-KR" sz="1000" baseline="0" dirty="0"/>
                        <a:t>: </a:t>
                      </a:r>
                      <a:r>
                        <a:rPr lang="ko-KR" altLang="en-US" sz="1000" baseline="0" dirty="0"/>
                        <a:t>스마트 횡단보도 기능 논의</a:t>
                      </a:r>
                      <a:endParaRPr lang="en-US" altLang="ko-KR" sz="1000" baseline="0" dirty="0"/>
                    </a:p>
                  </a:txBody>
                  <a:tcPr marL="71994" marR="0" marT="35985" marB="35985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63"/>
          <p:cNvSpPr txBox="1">
            <a:spLocks noChangeArrowheads="1"/>
          </p:cNvSpPr>
          <p:nvPr/>
        </p:nvSpPr>
        <p:spPr bwMode="auto">
          <a:xfrm>
            <a:off x="183742" y="3338510"/>
            <a:ext cx="1760538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-179388">
              <a:lnSpc>
                <a:spcPct val="120000"/>
              </a:lnSpc>
              <a:buFont typeface="Wingdings" pitchFamily="2" charset="2"/>
              <a:buChar char="§"/>
            </a:pPr>
            <a:r>
              <a:rPr lang="ko-KR" altLang="en-US" sz="1100" b="1" dirty="0">
                <a:latin typeface="맑은 고딕" pitchFamily="50" charset="-127"/>
                <a:ea typeface="맑은 고딕" pitchFamily="50" charset="-127"/>
              </a:rPr>
              <a:t>프로젝트 관리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9053" y="1340768"/>
            <a:ext cx="8241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+mn-ea"/>
                <a:ea typeface="+mn-ea"/>
              </a:rPr>
              <a:t>요구사항 분석 완료 및 </a:t>
            </a:r>
            <a:r>
              <a:rPr lang="en-US" altLang="ko-KR" sz="1100" dirty="0">
                <a:latin typeface="+mn-ea"/>
                <a:ea typeface="+mn-ea"/>
              </a:rPr>
              <a:t>IA</a:t>
            </a:r>
            <a:r>
              <a:rPr lang="ko-KR" altLang="en-US" sz="1100" dirty="0">
                <a:latin typeface="+mn-ea"/>
                <a:ea typeface="+mn-ea"/>
              </a:rPr>
              <a:t> 작성 완료</a:t>
            </a:r>
            <a:endParaRPr lang="en-US" altLang="ko-KR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+mn-ea"/>
                <a:ea typeface="+mn-ea"/>
              </a:rPr>
              <a:t>스토리보드 작성 진행중</a:t>
            </a:r>
            <a:endParaRPr lang="en-US" altLang="ko-KR" sz="1100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+mn-ea"/>
                <a:ea typeface="+mn-ea"/>
              </a:rPr>
              <a:t>디자인 시안 작성 진행중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462164"/>
              </p:ext>
            </p:extLst>
          </p:nvPr>
        </p:nvGraphicFramePr>
        <p:xfrm>
          <a:off x="818792" y="2276872"/>
          <a:ext cx="7814687" cy="580656"/>
        </p:xfrm>
        <a:graphic>
          <a:graphicData uri="http://schemas.openxmlformats.org/drawingml/2006/table">
            <a:tbl>
              <a:tblPr/>
              <a:tblGrid>
                <a:gridCol w="1259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586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935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5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SmartWork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 분석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00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486945"/>
              </p:ext>
            </p:extLst>
          </p:nvPr>
        </p:nvGraphicFramePr>
        <p:xfrm>
          <a:off x="344489" y="1052737"/>
          <a:ext cx="8475661" cy="5184575"/>
        </p:xfrm>
        <a:graphic>
          <a:graphicData uri="http://schemas.openxmlformats.org/drawingml/2006/table">
            <a:tbl>
              <a:tblPr/>
              <a:tblGrid>
                <a:gridCol w="694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0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08">
                <a:tc>
                  <a:txBody>
                    <a:bodyPr/>
                    <a:lstStyle/>
                    <a:p>
                      <a:pPr marL="0" marR="0" lvl="0" indent="0" algn="ctr" defTabSz="900113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71997" marB="7199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00113" latinLnBrk="0"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금주 진척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(10.6~10.10)  10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주차</a:t>
                      </a:r>
                      <a:endParaRPr lang="en-US" altLang="ko-KR" sz="1100" b="1" baseline="3000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9005" marR="39005" marT="72009" marB="7200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00113" latinLnBrk="0"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차주 계획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(10.12~10.17)  10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lang="en-US" altLang="ko-KR" sz="1100" b="1" baseline="30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72009" marB="7200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기획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35999" marB="3599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/>
                        <a:t>교통관제 </a:t>
                      </a:r>
                      <a:r>
                        <a:rPr lang="en-US" altLang="ko-KR" sz="1000" baseline="0" dirty="0"/>
                        <a:t>CCTV </a:t>
                      </a:r>
                      <a:r>
                        <a:rPr lang="ko-KR" altLang="en-US" sz="1000" baseline="0" dirty="0"/>
                        <a:t>시스템 관련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baseline="0" dirty="0"/>
                        <a:t>주요 교차로 현장 확인 완료</a:t>
                      </a: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baseline="0" dirty="0"/>
                        <a:t>설비 기준 요건서 초안 작성 중</a:t>
                      </a: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000" baseline="0" dirty="0"/>
                        <a:t>API</a:t>
                      </a:r>
                      <a:r>
                        <a:rPr lang="ko-KR" altLang="en-US" sz="1000" baseline="0" dirty="0"/>
                        <a:t> 연동 구조 파악 및 인터페이스 정의 분석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- </a:t>
                      </a:r>
                      <a:r>
                        <a:rPr lang="ko-KR" altLang="en-US" sz="1000" baseline="0" dirty="0"/>
                        <a:t>관제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시스템 레퍼런스 활용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- </a:t>
                      </a:r>
                      <a:r>
                        <a:rPr lang="ko-KR" altLang="en-US" sz="1000" baseline="0" dirty="0"/>
                        <a:t>고객 공식 전달 </a:t>
                      </a:r>
                      <a:r>
                        <a:rPr lang="en-US" altLang="ko-KR" sz="1000" baseline="0" dirty="0"/>
                        <a:t>X / </a:t>
                      </a:r>
                      <a:r>
                        <a:rPr lang="ko-KR" altLang="en-US" sz="1000" baseline="0" dirty="0"/>
                        <a:t>내부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기준 정리</a:t>
                      </a:r>
                      <a:endParaRPr lang="en-US" altLang="ko-KR" sz="1000" baseline="0" dirty="0"/>
                    </a:p>
                  </a:txBody>
                  <a:tcPr marL="71994" marR="0" marT="35985" marB="35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/>
                        <a:t>교차로 후보지 현장답사 및 추가 요구사항 확인 예정</a:t>
                      </a:r>
                      <a:endParaRPr lang="en-US" altLang="ko-KR" sz="10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baseline="0" dirty="0"/>
                        <a:t>고객미팅</a:t>
                      </a:r>
                      <a:endParaRPr lang="en-US" altLang="ko-KR" sz="10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/>
                        <a:t>     - </a:t>
                      </a:r>
                      <a:r>
                        <a:rPr lang="ko-KR" altLang="en-US" sz="1000" dirty="0"/>
                        <a:t>수요일 </a:t>
                      </a:r>
                      <a:r>
                        <a:rPr lang="en-US" altLang="ko-KR" sz="1000" dirty="0"/>
                        <a:t>CCTV </a:t>
                      </a:r>
                      <a:r>
                        <a:rPr lang="ko-KR" altLang="en-US" sz="1000" dirty="0"/>
                        <a:t>설치 기준 협의 미팅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     - </a:t>
                      </a:r>
                      <a:r>
                        <a:rPr lang="ko-KR" altLang="en-US" sz="1000" dirty="0"/>
                        <a:t>금요일 통합 운영 인터페이스 정의 관련 미팅</a:t>
                      </a:r>
                      <a:endParaRPr lang="en-US" altLang="ko-KR" sz="1000" dirty="0"/>
                    </a:p>
                  </a:txBody>
                  <a:tcPr marL="71994" marR="0" marT="35985" marB="35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42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회의 결과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35999" marB="3599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금주 진행 상황 파악 및 차주 진행 일정 검토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고객 미팅 일정 확정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현장 답사 일정 확정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진행 간 특이사항 검토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보행자 감지 방식에 대한 기술 선정 지연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-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준비 자료 미리 전달하여 차주 미팅 시 결론 기대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9005" marR="39005" marT="108000" marB="359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7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9005" marR="39005" marT="108000" marB="359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965684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87043"/>
              </p:ext>
            </p:extLst>
          </p:nvPr>
        </p:nvGraphicFramePr>
        <p:xfrm>
          <a:off x="324297" y="1386954"/>
          <a:ext cx="8495854" cy="162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4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7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 및 관련 담당자</a:t>
                      </a: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</a:t>
                      </a: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이슈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1937" marR="0" lvl="1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보행자 감지 방식에 대한 기술 선정 지연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고객사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 자료 미리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전달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1937" marR="0" lvl="1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0550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의사결정</a:t>
                      </a: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0350" marR="0" lvl="1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고객 미팅 일정 확정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0350" marR="0" lvl="1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현장 답사 일정 확정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0350" marR="0" lvl="1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994" marR="0" marT="35985" marB="3598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875404"/>
                  </a:ext>
                </a:extLst>
              </a:tr>
            </a:tbl>
          </a:graphicData>
        </a:graphic>
      </p:graphicFrame>
      <p:sp>
        <p:nvSpPr>
          <p:cNvPr id="19" name="Text Box 578"/>
          <p:cNvSpPr txBox="1">
            <a:spLocks noChangeArrowheads="1"/>
          </p:cNvSpPr>
          <p:nvPr/>
        </p:nvSpPr>
        <p:spPr bwMode="auto">
          <a:xfrm>
            <a:off x="230261" y="1064928"/>
            <a:ext cx="218200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【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이슈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의사결정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요청 사항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】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496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425475"/>
              </p:ext>
            </p:extLst>
          </p:nvPr>
        </p:nvGraphicFramePr>
        <p:xfrm>
          <a:off x="335720" y="1412776"/>
          <a:ext cx="8484430" cy="2664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8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3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참석자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미팅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7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 횡단보도 기능 논의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기능 개발 인원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10/10</a:t>
                      </a:r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오전</a:t>
                      </a:r>
                      <a:r>
                        <a:rPr lang="en-US" altLang="ko-KR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 답사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7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 답사 및 추가 요구사항 확인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 담당자 및 기술 담당자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10/11</a:t>
                      </a:r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미팅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7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CCTV </a:t>
                      </a: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 기준 협의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 관련 담당자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20984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10/13</a:t>
                      </a:r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미팅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7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운영 인터페이스 정의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기능 개발 인원 및 </a:t>
                      </a:r>
                      <a:r>
                        <a:rPr lang="en-US" altLang="ko-KR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24805"/>
                  </a:ext>
                </a:extLst>
              </a:tr>
            </a:tbl>
          </a:graphicData>
        </a:graphic>
      </p:graphicFrame>
      <p:sp>
        <p:nvSpPr>
          <p:cNvPr id="5" name="Text Box 578"/>
          <p:cNvSpPr txBox="1">
            <a:spLocks noChangeArrowheads="1"/>
          </p:cNvSpPr>
          <p:nvPr/>
        </p:nvSpPr>
        <p:spPr bwMode="auto">
          <a:xfrm>
            <a:off x="210033" y="944345"/>
            <a:ext cx="53700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spcBef>
                <a:spcPts val="600"/>
              </a:spcBef>
              <a:tabLst>
                <a:tab pos="182563" algn="l"/>
              </a:tabLst>
            </a:pP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차주 업무 일정 </a:t>
            </a: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회의</a:t>
            </a: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교육</a:t>
            </a: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보고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] 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3571130"/>
      </p:ext>
    </p:extLst>
  </p:cSld>
  <p:clrMapOvr>
    <a:masterClrMapping/>
  </p:clrMapOvr>
</p:sld>
</file>

<file path=ppt/theme/theme1.xml><?xml version="1.0" encoding="utf-8"?>
<a:theme xmlns:a="http://schemas.openxmlformats.org/drawingml/2006/main" name="3_기본 디자인">
  <a:themeElements>
    <a:clrScheme name="3_기본 디자인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92D050"/>
        </a:solidFill>
        <a:ln w="3175" algn="ctr">
          <a:solidFill>
            <a:srgbClr val="003399"/>
          </a:solidFill>
          <a:miter lim="800000"/>
          <a:headEnd/>
          <a:tailEnd/>
        </a:ln>
      </a:spPr>
      <a:bodyPr wrap="none" lIns="36000" tIns="0" rIns="36000" bIns="0" anchor="ctr"/>
      <a:lstStyle>
        <a:defPPr>
          <a:defRPr/>
        </a:defPPr>
      </a:lstStyle>
    </a:spDef>
  </a:objectDefaults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e13380-6049-4f59-9391-9958b2774ca2">
      <Terms xmlns="http://schemas.microsoft.com/office/infopath/2007/PartnerControls"/>
    </lcf76f155ced4ddcb4097134ff3c332f>
    <TaxCatchAll xmlns="cb8fcf1b-9571-4d20-a8ff-81bee2907a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1" ma:contentTypeDescription="새 문서를 만듭니다." ma:contentTypeScope="" ma:versionID="0052cd9c5b100d9e1b5abbdc5cac24cb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bc354dff9c47495eca12804ddc9d3bbc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eb03bc-d133-4271-b95c-0fff905dc160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FC8B24-B054-4C35-8E1E-4C5E64371CD8}">
  <ds:schemaRefs>
    <ds:schemaRef ds:uri="http://schemas.microsoft.com/office/2006/metadata/properties"/>
    <ds:schemaRef ds:uri="http://schemas.microsoft.com/office/infopath/2007/PartnerControls"/>
    <ds:schemaRef ds:uri="e4e13380-6049-4f59-9391-9958b2774ca2"/>
    <ds:schemaRef ds:uri="cb8fcf1b-9571-4d20-a8ff-81bee2907a75"/>
  </ds:schemaRefs>
</ds:datastoreItem>
</file>

<file path=customXml/itemProps2.xml><?xml version="1.0" encoding="utf-8"?>
<ds:datastoreItem xmlns:ds="http://schemas.openxmlformats.org/officeDocument/2006/customXml" ds:itemID="{9C85254A-4F03-4959-97B2-FB0F6BD7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612034-8339-49D0-B54F-A8FA6A6AE1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e13380-6049-4f59-9391-9958b2774ca2"/>
    <ds:schemaRef ds:uri="cb8fcf1b-9571-4d20-a8ff-81bee2907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43899</TotalTime>
  <Words>481</Words>
  <Application>Microsoft Office PowerPoint</Application>
  <PresentationFormat>화면 슬라이드 쇼(4:3)</PresentationFormat>
  <Paragraphs>164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굴림</vt:lpstr>
      <vt:lpstr>맑은 고딕</vt:lpstr>
      <vt:lpstr>Arial</vt:lpstr>
      <vt:lpstr>Trebuchet MS</vt:lpstr>
      <vt:lpstr>Wingdings</vt:lpstr>
      <vt:lpstr>3_기본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불꽃남자25</dc:creator>
  <cp:lastModifiedBy>최재훈</cp:lastModifiedBy>
  <cp:revision>2977</cp:revision>
  <cp:lastPrinted>2016-07-21T07:58:25Z</cp:lastPrinted>
  <dcterms:created xsi:type="dcterms:W3CDTF">2009-03-10T04:43:27Z</dcterms:created>
  <dcterms:modified xsi:type="dcterms:W3CDTF">2025-07-03T06:49:37Z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0x010100EEFD2EC9AE4E1C4E97A968ACD5F6A537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  <property fmtid="{D5CDD505-2E9C-101B-9397-08002B2CF9AE}" pid="12" name="Order">
    <vt:r8>4324200</vt:r8>
  </property>
</Properties>
</file>