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81" r:id="rId5"/>
    <p:sldId id="284" r:id="rId6"/>
    <p:sldId id="285" r:id="rId7"/>
    <p:sldId id="279" r:id="rId8"/>
    <p:sldId id="283" r:id="rId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njoyworks" initials="e" lastIdx="1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2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2384" autoAdjust="0"/>
  </p:normalViewPr>
  <p:slideViewPr>
    <p:cSldViewPr>
      <p:cViewPr varScale="1">
        <p:scale>
          <a:sx n="94" d="100"/>
          <a:sy n="94" d="100"/>
        </p:scale>
        <p:origin x="84" y="4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-3732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6E0AB-72DB-4914-B63B-4064A28DAAD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6969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BB39A-9110-43FD-8DF2-684D1523A0BC}" type="datetime1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http://enjoyworks.co.kr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86328-D4B1-4A1C-AA9B-B5511E95E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2084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32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68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44CF9B-EED9-4A3E-BF20-9BE02AB06A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569" y="0"/>
            <a:ext cx="9984432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2F402C0-1E6A-4B8F-B525-CD10C5F2D02A}"/>
              </a:ext>
            </a:extLst>
          </p:cNvPr>
          <p:cNvSpPr/>
          <p:nvPr/>
        </p:nvSpPr>
        <p:spPr>
          <a:xfrm>
            <a:off x="0" y="0"/>
            <a:ext cx="4439816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B50E803-89D9-4013-9689-9ED6035EC8D0}"/>
              </a:ext>
            </a:extLst>
          </p:cNvPr>
          <p:cNvSpPr/>
          <p:nvPr/>
        </p:nvSpPr>
        <p:spPr>
          <a:xfrm>
            <a:off x="275692" y="224644"/>
            <a:ext cx="11640616" cy="6408712"/>
          </a:xfrm>
          <a:prstGeom prst="roundRect">
            <a:avLst>
              <a:gd name="adj" fmla="val 2736"/>
            </a:avLst>
          </a:prstGeom>
          <a:solidFill>
            <a:schemeClr val="bg1">
              <a:lumMod val="95000"/>
              <a:alpha val="3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165D54C-378F-418E-815C-A084CF1A942F}"/>
              </a:ext>
            </a:extLst>
          </p:cNvPr>
          <p:cNvSpPr/>
          <p:nvPr/>
        </p:nvSpPr>
        <p:spPr>
          <a:xfrm>
            <a:off x="3971764" y="72000"/>
            <a:ext cx="4248472" cy="504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보행자 프로세스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9DEA052-FBD6-41D6-B3D1-0E00A53B3630}"/>
              </a:ext>
            </a:extLst>
          </p:cNvPr>
          <p:cNvSpPr/>
          <p:nvPr/>
        </p:nvSpPr>
        <p:spPr>
          <a:xfrm>
            <a:off x="4847738" y="676166"/>
            <a:ext cx="2232248" cy="40819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보행자 신호등 접근</a:t>
            </a:r>
            <a:endParaRPr lang="en-US" altLang="ko-KR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64FFE7-7B3A-4E9F-BF31-4E1A7E32B92E}"/>
              </a:ext>
            </a:extLst>
          </p:cNvPr>
          <p:cNvSpPr/>
          <p:nvPr/>
        </p:nvSpPr>
        <p:spPr>
          <a:xfrm>
            <a:off x="4991754" y="1336458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신호연장 조건 자동계산</a:t>
            </a: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10F59E75-752F-4E82-9CEA-B8CBF1747EF7}"/>
              </a:ext>
            </a:extLst>
          </p:cNvPr>
          <p:cNvSpPr/>
          <p:nvPr/>
        </p:nvSpPr>
        <p:spPr>
          <a:xfrm>
            <a:off x="4847030" y="2086981"/>
            <a:ext cx="2232248" cy="455598"/>
          </a:xfrm>
          <a:prstGeom prst="hexagon">
            <a:avLst>
              <a:gd name="adj" fmla="val 12066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연장 여부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7445EA-E5BE-4806-9085-030AC23CA35D}"/>
              </a:ext>
            </a:extLst>
          </p:cNvPr>
          <p:cNvSpPr/>
          <p:nvPr/>
        </p:nvSpPr>
        <p:spPr>
          <a:xfrm>
            <a:off x="4995565" y="3212976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음성 안내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D21147-8F31-4C70-9822-FF4448394334}"/>
              </a:ext>
            </a:extLst>
          </p:cNvPr>
          <p:cNvSpPr/>
          <p:nvPr/>
        </p:nvSpPr>
        <p:spPr>
          <a:xfrm>
            <a:off x="4995565" y="4869160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횡단 중 실시간 안내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</a:p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추가 경고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A4C8FEF-B0C6-4FF0-A7BE-32998E0B8977}"/>
              </a:ext>
            </a:extLst>
          </p:cNvPr>
          <p:cNvSpPr/>
          <p:nvPr/>
        </p:nvSpPr>
        <p:spPr>
          <a:xfrm>
            <a:off x="4994857" y="5445224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보행자 이동완료 감지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</a:p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데이터 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94C591-C0AC-4010-AAA0-9A5EE4478128}"/>
              </a:ext>
            </a:extLst>
          </p:cNvPr>
          <p:cNvSpPr/>
          <p:nvPr/>
        </p:nvSpPr>
        <p:spPr>
          <a:xfrm>
            <a:off x="7732246" y="4293096"/>
            <a:ext cx="1944216" cy="3443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일반 신호음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8998D1-560A-45CE-BFAC-AA84F5E9539B}"/>
              </a:ext>
            </a:extLst>
          </p:cNvPr>
          <p:cNvSpPr/>
          <p:nvPr/>
        </p:nvSpPr>
        <p:spPr>
          <a:xfrm>
            <a:off x="2207569" y="4293096"/>
            <a:ext cx="1944216" cy="3443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위험 알림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경고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608906-EEE0-46F9-887E-A8BF9875FE09}"/>
              </a:ext>
            </a:extLst>
          </p:cNvPr>
          <p:cNvSpPr/>
          <p:nvPr/>
        </p:nvSpPr>
        <p:spPr>
          <a:xfrm>
            <a:off x="8855473" y="2960948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바닥 신호등 안내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41FC125-CB2F-4A7C-B4B7-87ADB21BB54B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963862" y="1084365"/>
            <a:ext cx="0" cy="252093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E469669-4C40-4760-8B99-31C99350DA2D}"/>
              </a:ext>
            </a:extLst>
          </p:cNvPr>
          <p:cNvCxnSpPr>
            <a:cxnSpLocks/>
          </p:cNvCxnSpPr>
          <p:nvPr/>
        </p:nvCxnSpPr>
        <p:spPr>
          <a:xfrm>
            <a:off x="5963862" y="1840514"/>
            <a:ext cx="0" cy="252092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04D56B2-2849-4A2E-A1AE-0092158BF71A}"/>
              </a:ext>
            </a:extLst>
          </p:cNvPr>
          <p:cNvSpPr txBox="1"/>
          <p:nvPr/>
        </p:nvSpPr>
        <p:spPr>
          <a:xfrm>
            <a:off x="7824192" y="2523001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청각 장애인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F47222-93EF-43EB-BBE0-DEEA3DAE0773}"/>
              </a:ext>
            </a:extLst>
          </p:cNvPr>
          <p:cNvSpPr txBox="1"/>
          <p:nvPr/>
        </p:nvSpPr>
        <p:spPr>
          <a:xfrm>
            <a:off x="7151155" y="4307033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안전</a:t>
            </a:r>
            <a:endParaRPr lang="en-US" altLang="ko-K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0" name="육각형 49">
            <a:extLst>
              <a:ext uri="{FF2B5EF4-FFF2-40B4-BE49-F238E27FC236}">
                <a16:creationId xmlns:a16="http://schemas.microsoft.com/office/drawing/2014/main" id="{10CAD84F-650B-45E9-8AC9-55587DE40CA3}"/>
              </a:ext>
            </a:extLst>
          </p:cNvPr>
          <p:cNvSpPr/>
          <p:nvPr/>
        </p:nvSpPr>
        <p:spPr>
          <a:xfrm>
            <a:off x="4844927" y="2636912"/>
            <a:ext cx="2232248" cy="460952"/>
          </a:xfrm>
          <a:prstGeom prst="hexagon">
            <a:avLst>
              <a:gd name="adj" fmla="val 12066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안내 조건</a:t>
            </a:r>
            <a:endParaRPr lang="en-US" altLang="ko-KR" sz="1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89F564D-9E1D-4A43-94A4-27558886CE6C}"/>
              </a:ext>
            </a:extLst>
          </p:cNvPr>
          <p:cNvSpPr/>
          <p:nvPr/>
        </p:nvSpPr>
        <p:spPr>
          <a:xfrm>
            <a:off x="1114003" y="2960948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진동 안내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FE4FEF1-380D-4FB2-81F6-D2FDABDEF442}"/>
              </a:ext>
            </a:extLst>
          </p:cNvPr>
          <p:cNvSpPr/>
          <p:nvPr/>
        </p:nvSpPr>
        <p:spPr>
          <a:xfrm>
            <a:off x="4995565" y="6021288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보행자 이동 완료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DC1ACE8-0D93-45A7-873E-E8179F7E6042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5967673" y="3109202"/>
            <a:ext cx="0" cy="103774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468BE49B-C65E-4932-85F7-40D98CE79287}"/>
              </a:ext>
            </a:extLst>
          </p:cNvPr>
          <p:cNvCxnSpPr>
            <a:cxnSpLocks/>
          </p:cNvCxnSpPr>
          <p:nvPr/>
        </p:nvCxnSpPr>
        <p:spPr>
          <a:xfrm>
            <a:off x="5967673" y="3717032"/>
            <a:ext cx="0" cy="14401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DB32B8D-0678-4D80-B29D-75B59FA26F86}"/>
              </a:ext>
            </a:extLst>
          </p:cNvPr>
          <p:cNvCxnSpPr>
            <a:cxnSpLocks/>
          </p:cNvCxnSpPr>
          <p:nvPr/>
        </p:nvCxnSpPr>
        <p:spPr>
          <a:xfrm>
            <a:off x="5967673" y="2542579"/>
            <a:ext cx="0" cy="94333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021C11A6-5132-4EEB-89D9-365A050407EE}"/>
              </a:ext>
            </a:extLst>
          </p:cNvPr>
          <p:cNvCxnSpPr>
            <a:cxnSpLocks/>
            <a:stCxn id="25" idx="3"/>
            <a:endCxn id="22" idx="0"/>
          </p:cNvCxnSpPr>
          <p:nvPr/>
        </p:nvCxnSpPr>
        <p:spPr>
          <a:xfrm rot="10800000" flipV="1">
            <a:off x="3179678" y="4149080"/>
            <a:ext cx="1671531" cy="144016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FE1423AF-F616-44EF-B90D-79E080D667BB}"/>
              </a:ext>
            </a:extLst>
          </p:cNvPr>
          <p:cNvCxnSpPr>
            <a:cxnSpLocks/>
            <a:stCxn id="25" idx="0"/>
            <a:endCxn id="21" idx="0"/>
          </p:cNvCxnSpPr>
          <p:nvPr/>
        </p:nvCxnSpPr>
        <p:spPr>
          <a:xfrm>
            <a:off x="7083456" y="4149080"/>
            <a:ext cx="1620898" cy="144016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98E93E1F-D99E-47F7-AAFA-5A5B15E8B410}"/>
              </a:ext>
            </a:extLst>
          </p:cNvPr>
          <p:cNvCxnSpPr>
            <a:stCxn id="22" idx="2"/>
            <a:endCxn id="19" idx="0"/>
          </p:cNvCxnSpPr>
          <p:nvPr/>
        </p:nvCxnSpPr>
        <p:spPr>
          <a:xfrm rot="16200000" flipH="1">
            <a:off x="4457837" y="3359323"/>
            <a:ext cx="231677" cy="2787996"/>
          </a:xfrm>
          <a:prstGeom prst="bentConnector3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84B3E19A-6A8E-4412-ADE8-B41345129852}"/>
              </a:ext>
            </a:extLst>
          </p:cNvPr>
          <p:cNvCxnSpPr>
            <a:stCxn id="21" idx="2"/>
            <a:endCxn id="19" idx="0"/>
          </p:cNvCxnSpPr>
          <p:nvPr/>
        </p:nvCxnSpPr>
        <p:spPr>
          <a:xfrm rot="5400000">
            <a:off x="7220176" y="3384981"/>
            <a:ext cx="231677" cy="2736681"/>
          </a:xfrm>
          <a:prstGeom prst="bentConnector3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678A4A94-7986-46C5-9D83-6E13B49E4562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5966965" y="5373216"/>
            <a:ext cx="708" cy="72008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EB5A5F9-ADF0-401C-990A-4EBA45B46D0C}"/>
              </a:ext>
            </a:extLst>
          </p:cNvPr>
          <p:cNvCxnSpPr>
            <a:cxnSpLocks/>
          </p:cNvCxnSpPr>
          <p:nvPr/>
        </p:nvCxnSpPr>
        <p:spPr>
          <a:xfrm flipH="1">
            <a:off x="5961051" y="5949280"/>
            <a:ext cx="708" cy="72008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D05C7843-5725-45BC-9E00-0996E5EBB1E2}"/>
              </a:ext>
            </a:extLst>
          </p:cNvPr>
          <p:cNvCxnSpPr>
            <a:cxnSpLocks/>
            <a:stCxn id="50" idx="3"/>
            <a:endCxn id="51" idx="0"/>
          </p:cNvCxnSpPr>
          <p:nvPr/>
        </p:nvCxnSpPr>
        <p:spPr>
          <a:xfrm rot="10800000" flipV="1">
            <a:off x="2086111" y="2867388"/>
            <a:ext cx="2758816" cy="93560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673D09CC-F53F-4BB7-BE17-AA3AFDCD61D7}"/>
              </a:ext>
            </a:extLst>
          </p:cNvPr>
          <p:cNvCxnSpPr>
            <a:cxnSpLocks/>
            <a:stCxn id="50" idx="0"/>
            <a:endCxn id="24" idx="0"/>
          </p:cNvCxnSpPr>
          <p:nvPr/>
        </p:nvCxnSpPr>
        <p:spPr>
          <a:xfrm>
            <a:off x="7077175" y="2867388"/>
            <a:ext cx="2750406" cy="93560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4EBD89CD-5EB9-4CA3-A0D6-E86CE229D090}"/>
              </a:ext>
            </a:extLst>
          </p:cNvPr>
          <p:cNvCxnSpPr>
            <a:cxnSpLocks/>
            <a:stCxn id="51" idx="2"/>
          </p:cNvCxnSpPr>
          <p:nvPr/>
        </p:nvCxnSpPr>
        <p:spPr>
          <a:xfrm rot="16200000" flipH="1">
            <a:off x="3656933" y="1894181"/>
            <a:ext cx="648796" cy="3790441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A616214A-F1B3-4CC9-92EF-92680F63BDCF}"/>
              </a:ext>
            </a:extLst>
          </p:cNvPr>
          <p:cNvCxnSpPr>
            <a:cxnSpLocks/>
            <a:stCxn id="51" idx="2"/>
          </p:cNvCxnSpPr>
          <p:nvPr/>
        </p:nvCxnSpPr>
        <p:spPr>
          <a:xfrm rot="16200000" flipH="1">
            <a:off x="3656932" y="1894183"/>
            <a:ext cx="648798" cy="3790440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88DD6CA3-9E74-4853-960A-521513536F48}"/>
              </a:ext>
            </a:extLst>
          </p:cNvPr>
          <p:cNvCxnSpPr>
            <a:cxnSpLocks/>
            <a:stCxn id="24" idx="2"/>
          </p:cNvCxnSpPr>
          <p:nvPr/>
        </p:nvCxnSpPr>
        <p:spPr>
          <a:xfrm rot="5400000">
            <a:off x="7531237" y="1810318"/>
            <a:ext cx="641658" cy="3951030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육각형 24">
            <a:extLst>
              <a:ext uri="{FF2B5EF4-FFF2-40B4-BE49-F238E27FC236}">
                <a16:creationId xmlns:a16="http://schemas.microsoft.com/office/drawing/2014/main" id="{7B0A32A3-1CA3-437B-A79B-22AD2BFB7162}"/>
              </a:ext>
            </a:extLst>
          </p:cNvPr>
          <p:cNvSpPr/>
          <p:nvPr/>
        </p:nvSpPr>
        <p:spPr>
          <a:xfrm>
            <a:off x="4851208" y="3861048"/>
            <a:ext cx="2232248" cy="576064"/>
          </a:xfrm>
          <a:prstGeom prst="hexagon">
            <a:avLst>
              <a:gd name="adj" fmla="val 12066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위험 상황 판단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0B59989-6EE7-4ADB-91C4-5F9CE8379F20}"/>
              </a:ext>
            </a:extLst>
          </p:cNvPr>
          <p:cNvSpPr txBox="1"/>
          <p:nvPr/>
        </p:nvSpPr>
        <p:spPr>
          <a:xfrm>
            <a:off x="4295800" y="4312757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chemeClr val="accent5">
                    <a:lumMod val="50000"/>
                  </a:schemeClr>
                </a:solidFill>
              </a:rPr>
              <a:t>위험</a:t>
            </a:r>
            <a:endParaRPr lang="en-US" altLang="ko-K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4FEFB8-3A2E-4C6A-B433-4297E4C5BF73}"/>
              </a:ext>
            </a:extLst>
          </p:cNvPr>
          <p:cNvSpPr txBox="1"/>
          <p:nvPr/>
        </p:nvSpPr>
        <p:spPr>
          <a:xfrm>
            <a:off x="3095605" y="2518381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시각 장애인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662D417-AAF0-450A-B899-E069DFA93FA2}"/>
              </a:ext>
            </a:extLst>
          </p:cNvPr>
          <p:cNvSpPr txBox="1"/>
          <p:nvPr/>
        </p:nvSpPr>
        <p:spPr>
          <a:xfrm>
            <a:off x="7071892" y="1809982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연장</a:t>
            </a:r>
            <a:endParaRPr lang="en-US" altLang="ko-K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D0118DF-0A53-47E2-8182-A9DAA4DF7376}"/>
              </a:ext>
            </a:extLst>
          </p:cNvPr>
          <p:cNvSpPr txBox="1"/>
          <p:nvPr/>
        </p:nvSpPr>
        <p:spPr>
          <a:xfrm>
            <a:off x="7068334" y="2464375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solidFill>
                  <a:schemeClr val="accent5">
                    <a:lumMod val="50000"/>
                  </a:schemeClr>
                </a:solidFill>
              </a:rPr>
              <a:t>미연장</a:t>
            </a:r>
            <a:endParaRPr lang="en-US" altLang="ko-K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57C6707-A203-4342-BEC3-492AACC0B5A5}"/>
              </a:ext>
            </a:extLst>
          </p:cNvPr>
          <p:cNvSpPr txBox="1"/>
          <p:nvPr/>
        </p:nvSpPr>
        <p:spPr>
          <a:xfrm>
            <a:off x="4120313" y="3028336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일반인</a:t>
            </a:r>
            <a:endParaRPr lang="en-US" altLang="ko-K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369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44CF9B-EED9-4A3E-BF20-9BE02AB06A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569" y="0"/>
            <a:ext cx="9984432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2F402C0-1E6A-4B8F-B525-CD10C5F2D02A}"/>
              </a:ext>
            </a:extLst>
          </p:cNvPr>
          <p:cNvSpPr/>
          <p:nvPr/>
        </p:nvSpPr>
        <p:spPr>
          <a:xfrm>
            <a:off x="0" y="0"/>
            <a:ext cx="4439816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B50E803-89D9-4013-9689-9ED6035EC8D0}"/>
              </a:ext>
            </a:extLst>
          </p:cNvPr>
          <p:cNvSpPr/>
          <p:nvPr/>
        </p:nvSpPr>
        <p:spPr>
          <a:xfrm>
            <a:off x="275692" y="224644"/>
            <a:ext cx="11640616" cy="6408712"/>
          </a:xfrm>
          <a:prstGeom prst="roundRect">
            <a:avLst>
              <a:gd name="adj" fmla="val 2736"/>
            </a:avLst>
          </a:prstGeom>
          <a:solidFill>
            <a:schemeClr val="bg1">
              <a:lumMod val="95000"/>
              <a:alpha val="3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165D54C-378F-418E-815C-A084CF1A942F}"/>
              </a:ext>
            </a:extLst>
          </p:cNvPr>
          <p:cNvSpPr/>
          <p:nvPr/>
        </p:nvSpPr>
        <p:spPr>
          <a:xfrm>
            <a:off x="3971764" y="72000"/>
            <a:ext cx="4248472" cy="504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운전자 프로세스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9DEA052-FBD6-41D6-B3D1-0E00A53B3630}"/>
              </a:ext>
            </a:extLst>
          </p:cNvPr>
          <p:cNvSpPr/>
          <p:nvPr/>
        </p:nvSpPr>
        <p:spPr>
          <a:xfrm>
            <a:off x="5063762" y="676166"/>
            <a:ext cx="2232248" cy="40819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운전 차량 횡단보도 접근</a:t>
            </a:r>
            <a:endParaRPr lang="en-US" altLang="ko-KR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41FC125-CB2F-4A7C-B4B7-87ADB21BB54B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179886" y="1084365"/>
            <a:ext cx="0" cy="206507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육각형 49">
            <a:extLst>
              <a:ext uri="{FF2B5EF4-FFF2-40B4-BE49-F238E27FC236}">
                <a16:creationId xmlns:a16="http://schemas.microsoft.com/office/drawing/2014/main" id="{456939EB-FDC4-47AF-B0D2-D8800690F330}"/>
              </a:ext>
            </a:extLst>
          </p:cNvPr>
          <p:cNvSpPr/>
          <p:nvPr/>
        </p:nvSpPr>
        <p:spPr>
          <a:xfrm>
            <a:off x="5063762" y="1290872"/>
            <a:ext cx="2232248" cy="455598"/>
          </a:xfrm>
          <a:prstGeom prst="hexagon">
            <a:avLst>
              <a:gd name="adj" fmla="val 12066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횡단 대기 보행자 감지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06B7BF2-ACFD-44E2-B6C7-FE5D99A87507}"/>
              </a:ext>
            </a:extLst>
          </p:cNvPr>
          <p:cNvSpPr/>
          <p:nvPr/>
        </p:nvSpPr>
        <p:spPr>
          <a:xfrm>
            <a:off x="8976319" y="2553724"/>
            <a:ext cx="2088233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우회전 차로 경고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LED </a:t>
            </a:r>
            <a:r>
              <a:rPr lang="ko-KR" altLang="en-US" sz="11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미작동</a:t>
            </a:r>
            <a:endParaRPr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678DF62-AA5A-4E81-8D28-E769872952BD}"/>
              </a:ext>
            </a:extLst>
          </p:cNvPr>
          <p:cNvSpPr/>
          <p:nvPr/>
        </p:nvSpPr>
        <p:spPr>
          <a:xfrm>
            <a:off x="2377777" y="1872563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우회전 차로 경고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LED 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작동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F222FD9-FE06-4A68-AA88-2D49F571E088}"/>
              </a:ext>
            </a:extLst>
          </p:cNvPr>
          <p:cNvSpPr/>
          <p:nvPr/>
        </p:nvSpPr>
        <p:spPr>
          <a:xfrm>
            <a:off x="2379578" y="2553724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감속 및 서행하며 주의</a:t>
            </a:r>
          </a:p>
        </p:txBody>
      </p:sp>
      <p:sp>
        <p:nvSpPr>
          <p:cNvPr id="55" name="육각형 54">
            <a:extLst>
              <a:ext uri="{FF2B5EF4-FFF2-40B4-BE49-F238E27FC236}">
                <a16:creationId xmlns:a16="http://schemas.microsoft.com/office/drawing/2014/main" id="{B18F002A-C416-4C04-B6C7-1B1158100551}"/>
              </a:ext>
            </a:extLst>
          </p:cNvPr>
          <p:cNvSpPr/>
          <p:nvPr/>
        </p:nvSpPr>
        <p:spPr>
          <a:xfrm>
            <a:off x="2253622" y="3212976"/>
            <a:ext cx="2232248" cy="455598"/>
          </a:xfrm>
          <a:prstGeom prst="hexagon">
            <a:avLst>
              <a:gd name="adj" fmla="val 12066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보행자 횡단 시작</a:t>
            </a:r>
            <a:r>
              <a:rPr lang="en-US" altLang="ko-KR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?</a:t>
            </a:r>
            <a:endParaRPr lang="ko-KR" altLang="en-US" sz="1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B3F06AC-7269-40DF-B1BD-44EDC1A8CA92}"/>
              </a:ext>
            </a:extLst>
          </p:cNvPr>
          <p:cNvSpPr/>
          <p:nvPr/>
        </p:nvSpPr>
        <p:spPr>
          <a:xfrm>
            <a:off x="2397638" y="3848156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감속 및 정지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6AF3065-1DDC-4122-AF85-BED6113785B4}"/>
              </a:ext>
            </a:extLst>
          </p:cNvPr>
          <p:cNvSpPr/>
          <p:nvPr/>
        </p:nvSpPr>
        <p:spPr>
          <a:xfrm>
            <a:off x="2377777" y="5163550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우회전 차로 경고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LED </a:t>
            </a:r>
            <a:r>
              <a:rPr lang="ko-KR" altLang="en-US" sz="11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미작동</a:t>
            </a:r>
            <a:endParaRPr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육각형 58">
            <a:extLst>
              <a:ext uri="{FF2B5EF4-FFF2-40B4-BE49-F238E27FC236}">
                <a16:creationId xmlns:a16="http://schemas.microsoft.com/office/drawing/2014/main" id="{8A5AED63-0B70-44E7-830E-C2CAAF4C0784}"/>
              </a:ext>
            </a:extLst>
          </p:cNvPr>
          <p:cNvSpPr/>
          <p:nvPr/>
        </p:nvSpPr>
        <p:spPr>
          <a:xfrm>
            <a:off x="2233761" y="4528751"/>
            <a:ext cx="2232248" cy="455598"/>
          </a:xfrm>
          <a:prstGeom prst="hexagon">
            <a:avLst>
              <a:gd name="adj" fmla="val 12066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보행자 횡단완료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5473467-09A3-4086-9951-A1B0C2927F9D}"/>
              </a:ext>
            </a:extLst>
          </p:cNvPr>
          <p:cNvSpPr/>
          <p:nvPr/>
        </p:nvSpPr>
        <p:spPr>
          <a:xfrm>
            <a:off x="9048329" y="5163550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우회전 진행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A2737BE-DFF0-4BF4-B191-07E5D4EE9AED}"/>
              </a:ext>
            </a:extLst>
          </p:cNvPr>
          <p:cNvSpPr/>
          <p:nvPr/>
        </p:nvSpPr>
        <p:spPr>
          <a:xfrm>
            <a:off x="5471593" y="5929806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감속 및 서행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B985F67-2B38-4222-8B98-ACD369EAEBF9}"/>
              </a:ext>
            </a:extLst>
          </p:cNvPr>
          <p:cNvSpPr/>
          <p:nvPr/>
        </p:nvSpPr>
        <p:spPr>
          <a:xfrm>
            <a:off x="911424" y="5929806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우회전 차로 경고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LED 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작동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7963AF7-436B-41BF-8D1F-4E054CB10C54}"/>
              </a:ext>
            </a:extLst>
          </p:cNvPr>
          <p:cNvSpPr/>
          <p:nvPr/>
        </p:nvSpPr>
        <p:spPr>
          <a:xfrm>
            <a:off x="8904312" y="5928878"/>
            <a:ext cx="2232248" cy="40819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운전 차량 횡단보도 통과</a:t>
            </a:r>
            <a:endParaRPr lang="en-US" altLang="ko-KR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39C03425-E3C0-47B3-B54B-80FE98487EC5}"/>
              </a:ext>
            </a:extLst>
          </p:cNvPr>
          <p:cNvCxnSpPr>
            <a:cxnSpLocks/>
            <a:stCxn id="61" idx="2"/>
            <a:endCxn id="64" idx="0"/>
          </p:cNvCxnSpPr>
          <p:nvPr/>
        </p:nvCxnSpPr>
        <p:spPr>
          <a:xfrm flipH="1">
            <a:off x="10020436" y="5667606"/>
            <a:ext cx="1" cy="261272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1D15AA4-F54F-41FE-8E7C-C1244D329588}"/>
              </a:ext>
            </a:extLst>
          </p:cNvPr>
          <p:cNvCxnSpPr>
            <a:cxnSpLocks/>
            <a:stCxn id="51" idx="2"/>
            <a:endCxn id="61" idx="0"/>
          </p:cNvCxnSpPr>
          <p:nvPr/>
        </p:nvCxnSpPr>
        <p:spPr>
          <a:xfrm>
            <a:off x="10020436" y="3057780"/>
            <a:ext cx="1" cy="210577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3B5B90C0-458E-4AE6-9F65-1A125DD7687A}"/>
              </a:ext>
            </a:extLst>
          </p:cNvPr>
          <p:cNvCxnSpPr>
            <a:cxnSpLocks/>
            <a:stCxn id="62" idx="3"/>
            <a:endCxn id="61" idx="1"/>
          </p:cNvCxnSpPr>
          <p:nvPr/>
        </p:nvCxnSpPr>
        <p:spPr>
          <a:xfrm flipV="1">
            <a:off x="7415809" y="5415578"/>
            <a:ext cx="1632520" cy="76625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305EC8A8-A6A3-4B11-87C9-E57A8F8354E2}"/>
              </a:ext>
            </a:extLst>
          </p:cNvPr>
          <p:cNvCxnSpPr>
            <a:cxnSpLocks/>
            <a:stCxn id="58" idx="3"/>
            <a:endCxn id="61" idx="1"/>
          </p:cNvCxnSpPr>
          <p:nvPr/>
        </p:nvCxnSpPr>
        <p:spPr>
          <a:xfrm>
            <a:off x="4321993" y="5415578"/>
            <a:ext cx="4726336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1003A5A2-75D7-43A6-9E00-7B62C466CA66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2855640" y="6178289"/>
            <a:ext cx="2615953" cy="3545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3EF56DDC-3FE9-432E-B56C-04311DB9E210}"/>
              </a:ext>
            </a:extLst>
          </p:cNvPr>
          <p:cNvCxnSpPr>
            <a:stCxn id="59" idx="0"/>
            <a:endCxn id="56" idx="3"/>
          </p:cNvCxnSpPr>
          <p:nvPr/>
        </p:nvCxnSpPr>
        <p:spPr>
          <a:xfrm flipH="1" flipV="1">
            <a:off x="4341854" y="4100184"/>
            <a:ext cx="124155" cy="656366"/>
          </a:xfrm>
          <a:prstGeom prst="bentConnector3">
            <a:avLst>
              <a:gd name="adj1" fmla="val -184125"/>
            </a:avLst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5789426E-55B2-4247-A269-2F1C16D1437E}"/>
              </a:ext>
            </a:extLst>
          </p:cNvPr>
          <p:cNvCxnSpPr>
            <a:stCxn id="50" idx="0"/>
            <a:endCxn id="51" idx="0"/>
          </p:cNvCxnSpPr>
          <p:nvPr/>
        </p:nvCxnSpPr>
        <p:spPr>
          <a:xfrm>
            <a:off x="7296010" y="1518671"/>
            <a:ext cx="2724426" cy="1035053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7C562006-0674-47E0-AADB-F2295DC62DB3}"/>
              </a:ext>
            </a:extLst>
          </p:cNvPr>
          <p:cNvCxnSpPr>
            <a:cxnSpLocks/>
            <a:stCxn id="50" idx="3"/>
            <a:endCxn id="53" idx="0"/>
          </p:cNvCxnSpPr>
          <p:nvPr/>
        </p:nvCxnSpPr>
        <p:spPr>
          <a:xfrm rot="10800000" flipV="1">
            <a:off x="3349886" y="1518671"/>
            <a:ext cx="1713877" cy="353892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88486DEF-A9FF-4DE4-BD3E-F01633B1A8FF}"/>
              </a:ext>
            </a:extLst>
          </p:cNvPr>
          <p:cNvCxnSpPr>
            <a:stCxn id="55" idx="3"/>
            <a:endCxn id="63" idx="0"/>
          </p:cNvCxnSpPr>
          <p:nvPr/>
        </p:nvCxnSpPr>
        <p:spPr>
          <a:xfrm rot="10800000" flipV="1">
            <a:off x="1883532" y="3440774"/>
            <a:ext cx="370090" cy="2489031"/>
          </a:xfrm>
          <a:prstGeom prst="bentConnector2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8C826E42-9423-4BAC-90E3-E6351F17AFCC}"/>
              </a:ext>
            </a:extLst>
          </p:cNvPr>
          <p:cNvCxnSpPr>
            <a:cxnSpLocks/>
            <a:stCxn id="53" idx="2"/>
            <a:endCxn id="54" idx="0"/>
          </p:cNvCxnSpPr>
          <p:nvPr/>
        </p:nvCxnSpPr>
        <p:spPr>
          <a:xfrm>
            <a:off x="3349885" y="2376619"/>
            <a:ext cx="1801" cy="177105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1AF4ED4-1267-43D1-A19A-6C2D9C795A0D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3349886" y="3057780"/>
            <a:ext cx="1800" cy="15519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82D6F0E4-8801-4A5D-8583-94FBDADDF474}"/>
              </a:ext>
            </a:extLst>
          </p:cNvPr>
          <p:cNvCxnSpPr>
            <a:cxnSpLocks/>
          </p:cNvCxnSpPr>
          <p:nvPr/>
        </p:nvCxnSpPr>
        <p:spPr>
          <a:xfrm>
            <a:off x="3346868" y="3668291"/>
            <a:ext cx="1801" cy="177105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CB173828-C6CD-41DD-B6D4-2DB51F12CF17}"/>
              </a:ext>
            </a:extLst>
          </p:cNvPr>
          <p:cNvCxnSpPr>
            <a:cxnSpLocks/>
          </p:cNvCxnSpPr>
          <p:nvPr/>
        </p:nvCxnSpPr>
        <p:spPr>
          <a:xfrm>
            <a:off x="3345967" y="4350798"/>
            <a:ext cx="1801" cy="177105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831D18C-94BE-43BE-9DD3-4CFAED5C2CFB}"/>
              </a:ext>
            </a:extLst>
          </p:cNvPr>
          <p:cNvCxnSpPr>
            <a:cxnSpLocks/>
          </p:cNvCxnSpPr>
          <p:nvPr/>
        </p:nvCxnSpPr>
        <p:spPr>
          <a:xfrm>
            <a:off x="3344166" y="4983783"/>
            <a:ext cx="1801" cy="177105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8093199-DC08-4926-8483-46C24468D850}"/>
              </a:ext>
            </a:extLst>
          </p:cNvPr>
          <p:cNvSpPr txBox="1"/>
          <p:nvPr/>
        </p:nvSpPr>
        <p:spPr>
          <a:xfrm>
            <a:off x="7977929" y="1266272"/>
            <a:ext cx="680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</a:rPr>
              <a:t>NO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11E09BD-1836-479F-850B-57030BD8B4F5}"/>
              </a:ext>
            </a:extLst>
          </p:cNvPr>
          <p:cNvSpPr txBox="1"/>
          <p:nvPr/>
        </p:nvSpPr>
        <p:spPr>
          <a:xfrm>
            <a:off x="4086671" y="1220764"/>
            <a:ext cx="680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</a:rPr>
              <a:t>YES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63E584-05A1-4BF5-A20C-A5F171050616}"/>
              </a:ext>
            </a:extLst>
          </p:cNvPr>
          <p:cNvSpPr txBox="1"/>
          <p:nvPr/>
        </p:nvSpPr>
        <p:spPr>
          <a:xfrm>
            <a:off x="4741004" y="4265077"/>
            <a:ext cx="680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</a:rPr>
              <a:t>NO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5E8E8C3-6920-44E8-8186-B0EBD91B9267}"/>
              </a:ext>
            </a:extLst>
          </p:cNvPr>
          <p:cNvSpPr txBox="1"/>
          <p:nvPr/>
        </p:nvSpPr>
        <p:spPr>
          <a:xfrm>
            <a:off x="1847528" y="3152417"/>
            <a:ext cx="680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5">
                    <a:lumMod val="50000"/>
                  </a:schemeClr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194901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44CF9B-EED9-4A3E-BF20-9BE02AB06A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569" y="0"/>
            <a:ext cx="9984432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2F402C0-1E6A-4B8F-B525-CD10C5F2D02A}"/>
              </a:ext>
            </a:extLst>
          </p:cNvPr>
          <p:cNvSpPr/>
          <p:nvPr/>
        </p:nvSpPr>
        <p:spPr>
          <a:xfrm>
            <a:off x="0" y="0"/>
            <a:ext cx="4439816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B50E803-89D9-4013-9689-9ED6035EC8D0}"/>
              </a:ext>
            </a:extLst>
          </p:cNvPr>
          <p:cNvSpPr/>
          <p:nvPr/>
        </p:nvSpPr>
        <p:spPr>
          <a:xfrm>
            <a:off x="275692" y="224644"/>
            <a:ext cx="11640616" cy="6408712"/>
          </a:xfrm>
          <a:prstGeom prst="roundRect">
            <a:avLst>
              <a:gd name="adj" fmla="val 2736"/>
            </a:avLst>
          </a:prstGeom>
          <a:solidFill>
            <a:schemeClr val="bg1">
              <a:lumMod val="95000"/>
              <a:alpha val="3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165D54C-378F-418E-815C-A084CF1A942F}"/>
              </a:ext>
            </a:extLst>
          </p:cNvPr>
          <p:cNvSpPr/>
          <p:nvPr/>
        </p:nvSpPr>
        <p:spPr>
          <a:xfrm>
            <a:off x="3971764" y="72000"/>
            <a:ext cx="4248472" cy="504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관리자 프로세스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9DEA052-FBD6-41D6-B3D1-0E00A53B3630}"/>
              </a:ext>
            </a:extLst>
          </p:cNvPr>
          <p:cNvSpPr/>
          <p:nvPr/>
        </p:nvSpPr>
        <p:spPr>
          <a:xfrm>
            <a:off x="4847738" y="676166"/>
            <a:ext cx="2232248" cy="40819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관리자</a:t>
            </a:r>
            <a:endParaRPr lang="en-US" altLang="ko-KR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대시보드 접속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64FFE7-7B3A-4E9F-BF31-4E1A7E32B92E}"/>
              </a:ext>
            </a:extLst>
          </p:cNvPr>
          <p:cNvSpPr/>
          <p:nvPr/>
        </p:nvSpPr>
        <p:spPr>
          <a:xfrm>
            <a:off x="4991754" y="1336458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지도 페이지 접속</a:t>
            </a: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10F59E75-752F-4E82-9CEA-B8CBF1747EF7}"/>
              </a:ext>
            </a:extLst>
          </p:cNvPr>
          <p:cNvSpPr/>
          <p:nvPr/>
        </p:nvSpPr>
        <p:spPr>
          <a:xfrm>
            <a:off x="4847030" y="2086981"/>
            <a:ext cx="2232248" cy="576064"/>
          </a:xfrm>
          <a:prstGeom prst="hexagon">
            <a:avLst>
              <a:gd name="adj" fmla="val 12066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CCTV </a:t>
            </a:r>
            <a:r>
              <a:rPr lang="ko-KR" alt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신호 수신</a:t>
            </a:r>
            <a:endParaRPr lang="en-US" altLang="ko-KR" sz="1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정상 여부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62478B-3DEA-4ACF-89DD-E7F211D951D3}"/>
              </a:ext>
            </a:extLst>
          </p:cNvPr>
          <p:cNvSpPr/>
          <p:nvPr/>
        </p:nvSpPr>
        <p:spPr>
          <a:xfrm>
            <a:off x="7271715" y="2122985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에러 로그 기록 및</a:t>
            </a:r>
            <a:endParaRPr lang="en-US" altLang="ko-KR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재전송 시도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E9885D-5695-48EA-90FB-BB83F5B6D96A}"/>
              </a:ext>
            </a:extLst>
          </p:cNvPr>
          <p:cNvSpPr/>
          <p:nvPr/>
        </p:nvSpPr>
        <p:spPr>
          <a:xfrm>
            <a:off x="9408368" y="2122985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관리자에게 오류 알림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768E195-B6D6-49DD-B404-259748EFF00D}"/>
              </a:ext>
            </a:extLst>
          </p:cNvPr>
          <p:cNvSpPr/>
          <p:nvPr/>
        </p:nvSpPr>
        <p:spPr>
          <a:xfrm>
            <a:off x="4991046" y="2921636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실시간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CCTV</a:t>
            </a:r>
          </a:p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영상 모니터링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7445EA-E5BE-4806-9085-030AC23CA35D}"/>
              </a:ext>
            </a:extLst>
          </p:cNvPr>
          <p:cNvSpPr/>
          <p:nvPr/>
        </p:nvSpPr>
        <p:spPr>
          <a:xfrm>
            <a:off x="4979755" y="3678435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기반 교통</a:t>
            </a:r>
            <a:endParaRPr lang="en-US" altLang="ko-KR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혼잡도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D21147-8F31-4C70-9822-FF4448394334}"/>
              </a:ext>
            </a:extLst>
          </p:cNvPr>
          <p:cNvSpPr/>
          <p:nvPr/>
        </p:nvSpPr>
        <p:spPr>
          <a:xfrm>
            <a:off x="4979755" y="5260893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혼잡 구역 황색 표시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A4C8FEF-B0C6-4FF0-A7BE-32998E0B8977}"/>
              </a:ext>
            </a:extLst>
          </p:cNvPr>
          <p:cNvSpPr/>
          <p:nvPr/>
        </p:nvSpPr>
        <p:spPr>
          <a:xfrm>
            <a:off x="4979047" y="6021288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통계 축적 및 분석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94C591-C0AC-4010-AAA0-9A5EE4478128}"/>
              </a:ext>
            </a:extLst>
          </p:cNvPr>
          <p:cNvSpPr/>
          <p:nvPr/>
        </p:nvSpPr>
        <p:spPr>
          <a:xfrm>
            <a:off x="7728058" y="5260893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혼잡 구역 녹색 표시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8998D1-560A-45CE-BFAC-AA84F5E9539B}"/>
              </a:ext>
            </a:extLst>
          </p:cNvPr>
          <p:cNvSpPr/>
          <p:nvPr/>
        </p:nvSpPr>
        <p:spPr>
          <a:xfrm>
            <a:off x="2203381" y="5260893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혼잡 구역 적색 표시</a:t>
            </a:r>
          </a:p>
        </p:txBody>
      </p:sp>
      <p:sp>
        <p:nvSpPr>
          <p:cNvPr id="23" name="육각형 22">
            <a:extLst>
              <a:ext uri="{FF2B5EF4-FFF2-40B4-BE49-F238E27FC236}">
                <a16:creationId xmlns:a16="http://schemas.microsoft.com/office/drawing/2014/main" id="{0BEA823A-6715-430B-8825-989ABECC5828}"/>
              </a:ext>
            </a:extLst>
          </p:cNvPr>
          <p:cNvSpPr/>
          <p:nvPr/>
        </p:nvSpPr>
        <p:spPr>
          <a:xfrm>
            <a:off x="7138340" y="2869331"/>
            <a:ext cx="2232248" cy="576064"/>
          </a:xfrm>
          <a:prstGeom prst="hexagon">
            <a:avLst>
              <a:gd name="adj" fmla="val 12066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사고 발생 여부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608906-EEE0-46F9-887E-A8BF9875FE09}"/>
              </a:ext>
            </a:extLst>
          </p:cNvPr>
          <p:cNvSpPr/>
          <p:nvPr/>
        </p:nvSpPr>
        <p:spPr>
          <a:xfrm>
            <a:off x="7282356" y="3789040"/>
            <a:ext cx="1944216" cy="5040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지도에 사고</a:t>
            </a:r>
            <a:endParaRPr lang="en-US" altLang="ko-KR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지역 표시</a:t>
            </a:r>
          </a:p>
        </p:txBody>
      </p:sp>
      <p:sp>
        <p:nvSpPr>
          <p:cNvPr id="25" name="육각형 24">
            <a:extLst>
              <a:ext uri="{FF2B5EF4-FFF2-40B4-BE49-F238E27FC236}">
                <a16:creationId xmlns:a16="http://schemas.microsoft.com/office/drawing/2014/main" id="{7B0A32A3-1CA3-437B-A79B-22AD2BFB7162}"/>
              </a:ext>
            </a:extLst>
          </p:cNvPr>
          <p:cNvSpPr/>
          <p:nvPr/>
        </p:nvSpPr>
        <p:spPr>
          <a:xfrm>
            <a:off x="4835398" y="4433660"/>
            <a:ext cx="2232248" cy="576064"/>
          </a:xfrm>
          <a:prstGeom prst="hexagon">
            <a:avLst>
              <a:gd name="adj" fmla="val 12066"/>
              <a:gd name="vf" fmla="val 11547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혼잡 여부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10FA68D-2D6E-4159-B1A5-ED2A1CC53B9A}"/>
              </a:ext>
            </a:extLst>
          </p:cNvPr>
          <p:cNvCxnSpPr>
            <a:cxnSpLocks/>
            <a:stCxn id="14" idx="0"/>
            <a:endCxn id="15" idx="1"/>
          </p:cNvCxnSpPr>
          <p:nvPr/>
        </p:nvCxnSpPr>
        <p:spPr>
          <a:xfrm>
            <a:off x="7079278" y="2375013"/>
            <a:ext cx="192437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41FC125-CB2F-4A7C-B4B7-87ADB21BB54B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963862" y="1084365"/>
            <a:ext cx="0" cy="252093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E469669-4C40-4760-8B99-31C99350DA2D}"/>
              </a:ext>
            </a:extLst>
          </p:cNvPr>
          <p:cNvCxnSpPr>
            <a:cxnSpLocks/>
          </p:cNvCxnSpPr>
          <p:nvPr/>
        </p:nvCxnSpPr>
        <p:spPr>
          <a:xfrm>
            <a:off x="5963862" y="1840514"/>
            <a:ext cx="0" cy="252092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03972DD-428F-4BD1-A7AB-94D7013492BE}"/>
              </a:ext>
            </a:extLst>
          </p:cNvPr>
          <p:cNvCxnSpPr>
            <a:cxnSpLocks/>
          </p:cNvCxnSpPr>
          <p:nvPr/>
        </p:nvCxnSpPr>
        <p:spPr>
          <a:xfrm>
            <a:off x="9215931" y="2376385"/>
            <a:ext cx="192437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C82370F-A5CB-4B38-A83A-DCB1BC70EB59}"/>
              </a:ext>
            </a:extLst>
          </p:cNvPr>
          <p:cNvCxnSpPr>
            <a:cxnSpLocks/>
          </p:cNvCxnSpPr>
          <p:nvPr/>
        </p:nvCxnSpPr>
        <p:spPr>
          <a:xfrm>
            <a:off x="5963154" y="2663045"/>
            <a:ext cx="0" cy="252092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DC1ACE8-0D93-45A7-873E-E8179F7E6042}"/>
              </a:ext>
            </a:extLst>
          </p:cNvPr>
          <p:cNvCxnSpPr>
            <a:cxnSpLocks/>
          </p:cNvCxnSpPr>
          <p:nvPr/>
        </p:nvCxnSpPr>
        <p:spPr>
          <a:xfrm>
            <a:off x="5951863" y="3425692"/>
            <a:ext cx="0" cy="252092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34CB26C-D50C-4DF5-8C5E-9DA3F1F7140C}"/>
              </a:ext>
            </a:extLst>
          </p:cNvPr>
          <p:cNvCxnSpPr>
            <a:cxnSpLocks/>
          </p:cNvCxnSpPr>
          <p:nvPr/>
        </p:nvCxnSpPr>
        <p:spPr>
          <a:xfrm>
            <a:off x="5951155" y="4182491"/>
            <a:ext cx="0" cy="252092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F424099-A217-4168-9C22-CFB309C40F3E}"/>
              </a:ext>
            </a:extLst>
          </p:cNvPr>
          <p:cNvCxnSpPr>
            <a:cxnSpLocks/>
          </p:cNvCxnSpPr>
          <p:nvPr/>
        </p:nvCxnSpPr>
        <p:spPr>
          <a:xfrm>
            <a:off x="5951155" y="5009724"/>
            <a:ext cx="0" cy="252092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F01C36E-130C-4899-9D4E-5C2EBBFB9B3A}"/>
              </a:ext>
            </a:extLst>
          </p:cNvPr>
          <p:cNvCxnSpPr>
            <a:cxnSpLocks/>
          </p:cNvCxnSpPr>
          <p:nvPr/>
        </p:nvCxnSpPr>
        <p:spPr>
          <a:xfrm>
            <a:off x="5951155" y="5764949"/>
            <a:ext cx="0" cy="252092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441EC19A-39FE-42B1-B2EA-DD27B6AC876B}"/>
              </a:ext>
            </a:extLst>
          </p:cNvPr>
          <p:cNvCxnSpPr>
            <a:cxnSpLocks/>
          </p:cNvCxnSpPr>
          <p:nvPr/>
        </p:nvCxnSpPr>
        <p:spPr>
          <a:xfrm>
            <a:off x="6935262" y="3160499"/>
            <a:ext cx="192437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52452139-A91C-49FE-8E46-5DCB1499EA6F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8254464" y="3445395"/>
            <a:ext cx="0" cy="343645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FBF1659-7C79-47CB-936F-6BE7B416F098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079278" y="4721692"/>
            <a:ext cx="1620888" cy="539201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440F504-119D-4B92-A367-842693A28D79}"/>
              </a:ext>
            </a:extLst>
          </p:cNvPr>
          <p:cNvCxnSpPr>
            <a:cxnSpLocks/>
            <a:stCxn id="21" idx="2"/>
            <a:endCxn id="20" idx="3"/>
          </p:cNvCxnSpPr>
          <p:nvPr/>
        </p:nvCxnSpPr>
        <p:spPr>
          <a:xfrm flipH="1">
            <a:off x="6923263" y="5764949"/>
            <a:ext cx="1776903" cy="508367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4040FBA1-3ED6-493B-90F4-090CEED51FED}"/>
              </a:ext>
            </a:extLst>
          </p:cNvPr>
          <p:cNvCxnSpPr>
            <a:cxnSpLocks/>
            <a:stCxn id="25" idx="3"/>
            <a:endCxn id="22" idx="0"/>
          </p:cNvCxnSpPr>
          <p:nvPr/>
        </p:nvCxnSpPr>
        <p:spPr>
          <a:xfrm flipH="1">
            <a:off x="3175489" y="4721692"/>
            <a:ext cx="1659909" cy="539201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3C3F98BC-85EE-45BA-AF07-A4F752F57401}"/>
              </a:ext>
            </a:extLst>
          </p:cNvPr>
          <p:cNvCxnSpPr>
            <a:cxnSpLocks/>
            <a:stCxn id="22" idx="2"/>
            <a:endCxn id="20" idx="1"/>
          </p:cNvCxnSpPr>
          <p:nvPr/>
        </p:nvCxnSpPr>
        <p:spPr>
          <a:xfrm>
            <a:off x="3175489" y="5764949"/>
            <a:ext cx="1803558" cy="508367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oval" w="sm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9029EA1-E35F-4AFE-A14D-23E373151B67}"/>
              </a:ext>
            </a:extLst>
          </p:cNvPr>
          <p:cNvSpPr txBox="1"/>
          <p:nvPr/>
        </p:nvSpPr>
        <p:spPr>
          <a:xfrm>
            <a:off x="6916262" y="1807094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실패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4D56B2-2849-4A2E-A1AE-0092158BF71A}"/>
              </a:ext>
            </a:extLst>
          </p:cNvPr>
          <p:cNvSpPr txBox="1"/>
          <p:nvPr/>
        </p:nvSpPr>
        <p:spPr>
          <a:xfrm>
            <a:off x="8472264" y="3512041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사고발생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F47222-93EF-43EB-BBE0-DEEA3DAE0773}"/>
              </a:ext>
            </a:extLst>
          </p:cNvPr>
          <p:cNvSpPr txBox="1"/>
          <p:nvPr/>
        </p:nvSpPr>
        <p:spPr>
          <a:xfrm>
            <a:off x="7775353" y="4660717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원활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49A947-8588-40D0-A496-F6B31379DE83}"/>
              </a:ext>
            </a:extLst>
          </p:cNvPr>
          <p:cNvSpPr txBox="1"/>
          <p:nvPr/>
        </p:nvSpPr>
        <p:spPr>
          <a:xfrm>
            <a:off x="3401425" y="4714293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혼잡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91CBB6-9A64-40F5-8882-B78026360881}"/>
              </a:ext>
            </a:extLst>
          </p:cNvPr>
          <p:cNvSpPr txBox="1"/>
          <p:nvPr/>
        </p:nvSpPr>
        <p:spPr>
          <a:xfrm>
            <a:off x="4680433" y="2650591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5">
                    <a:lumMod val="50000"/>
                  </a:schemeClr>
                </a:solidFill>
              </a:rPr>
              <a:t>성공</a:t>
            </a:r>
          </a:p>
        </p:txBody>
      </p:sp>
    </p:spTree>
    <p:extLst>
      <p:ext uri="{BB962C8B-B14F-4D97-AF65-F5344CB8AC3E}">
        <p14:creationId xmlns:p14="http://schemas.microsoft.com/office/powerpoint/2010/main" val="379329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l="2000" t="-13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F402C0-1E6A-4B8F-B525-CD10C5F2D02A}"/>
              </a:ext>
            </a:extLst>
          </p:cNvPr>
          <p:cNvSpPr/>
          <p:nvPr/>
        </p:nvSpPr>
        <p:spPr>
          <a:xfrm>
            <a:off x="0" y="0"/>
            <a:ext cx="3719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22E63B-EA2C-41C9-9CAE-009682EC7DB0}"/>
              </a:ext>
            </a:extLst>
          </p:cNvPr>
          <p:cNvSpPr/>
          <p:nvPr/>
        </p:nvSpPr>
        <p:spPr>
          <a:xfrm>
            <a:off x="0" y="0"/>
            <a:ext cx="12192000" cy="4766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AI </a:t>
            </a:r>
            <a:r>
              <a:rPr lang="ko-KR" altLang="en-US" b="1" dirty="0"/>
              <a:t>기반</a:t>
            </a:r>
            <a:r>
              <a:rPr lang="en-US" altLang="ko-KR" b="1" dirty="0"/>
              <a:t> </a:t>
            </a:r>
            <a:r>
              <a:rPr lang="ko-KR" altLang="en-US" b="1" dirty="0"/>
              <a:t>교통관제 </a:t>
            </a:r>
            <a:r>
              <a:rPr lang="en-US" altLang="ko-KR" b="1" dirty="0"/>
              <a:t>CCTV </a:t>
            </a:r>
            <a:r>
              <a:rPr lang="ko-KR" altLang="en-US" b="1" dirty="0"/>
              <a:t>모니터링 서비스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A15E8E2-7201-433F-BF5A-71FF426BB8FA}"/>
              </a:ext>
            </a:extLst>
          </p:cNvPr>
          <p:cNvSpPr/>
          <p:nvPr/>
        </p:nvSpPr>
        <p:spPr>
          <a:xfrm>
            <a:off x="119336" y="620687"/>
            <a:ext cx="11953328" cy="5022369"/>
          </a:xfrm>
          <a:prstGeom prst="roundRect">
            <a:avLst>
              <a:gd name="adj" fmla="val 2861"/>
            </a:avLst>
          </a:prstGeom>
          <a:solidFill>
            <a:schemeClr val="bg1">
              <a:alpha val="3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CB8F9-5348-4883-9DF3-87C6F8D23E29}"/>
              </a:ext>
            </a:extLst>
          </p:cNvPr>
          <p:cNvSpPr/>
          <p:nvPr/>
        </p:nvSpPr>
        <p:spPr>
          <a:xfrm>
            <a:off x="119336" y="5759690"/>
            <a:ext cx="11953328" cy="981677"/>
          </a:xfrm>
          <a:prstGeom prst="roundRect">
            <a:avLst>
              <a:gd name="adj" fmla="val 8236"/>
            </a:avLst>
          </a:prstGeom>
          <a:solidFill>
            <a:schemeClr val="bg1">
              <a:alpha val="3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10" descr="생성된 이미지">
            <a:extLst>
              <a:ext uri="{FF2B5EF4-FFF2-40B4-BE49-F238E27FC236}">
                <a16:creationId xmlns:a16="http://schemas.microsoft.com/office/drawing/2014/main" id="{9974F33D-F2A6-4F94-A3B1-D8FCBFB3D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1484784"/>
            <a:ext cx="2951580" cy="269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생성된 이미지">
            <a:extLst>
              <a:ext uri="{FF2B5EF4-FFF2-40B4-BE49-F238E27FC236}">
                <a16:creationId xmlns:a16="http://schemas.microsoft.com/office/drawing/2014/main" id="{9FE472E8-990D-41CD-ADA9-EAC20F3F2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843" y="731186"/>
            <a:ext cx="1951212" cy="174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생성된 이미지">
            <a:extLst>
              <a:ext uri="{FF2B5EF4-FFF2-40B4-BE49-F238E27FC236}">
                <a16:creationId xmlns:a16="http://schemas.microsoft.com/office/drawing/2014/main" id="{84C45594-5025-4932-90D3-B682DAFCE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403" y="731352"/>
            <a:ext cx="1891060" cy="174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생성된 이미지">
            <a:extLst>
              <a:ext uri="{FF2B5EF4-FFF2-40B4-BE49-F238E27FC236}">
                <a16:creationId xmlns:a16="http://schemas.microsoft.com/office/drawing/2014/main" id="{DBA94DAE-8E22-4DA7-A93B-E33810A9B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843" y="3173097"/>
            <a:ext cx="1951212" cy="176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생성된 이미지">
            <a:extLst>
              <a:ext uri="{FF2B5EF4-FFF2-40B4-BE49-F238E27FC236}">
                <a16:creationId xmlns:a16="http://schemas.microsoft.com/office/drawing/2014/main" id="{38C750C3-5C6C-4120-8B20-05CEFDD71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021" y="3173097"/>
            <a:ext cx="1916442" cy="176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A588D35-E9A2-482C-8BE3-92F45AA98E9F}"/>
              </a:ext>
            </a:extLst>
          </p:cNvPr>
          <p:cNvSpPr/>
          <p:nvPr/>
        </p:nvSpPr>
        <p:spPr>
          <a:xfrm>
            <a:off x="4095302" y="2551073"/>
            <a:ext cx="2596294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실시간 교통 영상 수집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3E79E-0120-4129-AEA6-6A527BA6FA44}"/>
              </a:ext>
            </a:extLst>
          </p:cNvPr>
          <p:cNvSpPr txBox="1"/>
          <p:nvPr/>
        </p:nvSpPr>
        <p:spPr>
          <a:xfrm>
            <a:off x="191344" y="5787261"/>
            <a:ext cx="87790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단순 영상 송출이 아닌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 이벤트 감지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다채널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CCTV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통합 대시보드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 상황 파악 효율화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돌발 상황 시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자동 경고 시스템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시민 연계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타 교통 인프라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신호제어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스마트 횡단보도 등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와의 연동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가능성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4A8BCD6-6A5E-4FB5-A495-238453AA65A6}"/>
              </a:ext>
            </a:extLst>
          </p:cNvPr>
          <p:cNvSpPr/>
          <p:nvPr/>
        </p:nvSpPr>
        <p:spPr>
          <a:xfrm>
            <a:off x="407368" y="4327498"/>
            <a:ext cx="2951580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관리자용 대시보드 제공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EE79F00-9877-4E06-8A6B-8415AD76D0FB}"/>
              </a:ext>
            </a:extLst>
          </p:cNvPr>
          <p:cNvSpPr/>
          <p:nvPr/>
        </p:nvSpPr>
        <p:spPr>
          <a:xfrm>
            <a:off x="7974181" y="2554670"/>
            <a:ext cx="3920121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AI </a:t>
            </a:r>
            <a:r>
              <a:rPr lang="ko-KR" altLang="en-US" b="1" dirty="0"/>
              <a:t>기반 데이터 분석 및 정체 예측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D288FE8-EAE1-4149-8ADE-71BA4971D419}"/>
              </a:ext>
            </a:extLst>
          </p:cNvPr>
          <p:cNvSpPr/>
          <p:nvPr/>
        </p:nvSpPr>
        <p:spPr>
          <a:xfrm>
            <a:off x="3935760" y="5052871"/>
            <a:ext cx="2915378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정체 및 돌발 상황 탐지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418FC0B-9848-4BF0-95BF-BE4F2713DE36}"/>
              </a:ext>
            </a:extLst>
          </p:cNvPr>
          <p:cNvSpPr/>
          <p:nvPr/>
        </p:nvSpPr>
        <p:spPr>
          <a:xfrm>
            <a:off x="8304296" y="5052871"/>
            <a:ext cx="3259892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알림 전송 및 우회 경로 제공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7D0D2F9-FAF6-494D-B2CD-1BA3BD8BC824}"/>
              </a:ext>
            </a:extLst>
          </p:cNvPr>
          <p:cNvSpPr/>
          <p:nvPr/>
        </p:nvSpPr>
        <p:spPr>
          <a:xfrm>
            <a:off x="6772537" y="1628800"/>
            <a:ext cx="1316174" cy="288032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AEB8B2F0-A2B1-424B-B3D2-3CA2626C795B}"/>
              </a:ext>
            </a:extLst>
          </p:cNvPr>
          <p:cNvSpPr/>
          <p:nvPr/>
        </p:nvSpPr>
        <p:spPr>
          <a:xfrm>
            <a:off x="6691596" y="3940051"/>
            <a:ext cx="1287852" cy="288032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86AC9219-13D1-43D8-BE55-AE43E9D1C77C}"/>
              </a:ext>
            </a:extLst>
          </p:cNvPr>
          <p:cNvSpPr/>
          <p:nvPr/>
        </p:nvSpPr>
        <p:spPr>
          <a:xfrm rot="7575263">
            <a:off x="6379006" y="2785871"/>
            <a:ext cx="2002763" cy="288032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036D327-8E68-4F27-AB5F-45EA13F44248}"/>
              </a:ext>
            </a:extLst>
          </p:cNvPr>
          <p:cNvSpPr/>
          <p:nvPr/>
        </p:nvSpPr>
        <p:spPr>
          <a:xfrm>
            <a:off x="3478284" y="3040564"/>
            <a:ext cx="529484" cy="288032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26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l="2000" t="-13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2F402C0-1E6A-4B8F-B525-CD10C5F2D02A}"/>
              </a:ext>
            </a:extLst>
          </p:cNvPr>
          <p:cNvSpPr/>
          <p:nvPr/>
        </p:nvSpPr>
        <p:spPr>
          <a:xfrm>
            <a:off x="0" y="0"/>
            <a:ext cx="3719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22E63B-EA2C-41C9-9CAE-009682EC7DB0}"/>
              </a:ext>
            </a:extLst>
          </p:cNvPr>
          <p:cNvSpPr/>
          <p:nvPr/>
        </p:nvSpPr>
        <p:spPr>
          <a:xfrm>
            <a:off x="0" y="0"/>
            <a:ext cx="12192000" cy="4766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스마트 횡단보도 보행자 서비스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A15E8E2-7201-433F-BF5A-71FF426BB8FA}"/>
              </a:ext>
            </a:extLst>
          </p:cNvPr>
          <p:cNvSpPr/>
          <p:nvPr/>
        </p:nvSpPr>
        <p:spPr>
          <a:xfrm>
            <a:off x="119336" y="620687"/>
            <a:ext cx="11953328" cy="5022369"/>
          </a:xfrm>
          <a:prstGeom prst="roundRect">
            <a:avLst>
              <a:gd name="adj" fmla="val 2861"/>
            </a:avLst>
          </a:prstGeom>
          <a:solidFill>
            <a:schemeClr val="bg1">
              <a:alpha val="3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CB8F9-5348-4883-9DF3-87C6F8D23E29}"/>
              </a:ext>
            </a:extLst>
          </p:cNvPr>
          <p:cNvSpPr/>
          <p:nvPr/>
        </p:nvSpPr>
        <p:spPr>
          <a:xfrm>
            <a:off x="119336" y="5759690"/>
            <a:ext cx="11953328" cy="981677"/>
          </a:xfrm>
          <a:prstGeom prst="roundRect">
            <a:avLst>
              <a:gd name="adj" fmla="val 8236"/>
            </a:avLst>
          </a:prstGeom>
          <a:solidFill>
            <a:schemeClr val="bg1">
              <a:alpha val="3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A588D35-E9A2-482C-8BE3-92F45AA98E9F}"/>
              </a:ext>
            </a:extLst>
          </p:cNvPr>
          <p:cNvSpPr/>
          <p:nvPr/>
        </p:nvSpPr>
        <p:spPr>
          <a:xfrm>
            <a:off x="3754094" y="2489683"/>
            <a:ext cx="3115876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보행신호 연장 판별 및 제공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3E79E-0120-4129-AEA6-6A527BA6FA44}"/>
              </a:ext>
            </a:extLst>
          </p:cNvPr>
          <p:cNvSpPr txBox="1"/>
          <p:nvPr/>
        </p:nvSpPr>
        <p:spPr>
          <a:xfrm>
            <a:off x="191344" y="5787261"/>
            <a:ext cx="87790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AI 카메라 실시간 객체 데이터(보행자/차량/번호판 등)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신호제어 상태/연장 이력, 횡단보도 이용 통계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센서/음성/VMS 로그 및 돌발상황 이벤트 정보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CCTV 및 교통관제 시스템 연동 데이터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4A8BCD6-6A5E-4FB5-A495-238453AA65A6}"/>
              </a:ext>
            </a:extLst>
          </p:cNvPr>
          <p:cNvSpPr/>
          <p:nvPr/>
        </p:nvSpPr>
        <p:spPr>
          <a:xfrm>
            <a:off x="278024" y="3976055"/>
            <a:ext cx="2951580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보행자 접근 금지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EE79F00-9877-4E06-8A6B-8415AD76D0FB}"/>
              </a:ext>
            </a:extLst>
          </p:cNvPr>
          <p:cNvSpPr/>
          <p:nvPr/>
        </p:nvSpPr>
        <p:spPr>
          <a:xfrm>
            <a:off x="8437424" y="2489683"/>
            <a:ext cx="2946355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보행자 횡단 진행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D288FE8-EAE1-4149-8ADE-71BA4971D419}"/>
              </a:ext>
            </a:extLst>
          </p:cNvPr>
          <p:cNvSpPr/>
          <p:nvPr/>
        </p:nvSpPr>
        <p:spPr>
          <a:xfrm>
            <a:off x="3511832" y="4941168"/>
            <a:ext cx="3600400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차량 접근 시 경고 및 속도 유도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418FC0B-9848-4BF0-95BF-BE4F2713DE36}"/>
              </a:ext>
            </a:extLst>
          </p:cNvPr>
          <p:cNvSpPr/>
          <p:nvPr/>
        </p:nvSpPr>
        <p:spPr>
          <a:xfrm>
            <a:off x="8304296" y="4941168"/>
            <a:ext cx="3259892" cy="5040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횡단 완료 및 시스템 초기화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7D0D2F9-FAF6-494D-B2CD-1BA3BD8BC824}"/>
              </a:ext>
            </a:extLst>
          </p:cNvPr>
          <p:cNvSpPr/>
          <p:nvPr/>
        </p:nvSpPr>
        <p:spPr>
          <a:xfrm>
            <a:off x="6772537" y="1628800"/>
            <a:ext cx="1316174" cy="288032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AEB8B2F0-A2B1-424B-B3D2-3CA2626C795B}"/>
              </a:ext>
            </a:extLst>
          </p:cNvPr>
          <p:cNvSpPr/>
          <p:nvPr/>
        </p:nvSpPr>
        <p:spPr>
          <a:xfrm>
            <a:off x="6691596" y="3940051"/>
            <a:ext cx="1287852" cy="288032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86AC9219-13D1-43D8-BE55-AE43E9D1C77C}"/>
              </a:ext>
            </a:extLst>
          </p:cNvPr>
          <p:cNvSpPr/>
          <p:nvPr/>
        </p:nvSpPr>
        <p:spPr>
          <a:xfrm rot="7575263">
            <a:off x="6379006" y="2785871"/>
            <a:ext cx="2002763" cy="288032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036D327-8E68-4F27-AB5F-45EA13F44248}"/>
              </a:ext>
            </a:extLst>
          </p:cNvPr>
          <p:cNvSpPr/>
          <p:nvPr/>
        </p:nvSpPr>
        <p:spPr>
          <a:xfrm>
            <a:off x="3046236" y="2843839"/>
            <a:ext cx="529484" cy="288032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C6B7957-7DBD-4F68-8472-4613DCBA5E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64" y="1571746"/>
            <a:ext cx="2311700" cy="23117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ABEB146-101C-49CB-AA12-2B7478B402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633" y="811638"/>
            <a:ext cx="1622801" cy="162280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DF11921-B22E-43B2-B3B7-0861E61DB5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202" y="811637"/>
            <a:ext cx="1622801" cy="162280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A1FEB4C-A4D3-4322-8B79-8DFDD4F9A52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632" y="3267171"/>
            <a:ext cx="1622801" cy="162280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02F96D5-53FA-4DE6-9CBC-D3C20D3A8B9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840" y="3251919"/>
            <a:ext cx="1622801" cy="162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3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e13380-6049-4f59-9391-9958b2774ca2">
      <Terms xmlns="http://schemas.microsoft.com/office/infopath/2007/PartnerControls"/>
    </lcf76f155ced4ddcb4097134ff3c332f>
    <TaxCatchAll xmlns="cb8fcf1b-9571-4d20-a8ff-81bee2907a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1" ma:contentTypeDescription="새 문서를 만듭니다." ma:contentTypeScope="" ma:versionID="0052cd9c5b100d9e1b5abbdc5cac24cb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bc354dff9c47495eca12804ddc9d3bbc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eb03bc-d133-4271-b95c-0fff905dc160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9589C2-5E3D-4C97-A5DB-26D7F97CFA48}">
  <ds:schemaRefs>
    <ds:schemaRef ds:uri="http://schemas.microsoft.com/office/2006/metadata/properties"/>
    <ds:schemaRef ds:uri="http://schemas.microsoft.com/office/infopath/2007/PartnerControls"/>
    <ds:schemaRef ds:uri="e4e13380-6049-4f59-9391-9958b2774ca2"/>
    <ds:schemaRef ds:uri="cb8fcf1b-9571-4d20-a8ff-81bee2907a75"/>
  </ds:schemaRefs>
</ds:datastoreItem>
</file>

<file path=customXml/itemProps2.xml><?xml version="1.0" encoding="utf-8"?>
<ds:datastoreItem xmlns:ds="http://schemas.openxmlformats.org/officeDocument/2006/customXml" ds:itemID="{38F32CA0-2242-4711-B62E-41E17C4BB2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B84949-337A-4B94-9D35-1EC91D28C1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e13380-6049-4f59-9391-9958b2774ca2"/>
    <ds:schemaRef ds:uri="cb8fcf1b-9571-4d20-a8ff-81bee2907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3480</TotalTime>
  <Words>303</Words>
  <Application>Microsoft Office PowerPoint</Application>
  <PresentationFormat>와이드스크린</PresentationFormat>
  <Paragraphs>87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>http://www.yamestyle.com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 양식_v1.0</dc:title>
  <dc:creator>yamestyle.com</dc:creator>
  <cp:keywords>야메군</cp:keywords>
  <dc:description>본 문서는 공개 배포용으로 작성된 양식으로 저작권 없이 마음껏 사용하실 수 있습니다.</dc:description>
  <cp:lastModifiedBy>User</cp:lastModifiedBy>
  <cp:revision>134</cp:revision>
  <cp:lastPrinted>2019-05-29T05:54:36Z</cp:lastPrinted>
  <dcterms:created xsi:type="dcterms:W3CDTF">2019-03-11T07:43:12Z</dcterms:created>
  <dcterms:modified xsi:type="dcterms:W3CDTF">2025-07-04T04:41:42Z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0x010100EEFD2EC9AE4E1C4E97A968ACD5F6A537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  <property fmtid="{D5CDD505-2E9C-101B-9397-08002B2CF9AE}" pid="12" name="Order">
    <vt:r8>4325400</vt:r8>
  </property>
</Properties>
</file>