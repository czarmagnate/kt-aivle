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6"/>
  </p:notesMasterIdLst>
  <p:sldIdLst>
    <p:sldId id="294" r:id="rId5"/>
  </p:sldIdLst>
  <p:sldSz cx="17556163" cy="9875838"/>
  <p:notesSz cx="9875838" cy="17556163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NanumSquare" panose="020B0600000101010101" pitchFamily="50" charset="-127"/>
      <p:regular r:id="rId11"/>
    </p:embeddedFont>
    <p:embeddedFont>
      <p:font typeface="나눔스퀘어" panose="020B0600000101010101" pitchFamily="50" charset="-127"/>
      <p:regular r:id="rId12"/>
    </p:embeddedFont>
    <p:embeddedFont>
      <p:font typeface="나눔스퀘어 Bold" panose="020B0600000101010101" pitchFamily="50" charset="-127"/>
      <p:bold r:id="rId13"/>
    </p:embeddedFont>
    <p:embeddedFont>
      <p:font typeface="나눔스퀘어 ExtraBold" panose="020B0600000101010101" pitchFamily="50" charset="-127"/>
      <p:bold r:id="rId14"/>
    </p:embeddedFont>
  </p:embeddedFontLst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B"/>
    <a:srgbClr val="E9EBF5"/>
    <a:srgbClr val="BAD5ED"/>
    <a:srgbClr val="F2F3F9"/>
    <a:srgbClr val="000000"/>
    <a:srgbClr val="04357D"/>
    <a:srgbClr val="DAE2EE"/>
    <a:srgbClr val="D9E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12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5282F153-3F37-0F45-9E97-73ACFA13230C}" type="datetimeFigureOut">
              <a:rPr lang="en-US" smtClean="0"/>
              <a:pPr/>
              <a:t>7/2/2025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CE5E9CC1-C706-0F49-92D6-E571CC5EE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FFD9-52BE-693B-B045-2FD0366CA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62B4C-3EDE-6830-5318-974586A31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ED323-B8F8-2777-7DB9-2F15E7A64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9EC5A-9583-8AF3-923D-28AB72211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3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15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84DE7EB-9B0E-12B3-8674-FE75265F6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D225BEAE-EB7A-975F-2456-8DE3CA0EA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7556480" cy="1299734"/>
          </a:xfrm>
          <a:prstGeom prst="rect">
            <a:avLst/>
          </a:prstGeom>
        </p:spPr>
      </p:pic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097968A-3CD5-D644-34C8-D9273350B4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8575764"/>
            <a:ext cx="17556480" cy="1299734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AA199C34-4B5B-2493-4A2B-42E01AD226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-177" t="57803" r="28510" b="-225"/>
          <a:stretch>
            <a:fillRect/>
          </a:stretch>
        </p:blipFill>
        <p:spPr>
          <a:xfrm>
            <a:off x="11915776" y="0"/>
            <a:ext cx="5640388" cy="3338703"/>
          </a:xfrm>
          <a:prstGeom prst="rect">
            <a:avLst/>
          </a:prstGeom>
        </p:spPr>
      </p:pic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F1B87429-3E94-DC8B-D254-0881A08F13B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7344" t="-485" r="-1411" b="50119"/>
          <a:stretch>
            <a:fillRect/>
          </a:stretch>
        </p:blipFill>
        <p:spPr>
          <a:xfrm>
            <a:off x="0" y="5911597"/>
            <a:ext cx="5829300" cy="3963901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19019518-6E90-B0E7-E83D-A0501EC8A28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357425" y="5268326"/>
            <a:ext cx="2680764" cy="9144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B135EFC8-3E7A-B703-5DF2-3AB50989C2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2518685" y="5268326"/>
            <a:ext cx="2680764" cy="9144"/>
          </a:xfrm>
          <a:prstGeom prst="rect">
            <a:avLst/>
          </a:prstGeom>
        </p:spPr>
      </p:pic>
    </p:spTree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110" userDrawn="1">
          <p15:clr>
            <a:srgbClr val="FBAE40"/>
          </p15:clr>
        </p15:guide>
        <p15:guide id="2" pos="55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C0FAE11-1626-FE8E-A62A-714338DCC0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CE2FC802-5327-5C27-2F3E-1EAAAC0AC7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7556480" cy="1299734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55F2CA31-C7FA-8B6B-BF8D-0BBCF8413B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1054" y="1677951"/>
            <a:ext cx="1484186" cy="1484186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D547EB87-1299-9C50-DE4F-877BD09C60B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8575764"/>
            <a:ext cx="17556480" cy="1299734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B655DCA-62FA-88A5-7A80-4436840B21A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-722" t="57803" r="28511" b="894"/>
          <a:stretch>
            <a:fillRect/>
          </a:stretch>
        </p:blipFill>
        <p:spPr>
          <a:xfrm>
            <a:off x="11872913" y="0"/>
            <a:ext cx="5683250" cy="3250693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3D87345E-1905-8A80-60FB-54BA4007702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27344" t="313" r="-3" b="50468"/>
          <a:stretch>
            <a:fillRect/>
          </a:stretch>
        </p:blipFill>
        <p:spPr>
          <a:xfrm>
            <a:off x="0" y="5974372"/>
            <a:ext cx="5718411" cy="3873694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1AEF9CC3-356E-A3A0-B60C-16868E75DD8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718411" y="2415543"/>
            <a:ext cx="3281839" cy="9144"/>
          </a:xfrm>
          <a:prstGeom prst="rect">
            <a:avLst/>
          </a:prstGeom>
        </p:spPr>
      </p:pic>
      <p:pic>
        <p:nvPicPr>
          <p:cNvPr id="14" name="Image 7" descr="preencoded.png">
            <a:extLst>
              <a:ext uri="{FF2B5EF4-FFF2-40B4-BE49-F238E27FC236}">
                <a16:creationId xmlns:a16="http://schemas.microsoft.com/office/drawing/2014/main" id="{DACA3DCE-87A8-24BA-548E-278BE629A12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693847" y="4684179"/>
            <a:ext cx="341900" cy="341900"/>
          </a:xfrm>
          <a:prstGeom prst="rect">
            <a:avLst/>
          </a:prstGeom>
        </p:spPr>
      </p:pic>
      <p:pic>
        <p:nvPicPr>
          <p:cNvPr id="15" name="Image 8" descr="preencoded.png">
            <a:extLst>
              <a:ext uri="{FF2B5EF4-FFF2-40B4-BE49-F238E27FC236}">
                <a16:creationId xmlns:a16="http://schemas.microsoft.com/office/drawing/2014/main" id="{A8DBE198-B3C5-B386-FD05-2C7812EAE1C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589038" y="6264783"/>
            <a:ext cx="960120" cy="960120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FB179F21-C2A2-B177-F4DA-0F728C8F0CF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9326880"/>
            <a:ext cx="175564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27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14308AC-CC7F-9E95-F63B-53726472B8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33AE370E-868E-459C-680B-C3AD88006E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7556480" cy="1299734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97E1EF84-73BE-EE03-875E-6CBE43818A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8575764"/>
            <a:ext cx="17556480" cy="1299734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FAF1274A-B6D6-5191-1D51-AD3B462EFB6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-1085" t="35032" r="28510" b="637"/>
          <a:stretch>
            <a:fillRect/>
          </a:stretch>
        </p:blipFill>
        <p:spPr>
          <a:xfrm>
            <a:off x="11844338" y="0"/>
            <a:ext cx="5711825" cy="5062919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C72324DD-80C3-33F5-5852-57F4FFF11AC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7345" t="-1088" r="-1775" b="41983"/>
          <a:stretch>
            <a:fillRect/>
          </a:stretch>
        </p:blipFill>
        <p:spPr>
          <a:xfrm>
            <a:off x="0" y="5224082"/>
            <a:ext cx="5857875" cy="4651756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1E73377F-BD11-3814-3521-BA4D9CFBAE9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161815" y="4539731"/>
            <a:ext cx="8150304" cy="9144"/>
          </a:xfrm>
          <a:prstGeom prst="rect">
            <a:avLst/>
          </a:prstGeom>
        </p:spPr>
      </p:pic>
      <p:pic>
        <p:nvPicPr>
          <p:cNvPr id="12" name="Image 6" descr="preencoded.png">
            <a:extLst>
              <a:ext uri="{FF2B5EF4-FFF2-40B4-BE49-F238E27FC236}">
                <a16:creationId xmlns:a16="http://schemas.microsoft.com/office/drawing/2014/main" id="{B9AE246A-931C-60AB-B537-B2FA7FA8C34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33241" y="1717810"/>
            <a:ext cx="1484186" cy="1484186"/>
          </a:xfrm>
          <a:prstGeom prst="rect">
            <a:avLst/>
          </a:prstGeom>
        </p:spPr>
      </p:pic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ACD30742-AF90-45A5-DD2A-0A3F89E9D7C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380988" y="1482645"/>
            <a:ext cx="341900" cy="341900"/>
          </a:xfrm>
          <a:prstGeom prst="rect">
            <a:avLst/>
          </a:prstGeom>
        </p:spPr>
      </p:pic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A0045EE7-2E4A-31B8-9A87-D22BB0535CD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5075712" y="8078340"/>
            <a:ext cx="960120" cy="960120"/>
          </a:xfrm>
          <a:prstGeom prst="rect">
            <a:avLst/>
          </a:prstGeom>
        </p:spPr>
      </p:pic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6758B70D-DA5E-D160-DEA5-7B912C15066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9326880"/>
            <a:ext cx="175564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737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6AA59C5-EB6C-92A9-E71D-C57575331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963" t="34487" r="28259" b="-1243"/>
          <a:stretch>
            <a:fillRect/>
          </a:stretch>
        </p:blipFill>
        <p:spPr>
          <a:xfrm>
            <a:off x="11755440" y="0"/>
            <a:ext cx="5800724" cy="52538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531B763-1866-2B59-05F0-BEBA56615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7345" t="-1952" r="-1049" b="41982"/>
          <a:stretch>
            <a:fillRect/>
          </a:stretch>
        </p:blipFill>
        <p:spPr>
          <a:xfrm>
            <a:off x="0" y="5156067"/>
            <a:ext cx="5800725" cy="4719771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A11B242-38C8-7156-D8BB-4D7BF4FEF63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11098" y="847122"/>
            <a:ext cx="14708839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0404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110" userDrawn="1">
          <p15:clr>
            <a:srgbClr val="FBAE40"/>
          </p15:clr>
        </p15:guide>
        <p15:guide id="2" pos="55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84DE7EB-9B0E-12B3-8674-FE75265F6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D225BEAE-EB7A-975F-2456-8DE3CA0EA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7556480" cy="1299734"/>
          </a:xfrm>
          <a:prstGeom prst="rect">
            <a:avLst/>
          </a:prstGeom>
        </p:spPr>
      </p:pic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097968A-3CD5-D644-34C8-D9273350B4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8575764"/>
            <a:ext cx="17556480" cy="1299734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AA199C34-4B5B-2493-4A2B-42E01AD226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-177" t="57803" r="28510" b="-225"/>
          <a:stretch>
            <a:fillRect/>
          </a:stretch>
        </p:blipFill>
        <p:spPr>
          <a:xfrm>
            <a:off x="11915776" y="0"/>
            <a:ext cx="5640388" cy="3338703"/>
          </a:xfrm>
          <a:prstGeom prst="rect">
            <a:avLst/>
          </a:prstGeom>
        </p:spPr>
      </p:pic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F1B87429-3E94-DC8B-D254-0881A08F13B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7344" t="-485" r="-1411" b="50119"/>
          <a:stretch>
            <a:fillRect/>
          </a:stretch>
        </p:blipFill>
        <p:spPr>
          <a:xfrm>
            <a:off x="0" y="5911597"/>
            <a:ext cx="5829300" cy="3963901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19019518-6E90-B0E7-E83D-A0501EC8A28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357425" y="5268326"/>
            <a:ext cx="2680764" cy="9144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B135EFC8-3E7A-B703-5DF2-3AB50989C2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2518685" y="5268326"/>
            <a:ext cx="2680764" cy="9144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B93A53B-F00D-337A-E218-25CCD71E9D59}"/>
              </a:ext>
            </a:extLst>
          </p:cNvPr>
          <p:cNvSpPr/>
          <p:nvPr userDrawn="1"/>
        </p:nvSpPr>
        <p:spPr>
          <a:xfrm>
            <a:off x="5442224" y="7867704"/>
            <a:ext cx="6671713" cy="9980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232" kern="0" spc="-45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R" pitchFamily="34" charset="-120"/>
              </a:rPr>
              <a:t>본 템플릿은 본 교육 이외에 사용하실 수 없습니다</a:t>
            </a:r>
            <a:r>
              <a:rPr lang="en-US" altLang="ko-KR" sz="2232" kern="0" spc="-45" dirty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NanumSquare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2232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Copyright 202</a:t>
            </a:r>
            <a:r>
              <a:rPr lang="en-US" altLang="ko-KR" sz="2232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lang="en-US" sz="2232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KT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8107702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3110">
          <p15:clr>
            <a:srgbClr val="FBAE40"/>
          </p15:clr>
        </p15:guide>
        <p15:guide id="2" pos="55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DEBD-B915-759D-0BF8-488C410B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AFB762D-B63D-4121-90C7-FAE0ED8CFD51}"/>
              </a:ext>
            </a:extLst>
          </p:cNvPr>
          <p:cNvSpPr/>
          <p:nvPr/>
        </p:nvSpPr>
        <p:spPr>
          <a:xfrm>
            <a:off x="288423" y="1890510"/>
            <a:ext cx="16979317" cy="76561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454E8E7-900C-416D-81BA-7307D7FC9A84}"/>
              </a:ext>
            </a:extLst>
          </p:cNvPr>
          <p:cNvCxnSpPr>
            <a:cxnSpLocks/>
          </p:cNvCxnSpPr>
          <p:nvPr/>
        </p:nvCxnSpPr>
        <p:spPr>
          <a:xfrm>
            <a:off x="1848775" y="2944536"/>
            <a:ext cx="13838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3">
            <a:extLst>
              <a:ext uri="{FF2B5EF4-FFF2-40B4-BE49-F238E27FC236}">
                <a16:creationId xmlns:a16="http://schemas.microsoft.com/office/drawing/2014/main" id="{98C3D019-3C98-43F9-8D51-1C16877F727E}"/>
              </a:ext>
            </a:extLst>
          </p:cNvPr>
          <p:cNvSpPr/>
          <p:nvPr/>
        </p:nvSpPr>
        <p:spPr>
          <a:xfrm>
            <a:off x="6404647" y="2135917"/>
            <a:ext cx="4746869" cy="563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3168" b="1" dirty="0">
                <a:solidFill>
                  <a:srgbClr val="04357D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OO</a:t>
            </a:r>
            <a:r>
              <a:rPr lang="ko-KR" altLang="en-US" sz="3168" b="1" dirty="0">
                <a:solidFill>
                  <a:srgbClr val="04357D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시 </a:t>
            </a:r>
            <a:r>
              <a:rPr lang="en-US" altLang="ko-KR" sz="3168" b="1" dirty="0">
                <a:solidFill>
                  <a:srgbClr val="04357D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ITS </a:t>
            </a:r>
            <a:r>
              <a:rPr lang="ko-KR" altLang="en-US" sz="3168" b="1" dirty="0">
                <a:solidFill>
                  <a:srgbClr val="04357D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구축사업</a:t>
            </a:r>
            <a:endParaRPr lang="en-US" altLang="ko-KR" sz="3168" b="1" dirty="0">
              <a:solidFill>
                <a:srgbClr val="04357D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D76C99A-8114-5A75-7D6B-8828B26C05B8}"/>
              </a:ext>
            </a:extLst>
          </p:cNvPr>
          <p:cNvSpPr/>
          <p:nvPr/>
        </p:nvSpPr>
        <p:spPr>
          <a:xfrm>
            <a:off x="457200" y="457200"/>
            <a:ext cx="1182005" cy="78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84" kern="0" spc="-207" dirty="0">
                <a:solidFill>
                  <a:srgbClr val="05357D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SquareEB" pitchFamily="34" charset="-120"/>
              </a:rPr>
              <a:t>02</a:t>
            </a:r>
            <a:endParaRPr lang="en-US" sz="5184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A7BE9CA-B13C-03BC-F129-50AE66550E16}"/>
              </a:ext>
            </a:extLst>
          </p:cNvPr>
          <p:cNvSpPr/>
          <p:nvPr/>
        </p:nvSpPr>
        <p:spPr>
          <a:xfrm>
            <a:off x="1711071" y="988838"/>
            <a:ext cx="8581791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ko-KR" altLang="en-US" sz="3240" kern="0" spc="-194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전체 시스템 구성도 </a:t>
            </a:r>
            <a:r>
              <a:rPr lang="en-US" altLang="ko-KR" sz="3240" kern="0" spc="-194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3240" kern="0" spc="-194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인프라 관점</a:t>
            </a:r>
            <a:r>
              <a:rPr lang="en-US" altLang="ko-KR" sz="3240" kern="0" spc="-194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(H/W, </a:t>
            </a:r>
            <a:r>
              <a:rPr lang="ko-KR" altLang="en-US" sz="3240" kern="0" spc="-194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네트워크</a:t>
            </a:r>
            <a:r>
              <a:rPr lang="en-US" altLang="ko-KR" sz="3240" kern="0" spc="-194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en-US" altLang="ko-KR" sz="324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B3C76894-92AC-E3AE-00BE-127090EFC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098" y="847122"/>
            <a:ext cx="14708839" cy="9144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D46C2EE3-A808-4E4D-B3D2-E1B50FB6B5DF}"/>
              </a:ext>
            </a:extLst>
          </p:cNvPr>
          <p:cNvSpPr/>
          <p:nvPr/>
        </p:nvSpPr>
        <p:spPr>
          <a:xfrm>
            <a:off x="1711071" y="427911"/>
            <a:ext cx="7158609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ko-KR" altLang="en-US" sz="2160" dirty="0">
                <a:solidFill>
                  <a:srgbClr val="05357D"/>
                </a:solidFill>
                <a:latin typeface="나눔스퀘어 Bold" panose="020B0600000101010101" pitchFamily="50" charset="-127"/>
                <a:ea typeface="나눔스퀘어" panose="020B0600000101010101" pitchFamily="50" charset="-127"/>
              </a:rPr>
              <a:t>제안 서비스</a:t>
            </a:r>
            <a:endParaRPr lang="en-US" altLang="ko-KR" sz="216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9691A4A-CB8B-4866-AF94-71FC51BD53B5}"/>
              </a:ext>
            </a:extLst>
          </p:cNvPr>
          <p:cNvSpPr>
            <a:spLocks noChangeAspect="1"/>
          </p:cNvSpPr>
          <p:nvPr/>
        </p:nvSpPr>
        <p:spPr>
          <a:xfrm>
            <a:off x="1651921" y="3317919"/>
            <a:ext cx="1620000" cy="16200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44C223A-59E4-47CC-A0DC-F50C79459CCB}"/>
              </a:ext>
            </a:extLst>
          </p:cNvPr>
          <p:cNvSpPr>
            <a:spLocks/>
          </p:cNvSpPr>
          <p:nvPr/>
        </p:nvSpPr>
        <p:spPr>
          <a:xfrm>
            <a:off x="4226822" y="3308391"/>
            <a:ext cx="1620000" cy="1620000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E52006F-5307-41F4-8719-E12B350D7D16}"/>
              </a:ext>
            </a:extLst>
          </p:cNvPr>
          <p:cNvSpPr>
            <a:spLocks/>
          </p:cNvSpPr>
          <p:nvPr/>
        </p:nvSpPr>
        <p:spPr>
          <a:xfrm>
            <a:off x="6769896" y="3317919"/>
            <a:ext cx="1620000" cy="1620000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20DA6AA-611F-470E-B9E7-809E0EC5C886}"/>
              </a:ext>
            </a:extLst>
          </p:cNvPr>
          <p:cNvSpPr>
            <a:spLocks/>
          </p:cNvSpPr>
          <p:nvPr/>
        </p:nvSpPr>
        <p:spPr>
          <a:xfrm>
            <a:off x="1629689" y="7244480"/>
            <a:ext cx="1620000" cy="1620000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2F7461E-5914-4152-9D4B-7529291BD9D4}"/>
              </a:ext>
            </a:extLst>
          </p:cNvPr>
          <p:cNvSpPr>
            <a:spLocks/>
          </p:cNvSpPr>
          <p:nvPr/>
        </p:nvSpPr>
        <p:spPr>
          <a:xfrm>
            <a:off x="4201114" y="7244480"/>
            <a:ext cx="1620000" cy="1620000"/>
          </a:xfrm>
          <a:prstGeom prst="round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1EB3143-266E-4B95-9363-C17C06FF2E6A}"/>
              </a:ext>
            </a:extLst>
          </p:cNvPr>
          <p:cNvSpPr>
            <a:spLocks/>
          </p:cNvSpPr>
          <p:nvPr/>
        </p:nvSpPr>
        <p:spPr>
          <a:xfrm>
            <a:off x="6772540" y="7244480"/>
            <a:ext cx="1620000" cy="1620000"/>
          </a:xfrm>
          <a:prstGeom prst="round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5CB06E0-C671-44EB-A176-1577385C53CC}"/>
              </a:ext>
            </a:extLst>
          </p:cNvPr>
          <p:cNvSpPr>
            <a:spLocks/>
          </p:cNvSpPr>
          <p:nvPr/>
        </p:nvSpPr>
        <p:spPr>
          <a:xfrm>
            <a:off x="14144366" y="4986287"/>
            <a:ext cx="1620000" cy="1620000"/>
          </a:xfrm>
          <a:prstGeom prst="roundRect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F8659-0184-48CE-8B05-15D6116CE2EE}"/>
              </a:ext>
            </a:extLst>
          </p:cNvPr>
          <p:cNvSpPr txBox="1"/>
          <p:nvPr/>
        </p:nvSpPr>
        <p:spPr>
          <a:xfrm>
            <a:off x="1428715" y="5014888"/>
            <a:ext cx="2063385" cy="60016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음성안내보조장치</a:t>
            </a:r>
            <a:endParaRPr lang="en-US" altLang="ko-KR" sz="16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ko-KR" altLang="en-US" sz="1500" dirty="0" err="1">
                <a:solidFill>
                  <a:schemeClr val="accent1">
                    <a:lumMod val="75000"/>
                  </a:schemeClr>
                </a:solidFill>
              </a:rPr>
              <a:t>센서부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ko-KR" altLang="en-US" sz="1500" dirty="0">
                <a:solidFill>
                  <a:schemeClr val="accent1">
                    <a:lumMod val="75000"/>
                  </a:schemeClr>
                </a:solidFill>
              </a:rPr>
              <a:t>제어부</a:t>
            </a:r>
            <a:r>
              <a:rPr lang="en-US" altLang="ko-KR" sz="15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ko-KR" altLang="en-US" sz="1500" dirty="0" err="1">
                <a:solidFill>
                  <a:schemeClr val="accent1">
                    <a:lumMod val="75000"/>
                  </a:schemeClr>
                </a:solidFill>
              </a:rPr>
              <a:t>표출부</a:t>
            </a:r>
            <a:endParaRPr lang="en-US" altLang="ko-KR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3443F4-D952-4258-A08C-CDCD8E9CB68F}"/>
              </a:ext>
            </a:extLst>
          </p:cNvPr>
          <p:cNvSpPr txBox="1"/>
          <p:nvPr/>
        </p:nvSpPr>
        <p:spPr>
          <a:xfrm>
            <a:off x="3798873" y="5014888"/>
            <a:ext cx="2468945" cy="64633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AI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검지 카메라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</a:rPr>
              <a:t>센서부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algn="ctr"/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YOLOv11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7DF2EC-24B3-4BE1-85FD-10D307713697}"/>
              </a:ext>
            </a:extLst>
          </p:cNvPr>
          <p:cNvSpPr txBox="1"/>
          <p:nvPr/>
        </p:nvSpPr>
        <p:spPr>
          <a:xfrm>
            <a:off x="6794772" y="5003562"/>
            <a:ext cx="1569660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현장제어장치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8073E3-3D5B-4641-9216-9BB06081E113}"/>
              </a:ext>
            </a:extLst>
          </p:cNvPr>
          <p:cNvSpPr txBox="1"/>
          <p:nvPr/>
        </p:nvSpPr>
        <p:spPr>
          <a:xfrm>
            <a:off x="1560161" y="8925275"/>
            <a:ext cx="1800494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자동연장시스템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B3C59-9EE8-4FDB-823E-F6942C988F6E}"/>
              </a:ext>
            </a:extLst>
          </p:cNvPr>
          <p:cNvSpPr txBox="1"/>
          <p:nvPr/>
        </p:nvSpPr>
        <p:spPr>
          <a:xfrm>
            <a:off x="4594763" y="8925275"/>
            <a:ext cx="87716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전광판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F489A2-E647-4BDD-A58A-308A6F5DAB55}"/>
              </a:ext>
            </a:extLst>
          </p:cNvPr>
          <p:cNvSpPr txBox="1"/>
          <p:nvPr/>
        </p:nvSpPr>
        <p:spPr>
          <a:xfrm>
            <a:off x="6724242" y="8913949"/>
            <a:ext cx="1710726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스피커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</a:rPr>
              <a:t>표출부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화살표: 왼쪽 43">
            <a:extLst>
              <a:ext uri="{FF2B5EF4-FFF2-40B4-BE49-F238E27FC236}">
                <a16:creationId xmlns:a16="http://schemas.microsoft.com/office/drawing/2014/main" id="{98D64650-504E-45B8-A510-BE821C412786}"/>
              </a:ext>
            </a:extLst>
          </p:cNvPr>
          <p:cNvSpPr/>
          <p:nvPr/>
        </p:nvSpPr>
        <p:spPr>
          <a:xfrm flipH="1">
            <a:off x="5917967" y="3833735"/>
            <a:ext cx="780784" cy="479481"/>
          </a:xfrm>
          <a:prstGeom prst="leftArrow">
            <a:avLst/>
          </a:prstGeom>
          <a:solidFill>
            <a:schemeClr val="accent5">
              <a:alpha val="42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화살표: 왼쪽 48">
            <a:extLst>
              <a:ext uri="{FF2B5EF4-FFF2-40B4-BE49-F238E27FC236}">
                <a16:creationId xmlns:a16="http://schemas.microsoft.com/office/drawing/2014/main" id="{BE0B8D1B-DE6A-4590-8059-6EE256F2C5BF}"/>
              </a:ext>
            </a:extLst>
          </p:cNvPr>
          <p:cNvSpPr/>
          <p:nvPr/>
        </p:nvSpPr>
        <p:spPr>
          <a:xfrm rot="5400000" flipH="1">
            <a:off x="1760896" y="6209641"/>
            <a:ext cx="1222595" cy="541602"/>
          </a:xfrm>
          <a:prstGeom prst="leftArrow">
            <a:avLst/>
          </a:prstGeom>
          <a:solidFill>
            <a:srgbClr val="BAD5ED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화살표: 왼쪽 49">
            <a:extLst>
              <a:ext uri="{FF2B5EF4-FFF2-40B4-BE49-F238E27FC236}">
                <a16:creationId xmlns:a16="http://schemas.microsoft.com/office/drawing/2014/main" id="{278CD15E-6D15-4656-81C9-B704FF4C369A}"/>
              </a:ext>
            </a:extLst>
          </p:cNvPr>
          <p:cNvSpPr/>
          <p:nvPr/>
        </p:nvSpPr>
        <p:spPr>
          <a:xfrm rot="5400000" flipH="1">
            <a:off x="4422046" y="6213176"/>
            <a:ext cx="1222595" cy="541602"/>
          </a:xfrm>
          <a:prstGeom prst="leftArrow">
            <a:avLst/>
          </a:prstGeom>
          <a:solidFill>
            <a:srgbClr val="BAD5ED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화살표: 왼쪽 44">
            <a:extLst>
              <a:ext uri="{FF2B5EF4-FFF2-40B4-BE49-F238E27FC236}">
                <a16:creationId xmlns:a16="http://schemas.microsoft.com/office/drawing/2014/main" id="{B07D9CB1-DA09-4B27-8D38-7872BD284BD2}"/>
              </a:ext>
            </a:extLst>
          </p:cNvPr>
          <p:cNvSpPr/>
          <p:nvPr/>
        </p:nvSpPr>
        <p:spPr>
          <a:xfrm rot="5400000" flipH="1">
            <a:off x="6739121" y="5962894"/>
            <a:ext cx="1721602" cy="541602"/>
          </a:xfrm>
          <a:prstGeom prst="leftArrow">
            <a:avLst/>
          </a:prstGeom>
          <a:solidFill>
            <a:srgbClr val="BAD5ED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90AD54-D143-439B-8706-4B1DF6327F59}"/>
              </a:ext>
            </a:extLst>
          </p:cNvPr>
          <p:cNvSpPr/>
          <p:nvPr/>
        </p:nvSpPr>
        <p:spPr>
          <a:xfrm>
            <a:off x="2249176" y="5861993"/>
            <a:ext cx="5477574" cy="369331"/>
          </a:xfrm>
          <a:prstGeom prst="rect">
            <a:avLst/>
          </a:prstGeom>
          <a:solidFill>
            <a:srgbClr val="BAD5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4E81DD89-DB58-43BF-99B9-873CCFF84C65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9797" y="5019885"/>
            <a:ext cx="1620000" cy="1620000"/>
          </a:xfrm>
          <a:prstGeom prst="rect">
            <a:avLst/>
          </a:prstGeom>
          <a:ln w="25400">
            <a:solidFill>
              <a:schemeClr val="accent5">
                <a:shade val="50000"/>
              </a:schemeClr>
            </a:solidFill>
          </a:ln>
        </p:spPr>
      </p:pic>
      <p:sp>
        <p:nvSpPr>
          <p:cNvPr id="13" name="화살표: 왼쪽/오른쪽 12">
            <a:extLst>
              <a:ext uri="{FF2B5EF4-FFF2-40B4-BE49-F238E27FC236}">
                <a16:creationId xmlns:a16="http://schemas.microsoft.com/office/drawing/2014/main" id="{23A709D1-B52F-4368-BCD5-231AF717322F}"/>
              </a:ext>
            </a:extLst>
          </p:cNvPr>
          <p:cNvSpPr/>
          <p:nvPr/>
        </p:nvSpPr>
        <p:spPr>
          <a:xfrm>
            <a:off x="12182230" y="6721338"/>
            <a:ext cx="1628500" cy="522844"/>
          </a:xfrm>
          <a:prstGeom prst="leftRightArrow">
            <a:avLst/>
          </a:prstGeom>
          <a:solidFill>
            <a:srgbClr val="BAD5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왼쪽/위쪽 13">
            <a:extLst>
              <a:ext uri="{FF2B5EF4-FFF2-40B4-BE49-F238E27FC236}">
                <a16:creationId xmlns:a16="http://schemas.microsoft.com/office/drawing/2014/main" id="{113F7E6F-8F3E-4509-B009-DCE87644000D}"/>
              </a:ext>
            </a:extLst>
          </p:cNvPr>
          <p:cNvSpPr/>
          <p:nvPr/>
        </p:nvSpPr>
        <p:spPr>
          <a:xfrm flipV="1">
            <a:off x="8511841" y="3833735"/>
            <a:ext cx="2820105" cy="1094656"/>
          </a:xfrm>
          <a:prstGeom prst="leftUpArrow">
            <a:avLst/>
          </a:prstGeom>
          <a:solidFill>
            <a:srgbClr val="BAD5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68AF84C1-FFD2-4295-B317-B4246BA02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618408"/>
              </p:ext>
            </p:extLst>
          </p:nvPr>
        </p:nvGraphicFramePr>
        <p:xfrm>
          <a:off x="10274423" y="6662304"/>
          <a:ext cx="1654424" cy="2520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424">
                  <a:extLst>
                    <a:ext uri="{9D8B030D-6E8A-4147-A177-3AD203B41FA5}">
                      <a16:colId xmlns:a16="http://schemas.microsoft.com/office/drawing/2014/main" val="3394257055"/>
                    </a:ext>
                  </a:extLst>
                </a:gridCol>
              </a:tblGrid>
              <a:tr h="571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클라우드 서버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900299"/>
                  </a:ext>
                </a:extLst>
              </a:tr>
              <a:tr h="349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Web </a:t>
                      </a:r>
                      <a:r>
                        <a:rPr lang="ko-KR" altLang="en-US" sz="1600" dirty="0"/>
                        <a:t>서버</a:t>
                      </a:r>
                      <a:r>
                        <a:rPr lang="en-US" altLang="ko-KR" sz="1600" dirty="0"/>
                        <a:t>(EC2)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9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630201"/>
                  </a:ext>
                </a:extLst>
              </a:tr>
              <a:tr h="3497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WAS </a:t>
                      </a:r>
                      <a:r>
                        <a:rPr lang="ko-KR" altLang="en-US" sz="1600" dirty="0"/>
                        <a:t>서버</a:t>
                      </a:r>
                      <a:r>
                        <a:rPr lang="en-US" altLang="ko-KR" sz="1600" dirty="0"/>
                        <a:t>(EC2)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37352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API </a:t>
                      </a:r>
                      <a:r>
                        <a:rPr lang="ko-KR" altLang="en-US" sz="1600" dirty="0"/>
                        <a:t>서버</a:t>
                      </a:r>
                      <a:r>
                        <a:rPr lang="en-US" altLang="ko-KR" sz="1600" dirty="0"/>
                        <a:t>(EC2)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9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3154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AI </a:t>
                      </a:r>
                      <a:r>
                        <a:rPr lang="ko-KR" altLang="en-US" sz="1600" dirty="0"/>
                        <a:t>분석</a:t>
                      </a:r>
                      <a:r>
                        <a:rPr lang="en-US" altLang="ko-KR" sz="1600" dirty="0"/>
                        <a:t>(Lambda)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368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DB </a:t>
                      </a:r>
                      <a:r>
                        <a:rPr lang="ko-KR" altLang="en-US" sz="1600" dirty="0"/>
                        <a:t>서버</a:t>
                      </a:r>
                      <a:r>
                        <a:rPr lang="en-US" altLang="ko-KR" sz="1600" dirty="0"/>
                        <a:t>(RDS,NoSQL,S3)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011079"/>
                  </a:ext>
                </a:extLst>
              </a:tr>
            </a:tbl>
          </a:graphicData>
        </a:graphic>
      </p:graphicFrame>
      <p:sp>
        <p:nvSpPr>
          <p:cNvPr id="17" name="설명선: 선 16">
            <a:extLst>
              <a:ext uri="{FF2B5EF4-FFF2-40B4-BE49-F238E27FC236}">
                <a16:creationId xmlns:a16="http://schemas.microsoft.com/office/drawing/2014/main" id="{733DE053-6278-436E-A03A-A88EF3A36FBF}"/>
              </a:ext>
            </a:extLst>
          </p:cNvPr>
          <p:cNvSpPr/>
          <p:nvPr/>
        </p:nvSpPr>
        <p:spPr>
          <a:xfrm>
            <a:off x="3037933" y="6347014"/>
            <a:ext cx="1230556" cy="586405"/>
          </a:xfrm>
          <a:prstGeom prst="borderCallout1">
            <a:avLst>
              <a:gd name="adj1" fmla="val -741"/>
              <a:gd name="adj2" fmla="val 303"/>
              <a:gd name="adj3" fmla="val 73084"/>
              <a:gd name="adj4" fmla="val -4279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보행자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통과 중</a:t>
            </a:r>
          </a:p>
        </p:txBody>
      </p:sp>
      <p:sp>
        <p:nvSpPr>
          <p:cNvPr id="67" name="설명선: 선 66">
            <a:extLst>
              <a:ext uri="{FF2B5EF4-FFF2-40B4-BE49-F238E27FC236}">
                <a16:creationId xmlns:a16="http://schemas.microsoft.com/office/drawing/2014/main" id="{5A2C34DA-6080-4A32-9237-2EFE1E668B9C}"/>
              </a:ext>
            </a:extLst>
          </p:cNvPr>
          <p:cNvSpPr/>
          <p:nvPr/>
        </p:nvSpPr>
        <p:spPr>
          <a:xfrm>
            <a:off x="5692910" y="6351628"/>
            <a:ext cx="1230556" cy="586405"/>
          </a:xfrm>
          <a:prstGeom prst="borderCallout1">
            <a:avLst>
              <a:gd name="adj1" fmla="val -741"/>
              <a:gd name="adj2" fmla="val 303"/>
              <a:gd name="adj3" fmla="val 73084"/>
              <a:gd name="adj4" fmla="val -4279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차량</a:t>
            </a:r>
            <a:r>
              <a:rPr lang="en-US" altLang="ko-KR" sz="1400" dirty="0">
                <a:solidFill>
                  <a:schemeClr val="tx1"/>
                </a:solidFill>
              </a:rPr>
              <a:t> / </a:t>
            </a:r>
            <a:r>
              <a:rPr lang="ko-KR" altLang="en-US" sz="1400" dirty="0">
                <a:solidFill>
                  <a:schemeClr val="tx1"/>
                </a:solidFill>
              </a:rPr>
              <a:t>보행자 검지</a:t>
            </a:r>
          </a:p>
        </p:txBody>
      </p:sp>
      <p:sp>
        <p:nvSpPr>
          <p:cNvPr id="68" name="설명선: 선 67">
            <a:extLst>
              <a:ext uri="{FF2B5EF4-FFF2-40B4-BE49-F238E27FC236}">
                <a16:creationId xmlns:a16="http://schemas.microsoft.com/office/drawing/2014/main" id="{0628B8A5-7C1C-4712-AA75-3E1E3E508F72}"/>
              </a:ext>
            </a:extLst>
          </p:cNvPr>
          <p:cNvSpPr/>
          <p:nvPr/>
        </p:nvSpPr>
        <p:spPr>
          <a:xfrm>
            <a:off x="8252270" y="6361253"/>
            <a:ext cx="1230556" cy="586405"/>
          </a:xfrm>
          <a:prstGeom prst="borderCallout1">
            <a:avLst>
              <a:gd name="adj1" fmla="val -741"/>
              <a:gd name="adj2" fmla="val 303"/>
              <a:gd name="adj3" fmla="val 73084"/>
              <a:gd name="adj4" fmla="val -4279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보행자 통행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신호변환 시</a:t>
            </a: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20381945-E2D3-430B-A276-0582CFA4E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412085"/>
              </p:ext>
            </p:extLst>
          </p:nvPr>
        </p:nvGraphicFramePr>
        <p:xfrm>
          <a:off x="14020912" y="6628965"/>
          <a:ext cx="1866907" cy="258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7">
                  <a:extLst>
                    <a:ext uri="{9D8B030D-6E8A-4147-A177-3AD203B41FA5}">
                      <a16:colId xmlns:a16="http://schemas.microsoft.com/office/drawing/2014/main" val="3394257055"/>
                    </a:ext>
                  </a:extLst>
                </a:gridCol>
              </a:tblGrid>
              <a:tr h="571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통합관제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모니터링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5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900299"/>
                  </a:ext>
                </a:extLst>
              </a:tr>
              <a:tr h="3497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현장장비 제어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9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630201"/>
                  </a:ext>
                </a:extLst>
              </a:tr>
              <a:tr h="3497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실시간 교통관제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3735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주요 교차로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ko-KR" altLang="en-US" sz="1600" dirty="0"/>
                        <a:t>교통혼잡 모니터링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9">
                        <a:alpha val="5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315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돌발상황 모니터링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0110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AI </a:t>
                      </a:r>
                      <a:r>
                        <a:rPr lang="ko-KR" altLang="en-US" sz="1600" dirty="0"/>
                        <a:t>기반 위험예측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23235"/>
                  </a:ext>
                </a:extLst>
              </a:tr>
            </a:tbl>
          </a:graphicData>
        </a:graphic>
      </p:graphicFrame>
      <p:sp>
        <p:nvSpPr>
          <p:cNvPr id="71" name="설명선: 선 70">
            <a:extLst>
              <a:ext uri="{FF2B5EF4-FFF2-40B4-BE49-F238E27FC236}">
                <a16:creationId xmlns:a16="http://schemas.microsoft.com/office/drawing/2014/main" id="{0B96E7CA-E38E-466E-BE72-87B7525DFE2C}"/>
              </a:ext>
            </a:extLst>
          </p:cNvPr>
          <p:cNvSpPr/>
          <p:nvPr/>
        </p:nvSpPr>
        <p:spPr>
          <a:xfrm>
            <a:off x="9482826" y="3209489"/>
            <a:ext cx="1342724" cy="586405"/>
          </a:xfrm>
          <a:prstGeom prst="borderCallout1">
            <a:avLst>
              <a:gd name="adj1" fmla="val -741"/>
              <a:gd name="adj2" fmla="val 303"/>
              <a:gd name="adj3" fmla="val 127250"/>
              <a:gd name="adj4" fmla="val -24808"/>
            </a:avLst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Ethernet / LTE </a:t>
            </a:r>
            <a:r>
              <a:rPr lang="ko-KR" altLang="en-US" sz="1600" dirty="0">
                <a:solidFill>
                  <a:schemeClr val="tx1"/>
                </a:solidFill>
              </a:rPr>
              <a:t>무선통신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95E586A-063E-4421-8E84-484D413B930D}"/>
              </a:ext>
            </a:extLst>
          </p:cNvPr>
          <p:cNvSpPr/>
          <p:nvPr/>
        </p:nvSpPr>
        <p:spPr>
          <a:xfrm>
            <a:off x="12410456" y="6151960"/>
            <a:ext cx="1172047" cy="522844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API </a:t>
            </a:r>
            <a:r>
              <a:rPr lang="ko-KR" altLang="en-US" dirty="0">
                <a:solidFill>
                  <a:schemeClr val="tx1"/>
                </a:solidFill>
              </a:rPr>
              <a:t>호출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AA25FDD-793C-43AC-A76E-82BA174B5719}"/>
              </a:ext>
            </a:extLst>
          </p:cNvPr>
          <p:cNvSpPr/>
          <p:nvPr/>
        </p:nvSpPr>
        <p:spPr>
          <a:xfrm>
            <a:off x="12415814" y="7289032"/>
            <a:ext cx="1172047" cy="522844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API </a:t>
            </a:r>
            <a:r>
              <a:rPr lang="ko-KR" altLang="en-US" dirty="0">
                <a:solidFill>
                  <a:schemeClr val="tx1"/>
                </a:solidFill>
              </a:rPr>
              <a:t>응답</a:t>
            </a:r>
          </a:p>
        </p:txBody>
      </p:sp>
    </p:spTree>
    <p:extLst>
      <p:ext uri="{BB962C8B-B14F-4D97-AF65-F5344CB8AC3E}">
        <p14:creationId xmlns:p14="http://schemas.microsoft.com/office/powerpoint/2010/main" val="134652062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32"/>
  <p:tag name="AS_OS" val="Microsoft Windows NT 10.0.26100.0"/>
  <p:tag name="AS_RELEASE_DATE" val="2023.12.14"/>
  <p:tag name="AS_TITLE" val="Aspose.Slides for .NET Standard 2.0"/>
  <p:tag name="AS_VERSION" val="23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1" ma:contentTypeDescription="새 문서를 만듭니다." ma:contentTypeScope="" ma:versionID="0052cd9c5b100d9e1b5abbdc5cac24cb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bc354dff9c47495eca12804ddc9d3bbc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eb03bc-d133-4271-b95c-0fff905dc160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8E148B-7544-4AE1-81BB-44F1E984A5F3}">
  <ds:schemaRefs>
    <ds:schemaRef ds:uri="http://schemas.microsoft.com/office/2006/metadata/properties"/>
    <ds:schemaRef ds:uri="http://schemas.microsoft.com/office/infopath/2007/PartnerControls"/>
    <ds:schemaRef ds:uri="e4e13380-6049-4f59-9391-9958b2774ca2"/>
    <ds:schemaRef ds:uri="cb8fcf1b-9571-4d20-a8ff-81bee2907a75"/>
  </ds:schemaRefs>
</ds:datastoreItem>
</file>

<file path=customXml/itemProps2.xml><?xml version="1.0" encoding="utf-8"?>
<ds:datastoreItem xmlns:ds="http://schemas.openxmlformats.org/officeDocument/2006/customXml" ds:itemID="{CB22E959-6FDA-4428-8137-F8566CDB56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155694-B7D7-46A9-B9A8-7E22A32FF7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e13380-6049-4f59-9391-9958b2774ca2"/>
    <ds:schemaRef ds:uri="cb8fcf1b-9571-4d20-a8ff-81bee2907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108</Words>
  <Application>Microsoft Office PowerPoint</Application>
  <PresentationFormat>사용자 지정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나눔스퀘어</vt:lpstr>
      <vt:lpstr>Arial</vt:lpstr>
      <vt:lpstr>나눔스퀘어 ExtraBold</vt:lpstr>
      <vt:lpstr>나눔스퀘어 Bold</vt:lpstr>
      <vt:lpstr>NanumSquare</vt:lpstr>
      <vt:lpstr>Calibri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서비스기획제안서-배부용</dc:title>
  <dc:subject>Presentation</dc:subject>
  <dc:creator>mangoboard.net_49104367</dc:creator>
  <cp:lastModifiedBy>최재훈</cp:lastModifiedBy>
  <cp:revision>53</cp:revision>
  <dcterms:created xsi:type="dcterms:W3CDTF">2025-06-17T01:12:06Z</dcterms:created>
  <dcterms:modified xsi:type="dcterms:W3CDTF">2025-07-02T07:08:48Z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0x010100EEFD2EC9AE4E1C4E97A968ACD5F6A537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  <property fmtid="{D5CDD505-2E9C-101B-9397-08002B2CF9AE}" pid="12" name="Order">
    <vt:r8>4324000</vt:r8>
  </property>
</Properties>
</file>