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6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72" r:id="rId13"/>
    <p:sldId id="273" r:id="rId14"/>
    <p:sldId id="274" r:id="rId15"/>
    <p:sldId id="282" r:id="rId16"/>
    <p:sldId id="283" r:id="rId17"/>
    <p:sldId id="270" r:id="rId18"/>
    <p:sldId id="284" r:id="rId19"/>
    <p:sldId id="285" r:id="rId20"/>
    <p:sldId id="268" r:id="rId21"/>
    <p:sldId id="269" r:id="rId22"/>
    <p:sldId id="271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AEAA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3" autoAdjust="0"/>
    <p:restoredTop sz="94660"/>
  </p:normalViewPr>
  <p:slideViewPr>
    <p:cSldViewPr snapToGrid="0">
      <p:cViewPr>
        <p:scale>
          <a:sx n="150" d="100"/>
          <a:sy n="150" d="100"/>
        </p:scale>
        <p:origin x="72" y="-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D2ED39-DDC8-4221-818B-D5A27D4D0B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5BC0D6F-D1C3-4479-9534-EA1249633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0890EC-C4FF-4DAE-B327-31420892A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C9461-1F6A-4B97-A086-678C4077AF24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1C861D-B30B-4547-A5A2-94EF50BDB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FCC8CA-3DAA-497D-BF61-AF143BBE5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347E3-EAAE-439D-9D5D-A437A3A706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2341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63A742-38A5-4EF3-8728-4837DAEF2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251C6F-801E-47F8-BD06-2008C7840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81DD43-9226-4420-A28B-4E0D929D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C9461-1F6A-4B97-A086-678C4077AF24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66223F-9CA8-40EC-A6AF-8BC7E884F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0C1D20-59C5-4F64-B1DC-715D42EFA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347E3-EAAE-439D-9D5D-A437A3A706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3352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D505E5-F0FE-444D-ACBA-1023FA096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8919C12-1BFE-4E1C-957D-10F0EE1454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F62BC3-612C-4F85-B2BF-B24DC8996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C9461-1F6A-4B97-A086-678C4077AF24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AE454E-29B8-47DE-AD96-87E95CFE6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4A3EEA-F9F3-48EF-9F49-983217A28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347E3-EAAE-439D-9D5D-A437A3A706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0469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171CE0-2FF5-42B1-AA90-81199E8A0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14A7D5-4653-4B63-A230-76D372D223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C30810C-82A2-4646-A22F-42920F9393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CB9F0DB-AE90-48B8-B9D3-E0BDA7C64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C9461-1F6A-4B97-A086-678C4077AF24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9B5772C-F150-4C59-9220-AAC5F62D5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82E887F-5244-4C52-AFD1-0E2DB0A97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347E3-EAAE-439D-9D5D-A437A3A706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2815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744FE9-4312-43AE-BB7F-E8E58F177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455366D-5C39-429B-B314-480625FCD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6C29E13-CB53-4171-87EB-2A972EC825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67AF8DF-1D64-4336-AFCB-3D6497A815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3272111-0727-4318-AE9B-9AAE16F0E1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5CF9489-6C97-40E2-BBF1-5A14DB81C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C9461-1F6A-4B97-A086-678C4077AF24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8E2AFF8-3DF0-4662-A7BA-CFF169FBE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7AB1B3A-127F-46EA-8E77-4AA9D1F3D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347E3-EAAE-439D-9D5D-A437A3A706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6471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6F16E4-A0A4-4D6D-AAF8-3C6DAB177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0848E2B-A46D-4AD5-9055-C9769D950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C9461-1F6A-4B97-A086-678C4077AF24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72261BB-C990-4923-B652-F9056E441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8952806-555B-4143-9CC9-26DD2C8D0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347E3-EAAE-439D-9D5D-A437A3A706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5632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3932B88-6318-420D-A3F0-8695517D0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C9461-1F6A-4B97-A086-678C4077AF24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0989149-EF1B-41C5-9591-F3F961912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779D26-D8F4-4F26-B08F-8FA7F632B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347E3-EAAE-439D-9D5D-A437A3A706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2709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E8EFBB-37C3-4CD8-BA76-75174F2CC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4E5A33-CAAF-4C54-AFFF-BBA0F1FD7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23C31AF-73DE-4732-945A-76D908C25A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12FF4E7-95F0-4D46-B287-4E23E77D0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C9461-1F6A-4B97-A086-678C4077AF24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31B37D-D0ED-47D3-A886-9428640BA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6CF9D91-AC13-45B5-81C1-226761D2A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347E3-EAAE-439D-9D5D-A437A3A706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1542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86EE7E-3720-4A71-9E7B-0BAFED532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E1EDF2A-B254-4551-848E-000C7640EC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12D6E97-18D8-41BC-A563-2B96D32057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1ABC76-4290-4343-A6F8-10241F814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C9461-1F6A-4B97-A086-678C4077AF24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492A6C-93EC-40CE-BFDC-B6AFE7E26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9B1901-6B17-4F8D-996C-80D7B4B7D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347E3-EAAE-439D-9D5D-A437A3A706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6867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682C27-AABA-48B3-88DC-6C543B42D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D4636E-4220-44E0-B2D1-B1990A7314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D32DF0-824C-4760-9218-9052008C9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C9461-1F6A-4B97-A086-678C4077AF24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9C7CB7-48A1-4DC6-A313-1A2D3797D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6CF3BE-1949-4C7E-87BA-38003599F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347E3-EAAE-439D-9D5D-A437A3A706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5612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EDCFC0F-7578-42AD-82A2-7C03ABBB99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18E4C9D-2A2F-4705-9FED-F006AADA69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18A7AC-2FE8-4E50-B58D-54A33E6E3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C9461-1F6A-4B97-A086-678C4077AF24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071785-8330-46FE-B800-C07275B19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E72B9F-E689-4B2D-A2CB-8081633A3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347E3-EAAE-439D-9D5D-A437A3A706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3564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342263B-F88D-43EE-AF16-87F8D6864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71BC10B-FBBB-4F65-AADC-1B86604F04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B1684F-FD1A-4D3D-94F8-3BED378D9F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0C9461-1F6A-4B97-A086-678C4077AF24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4741FB-0C10-4C75-A320-9EEEFDC31D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ADA020-8839-4575-9918-D67E1D33CC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3347E3-EAAE-439D-9D5D-A437A3A706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2769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microsoft.com/office/2007/relationships/hdphoto" Target="../media/hdphoto2.wdp"/><Relationship Id="rId7" Type="http://schemas.microsoft.com/office/2007/relationships/hdphoto" Target="../media/hdphoto4.wdp"/><Relationship Id="rId12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microsoft.com/office/2007/relationships/hdphoto" Target="../media/hdphoto1.wdp"/><Relationship Id="rId5" Type="http://schemas.microsoft.com/office/2007/relationships/hdphoto" Target="../media/hdphoto3.wdp"/><Relationship Id="rId10" Type="http://schemas.openxmlformats.org/officeDocument/2006/relationships/image" Target="../media/image4.png"/><Relationship Id="rId4" Type="http://schemas.openxmlformats.org/officeDocument/2006/relationships/image" Target="../media/image6.png"/><Relationship Id="rId9" Type="http://schemas.microsoft.com/office/2007/relationships/hdphoto" Target="../media/hdphoto5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figma.com/proto/afNMB6pfVZiegDUG8hKfk1/%ED%94%84%EB%A1%9C%ED%86%A0%ED%83%80%EC%9E%85-%EC%8B%A4%EC%8A%B5?node-id=32-1173&amp;p=f&amp;t=0og8Fg93QyoqOtYE-0&amp;scaling=min-zoom&amp;content-scaling=fixed&amp;starting-point-node-id=70%3A517&amp;show-proto-sidebar=1" TargetMode="External"/><Relationship Id="rId4" Type="http://schemas.openxmlformats.org/officeDocument/2006/relationships/hyperlink" Target="https://www.figma.com/proto/afNMB6pfVZiegDUG8hKfk1/%ED%94%84%EB%A1%9C%ED%86%A0%ED%83%80%EC%9E%85-%EC%8B%A4%EC%8A%B5?node-id=0-1&amp;p=f&amp;t=0og8Fg93QyoqOtYE-0&amp;scaling=scale-down&amp;content-scaling=fixed&amp;starting-point-node-id=116%3A947&amp;show-proto-sidebar=1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4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  <a14:imgEffect>
                      <a14:saturation sat="37000"/>
                    </a14:imgEffect>
                    <a14:imgEffect>
                      <a14:brightnessContrast bright="-65000" contrast="3400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8FBB93-2267-4B4F-9278-C4C64823FF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6998" y="2799316"/>
            <a:ext cx="6959602" cy="891454"/>
          </a:xfrm>
        </p:spPr>
        <p:txBody>
          <a:bodyPr anchor="ctr">
            <a:normAutofit/>
          </a:bodyPr>
          <a:lstStyle/>
          <a:p>
            <a:r>
              <a:rPr lang="ko-KR" altLang="en-US" sz="1800" i="0" u="none" strike="noStrike" baseline="0" dirty="0">
                <a:solidFill>
                  <a:schemeClr val="bg1"/>
                </a:solidFill>
                <a:latin typeface="NanumSquareEB"/>
              </a:rPr>
              <a:t>도심 교통 데이터를 활용한 </a:t>
            </a:r>
            <a:r>
              <a:rPr lang="en-US" altLang="ko-KR" sz="1800" b="0" i="0" u="none" strike="noStrike" baseline="0" dirty="0">
                <a:solidFill>
                  <a:schemeClr val="bg1"/>
                </a:solidFill>
                <a:latin typeface="NanumSquareEB"/>
              </a:rPr>
              <a:t>ITS</a:t>
            </a:r>
            <a:r>
              <a:rPr lang="ko-KR" altLang="en-US" sz="1800" b="0" i="0" u="none" strike="noStrike" baseline="0" dirty="0">
                <a:solidFill>
                  <a:schemeClr val="bg1"/>
                </a:solidFill>
                <a:latin typeface="NanumSquareEB"/>
              </a:rPr>
              <a:t>기획 및 인프라 설계</a:t>
            </a:r>
            <a:endParaRPr lang="ko-KR" altLang="en-US" sz="8000" dirty="0">
              <a:solidFill>
                <a:schemeClr val="bg1"/>
              </a:solidFill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758BEE-9B96-41A8-8D47-4180F2FDB3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73728" y="4888378"/>
            <a:ext cx="6044540" cy="549548"/>
          </a:xfrm>
        </p:spPr>
        <p:txBody>
          <a:bodyPr anchor="ctr">
            <a:normAutofit/>
          </a:bodyPr>
          <a:lstStyle/>
          <a:p>
            <a:r>
              <a:rPr lang="ko-KR" altLang="en-US" sz="1200" b="1" dirty="0" err="1">
                <a:solidFill>
                  <a:schemeClr val="bg1"/>
                </a:solidFill>
              </a:rPr>
              <a:t>곽종범</a:t>
            </a:r>
            <a:r>
              <a:rPr lang="en-US" altLang="ko-KR" sz="1200" b="1" dirty="0">
                <a:solidFill>
                  <a:schemeClr val="bg1"/>
                </a:solidFill>
              </a:rPr>
              <a:t>,</a:t>
            </a:r>
            <a:r>
              <a:rPr lang="ko-KR" altLang="en-US" sz="1200" b="1" dirty="0">
                <a:solidFill>
                  <a:schemeClr val="bg1"/>
                </a:solidFill>
              </a:rPr>
              <a:t> </a:t>
            </a:r>
            <a:r>
              <a:rPr lang="ko-KR" altLang="en-US" sz="1200" b="1" dirty="0" err="1">
                <a:solidFill>
                  <a:schemeClr val="bg1"/>
                </a:solidFill>
              </a:rPr>
              <a:t>김경일</a:t>
            </a:r>
            <a:r>
              <a:rPr lang="en-US" altLang="ko-KR" sz="1200" b="1" dirty="0">
                <a:solidFill>
                  <a:schemeClr val="bg1"/>
                </a:solidFill>
              </a:rPr>
              <a:t>,</a:t>
            </a:r>
            <a:r>
              <a:rPr lang="ko-KR" altLang="en-US" sz="1200" b="1" dirty="0">
                <a:solidFill>
                  <a:schemeClr val="bg1"/>
                </a:solidFill>
              </a:rPr>
              <a:t> 최재훈</a:t>
            </a:r>
            <a:r>
              <a:rPr lang="en-US" altLang="ko-KR" sz="1200" b="1" dirty="0">
                <a:solidFill>
                  <a:schemeClr val="bg1"/>
                </a:solidFill>
              </a:rPr>
              <a:t>,</a:t>
            </a:r>
            <a:r>
              <a:rPr lang="ko-KR" altLang="en-US" sz="1200" b="1" dirty="0">
                <a:solidFill>
                  <a:schemeClr val="bg1"/>
                </a:solidFill>
              </a:rPr>
              <a:t> </a:t>
            </a:r>
            <a:r>
              <a:rPr lang="ko-KR" altLang="en-US" sz="1200" b="1" dirty="0" err="1">
                <a:solidFill>
                  <a:schemeClr val="bg1"/>
                </a:solidFill>
              </a:rPr>
              <a:t>나정민</a:t>
            </a:r>
            <a:r>
              <a:rPr lang="en-US" altLang="ko-KR" sz="1200" b="1" dirty="0">
                <a:solidFill>
                  <a:schemeClr val="bg1"/>
                </a:solidFill>
              </a:rPr>
              <a:t>,</a:t>
            </a:r>
            <a:r>
              <a:rPr lang="ko-KR" altLang="en-US" sz="1200" b="1" dirty="0">
                <a:solidFill>
                  <a:schemeClr val="bg1"/>
                </a:solidFill>
              </a:rPr>
              <a:t> 김소연</a:t>
            </a:r>
            <a:r>
              <a:rPr lang="en-US" altLang="ko-KR" sz="1200" b="1" dirty="0">
                <a:solidFill>
                  <a:schemeClr val="bg1"/>
                </a:solidFill>
              </a:rPr>
              <a:t>,</a:t>
            </a:r>
            <a:r>
              <a:rPr lang="ko-KR" altLang="en-US" sz="1200" b="1" dirty="0">
                <a:solidFill>
                  <a:schemeClr val="bg1"/>
                </a:solidFill>
              </a:rPr>
              <a:t> </a:t>
            </a:r>
            <a:r>
              <a:rPr lang="ko-KR" altLang="en-US" sz="1200" b="1" dirty="0" err="1">
                <a:solidFill>
                  <a:schemeClr val="bg1"/>
                </a:solidFill>
              </a:rPr>
              <a:t>박재서</a:t>
            </a:r>
            <a:r>
              <a:rPr lang="en-US" altLang="ko-KR" sz="1200" b="1" dirty="0">
                <a:solidFill>
                  <a:schemeClr val="bg1"/>
                </a:solidFill>
              </a:rPr>
              <a:t>,</a:t>
            </a:r>
            <a:r>
              <a:rPr lang="ko-KR" altLang="en-US" sz="1200" b="1" dirty="0">
                <a:solidFill>
                  <a:schemeClr val="bg1"/>
                </a:solidFill>
              </a:rPr>
              <a:t> </a:t>
            </a:r>
            <a:r>
              <a:rPr lang="ko-KR" altLang="en-US" sz="1200" b="1" dirty="0" err="1">
                <a:solidFill>
                  <a:schemeClr val="bg1"/>
                </a:solidFill>
              </a:rPr>
              <a:t>황인제</a:t>
            </a:r>
            <a:r>
              <a:rPr lang="en-US" altLang="ko-KR" sz="1200" b="1" dirty="0">
                <a:solidFill>
                  <a:schemeClr val="bg1"/>
                </a:solidFill>
              </a:rPr>
              <a:t>,</a:t>
            </a:r>
            <a:r>
              <a:rPr lang="ko-KR" altLang="en-US" sz="1200" b="1" dirty="0">
                <a:solidFill>
                  <a:schemeClr val="bg1"/>
                </a:solidFill>
              </a:rPr>
              <a:t> </a:t>
            </a:r>
            <a:r>
              <a:rPr lang="ko-KR" altLang="en-US" sz="1200" b="1" dirty="0" err="1">
                <a:solidFill>
                  <a:schemeClr val="bg1"/>
                </a:solidFill>
              </a:rPr>
              <a:t>정도명</a:t>
            </a:r>
            <a:r>
              <a:rPr lang="en-US" altLang="ko-KR" sz="1200" b="1" dirty="0">
                <a:solidFill>
                  <a:schemeClr val="bg1"/>
                </a:solidFill>
              </a:rPr>
              <a:t>,</a:t>
            </a:r>
            <a:r>
              <a:rPr lang="ko-KR" altLang="en-US" sz="1200" b="1" dirty="0">
                <a:solidFill>
                  <a:schemeClr val="bg1"/>
                </a:solidFill>
              </a:rPr>
              <a:t> </a:t>
            </a:r>
            <a:r>
              <a:rPr lang="ko-KR" altLang="en-US" sz="1200" b="1" dirty="0" err="1">
                <a:solidFill>
                  <a:schemeClr val="bg1"/>
                </a:solidFill>
              </a:rPr>
              <a:t>유채민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4EF1DE0-F391-4C88-A925-487D88C22D45}"/>
              </a:ext>
            </a:extLst>
          </p:cNvPr>
          <p:cNvSpPr/>
          <p:nvPr/>
        </p:nvSpPr>
        <p:spPr>
          <a:xfrm>
            <a:off x="2887859" y="3429000"/>
            <a:ext cx="6416279" cy="464342"/>
          </a:xfrm>
          <a:prstGeom prst="rect">
            <a:avLst/>
          </a:prstGeom>
          <a:solidFill>
            <a:srgbClr val="30AEAA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DX_10</a:t>
            </a:r>
            <a:r>
              <a:rPr lang="ko-KR" altLang="en-US" b="1" dirty="0">
                <a:solidFill>
                  <a:schemeClr val="tx1"/>
                </a:solidFill>
              </a:rPr>
              <a:t>반</a:t>
            </a:r>
            <a:r>
              <a:rPr lang="en-US" altLang="ko-KR" b="1" dirty="0">
                <a:solidFill>
                  <a:schemeClr val="tx1"/>
                </a:solidFill>
              </a:rPr>
              <a:t>_26</a:t>
            </a:r>
            <a:r>
              <a:rPr lang="ko-KR" altLang="en-US" b="1" dirty="0">
                <a:solidFill>
                  <a:schemeClr val="tx1"/>
                </a:solidFill>
              </a:rPr>
              <a:t>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5B80990-71AA-4F5B-BC51-52C97AFB1193}"/>
              </a:ext>
            </a:extLst>
          </p:cNvPr>
          <p:cNvSpPr/>
          <p:nvPr/>
        </p:nvSpPr>
        <p:spPr>
          <a:xfrm>
            <a:off x="5638799" y="4451756"/>
            <a:ext cx="914402" cy="500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67C9DE3F-7BEC-4379-87B0-E18EA514C9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65" y="6417517"/>
            <a:ext cx="966068" cy="543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2D3F1C-C051-4EB8-8EC1-54AB6D32C74F}"/>
              </a:ext>
            </a:extLst>
          </p:cNvPr>
          <p:cNvSpPr txBox="1"/>
          <p:nvPr/>
        </p:nvSpPr>
        <p:spPr>
          <a:xfrm>
            <a:off x="1815584" y="2563590"/>
            <a:ext cx="33025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0" b="1" dirty="0" err="1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GilTALK</a:t>
            </a:r>
            <a:endParaRPr lang="ko-KR" altLang="en-US" sz="6000" b="1" dirty="0">
              <a:solidFill>
                <a:schemeClr val="bg1"/>
              </a:solidFill>
              <a:latin typeface="Gadug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4737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5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D01AF9CE-CB80-4D7E-B39F-A64EAD28EA8B}"/>
              </a:ext>
            </a:extLst>
          </p:cNvPr>
          <p:cNvSpPr/>
          <p:nvPr/>
        </p:nvSpPr>
        <p:spPr>
          <a:xfrm>
            <a:off x="4155842" y="1515246"/>
            <a:ext cx="3227315" cy="870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EC326B-B341-4ACD-B634-90FC794F4698}"/>
              </a:ext>
            </a:extLst>
          </p:cNvPr>
          <p:cNvSpPr txBox="1"/>
          <p:nvPr/>
        </p:nvSpPr>
        <p:spPr>
          <a:xfrm>
            <a:off x="4050063" y="640913"/>
            <a:ext cx="864374" cy="1107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6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SemiConden" panose="020B0502040204020203" pitchFamily="34" charset="0"/>
              </a:rPr>
              <a:t>01</a:t>
            </a:r>
            <a:endParaRPr lang="ko-KR" altLang="en-US" sz="6600" b="1" dirty="0">
              <a:solidFill>
                <a:schemeClr val="tx1">
                  <a:lumMod val="50000"/>
                  <a:lumOff val="50000"/>
                </a:schemeClr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886C3C-A631-44FF-A747-FD9B95804283}"/>
              </a:ext>
            </a:extLst>
          </p:cNvPr>
          <p:cNvSpPr txBox="1"/>
          <p:nvPr/>
        </p:nvSpPr>
        <p:spPr>
          <a:xfrm>
            <a:off x="4914434" y="1053581"/>
            <a:ext cx="28537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기획 개요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BC0FAA-6021-4FF4-A7CD-A1837CAC5704}"/>
              </a:ext>
            </a:extLst>
          </p:cNvPr>
          <p:cNvSpPr txBox="1"/>
          <p:nvPr/>
        </p:nvSpPr>
        <p:spPr>
          <a:xfrm>
            <a:off x="4155842" y="1667368"/>
            <a:ext cx="38809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진행하고자 하는 기획이 무엇인지 개요 설명 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91CD248-E3F8-4150-B142-E3433E932B60}"/>
              </a:ext>
            </a:extLst>
          </p:cNvPr>
          <p:cNvSpPr/>
          <p:nvPr/>
        </p:nvSpPr>
        <p:spPr>
          <a:xfrm>
            <a:off x="4155846" y="2895611"/>
            <a:ext cx="4334564" cy="9736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D1959C-1DE0-45BE-ADFD-975F36184849}"/>
              </a:ext>
            </a:extLst>
          </p:cNvPr>
          <p:cNvSpPr txBox="1"/>
          <p:nvPr/>
        </p:nvSpPr>
        <p:spPr>
          <a:xfrm>
            <a:off x="4050062" y="2017953"/>
            <a:ext cx="1005622" cy="1107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6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SemiConden" panose="020B0502040204020203" pitchFamily="34" charset="0"/>
              </a:rPr>
              <a:t>02</a:t>
            </a:r>
            <a:endParaRPr lang="ko-KR" altLang="en-US" sz="6600" b="1" dirty="0">
              <a:solidFill>
                <a:schemeClr val="tx1">
                  <a:lumMod val="50000"/>
                  <a:lumOff val="50000"/>
                </a:schemeClr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651303-6ED9-4546-9C92-D889545A2629}"/>
              </a:ext>
            </a:extLst>
          </p:cNvPr>
          <p:cNvSpPr txBox="1"/>
          <p:nvPr/>
        </p:nvSpPr>
        <p:spPr>
          <a:xfrm>
            <a:off x="4914434" y="2432117"/>
            <a:ext cx="28537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목표 시스템 구성도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E2B570-A3A9-4995-B5EF-633A8BD1F020}"/>
              </a:ext>
            </a:extLst>
          </p:cNvPr>
          <p:cNvSpPr txBox="1"/>
          <p:nvPr/>
        </p:nvSpPr>
        <p:spPr>
          <a:xfrm>
            <a:off x="4155842" y="2993365"/>
            <a:ext cx="41034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ITS</a:t>
            </a:r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서비스 이해를 위한 도메인 지식 및 구축 사례 검토 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E47B614-5DF0-4A03-819E-16AB569B4C71}"/>
              </a:ext>
            </a:extLst>
          </p:cNvPr>
          <p:cNvSpPr/>
          <p:nvPr/>
        </p:nvSpPr>
        <p:spPr>
          <a:xfrm>
            <a:off x="4155844" y="4301910"/>
            <a:ext cx="5284717" cy="97368"/>
          </a:xfrm>
          <a:prstGeom prst="rect">
            <a:avLst/>
          </a:prstGeom>
          <a:solidFill>
            <a:srgbClr val="30AEAA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chemeClr val="accent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66D0CF-0C26-435E-93FA-8B52202672C3}"/>
              </a:ext>
            </a:extLst>
          </p:cNvPr>
          <p:cNvSpPr txBox="1"/>
          <p:nvPr/>
        </p:nvSpPr>
        <p:spPr>
          <a:xfrm>
            <a:off x="4050062" y="3424252"/>
            <a:ext cx="1005622" cy="1107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6600" b="1" dirty="0">
                <a:solidFill>
                  <a:srgbClr val="30AEAA"/>
                </a:solidFill>
                <a:latin typeface="Bahnschrift SemiBold SemiConden" panose="020B0502040204020203" pitchFamily="34" charset="0"/>
              </a:rPr>
              <a:t>03</a:t>
            </a:r>
            <a:endParaRPr lang="ko-KR" altLang="en-US" sz="6600" b="1" dirty="0">
              <a:solidFill>
                <a:srgbClr val="30AEAA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D5B32B-2C30-433C-B7EF-806DF8E4F059}"/>
              </a:ext>
            </a:extLst>
          </p:cNvPr>
          <p:cNvSpPr txBox="1"/>
          <p:nvPr/>
        </p:nvSpPr>
        <p:spPr>
          <a:xfrm>
            <a:off x="4914434" y="3836940"/>
            <a:ext cx="4526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HW, SW, </a:t>
            </a:r>
            <a:r>
              <a:rPr lang="ko-KR" altLang="en-US" sz="2400" b="1" dirty="0">
                <a:solidFill>
                  <a:srgbClr val="30AEAA"/>
                </a:solidFill>
              </a:rPr>
              <a:t>통합</a:t>
            </a:r>
            <a:r>
              <a:rPr lang="ko-KR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en-US" sz="2400" b="1" dirty="0">
                <a:solidFill>
                  <a:srgbClr val="30AEAA"/>
                </a:solidFill>
              </a:rPr>
              <a:t>구성도</a:t>
            </a:r>
            <a:r>
              <a:rPr lang="en-US" altLang="ko-KR" sz="2400" b="1" dirty="0">
                <a:solidFill>
                  <a:srgbClr val="30AEAA"/>
                </a:solidFill>
              </a:rPr>
              <a:t>&amp;</a:t>
            </a:r>
            <a:r>
              <a:rPr lang="ko-KR" altLang="en-US" sz="2400" b="1" dirty="0">
                <a:solidFill>
                  <a:srgbClr val="30AEAA"/>
                </a:solidFill>
              </a:rPr>
              <a:t>흐름도</a:t>
            </a:r>
            <a:r>
              <a:rPr lang="ko-KR" altLang="en-US" sz="2400" b="1" dirty="0">
                <a:solidFill>
                  <a:schemeClr val="accent6"/>
                </a:solidFill>
              </a:rPr>
              <a:t>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B6B7F8-EFE8-430E-BD90-21DE7D9495F1}"/>
              </a:ext>
            </a:extLst>
          </p:cNvPr>
          <p:cNvSpPr txBox="1"/>
          <p:nvPr/>
        </p:nvSpPr>
        <p:spPr>
          <a:xfrm>
            <a:off x="4155842" y="4420796"/>
            <a:ext cx="42744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목표 시스템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HW </a:t>
            </a:r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구성도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SW </a:t>
            </a:r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구성도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통합 구성도를</a:t>
            </a:r>
            <a:endParaRPr lang="en-US" altLang="ko-KR" sz="11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작성하고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ITS</a:t>
            </a:r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서비스의 주요 개선 서비스 흐름에 대해 시각화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89C6657-0F2E-4B7E-B6B9-41629FE444D0}"/>
              </a:ext>
            </a:extLst>
          </p:cNvPr>
          <p:cNvSpPr/>
          <p:nvPr/>
        </p:nvSpPr>
        <p:spPr>
          <a:xfrm>
            <a:off x="4155843" y="5708915"/>
            <a:ext cx="6118799" cy="98316"/>
          </a:xfrm>
          <a:prstGeom prst="rect">
            <a:avLst/>
          </a:prstGeom>
          <a:solidFill>
            <a:srgbClr val="30AEAA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7326B4-EE2B-4A7B-843A-ABFB97E5D42F}"/>
              </a:ext>
            </a:extLst>
          </p:cNvPr>
          <p:cNvSpPr txBox="1"/>
          <p:nvPr/>
        </p:nvSpPr>
        <p:spPr>
          <a:xfrm>
            <a:off x="4050060" y="4824771"/>
            <a:ext cx="1065097" cy="1107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6600" b="1" dirty="0">
                <a:solidFill>
                  <a:srgbClr val="30AEAA"/>
                </a:solidFill>
                <a:latin typeface="Bahnschrift SemiBold SemiConden" panose="020B0502040204020203" pitchFamily="34" charset="0"/>
              </a:rPr>
              <a:t>04</a:t>
            </a:r>
            <a:endParaRPr lang="ko-KR" altLang="en-US" sz="6600" b="1" dirty="0">
              <a:solidFill>
                <a:srgbClr val="30AEAA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A0C3EA7-FBA4-47AF-B796-F865131B5E6F}"/>
              </a:ext>
            </a:extLst>
          </p:cNvPr>
          <p:cNvSpPr txBox="1"/>
          <p:nvPr/>
        </p:nvSpPr>
        <p:spPr>
          <a:xfrm>
            <a:off x="4914434" y="5247250"/>
            <a:ext cx="4274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30AEAA"/>
                </a:solidFill>
              </a:rPr>
              <a:t>프로토타입 시연 </a:t>
            </a:r>
            <a:r>
              <a:rPr lang="ko-KR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및 기대효과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AE14964-7415-42A9-BDFA-59411AF0DF51}"/>
              </a:ext>
            </a:extLst>
          </p:cNvPr>
          <p:cNvSpPr txBox="1"/>
          <p:nvPr/>
        </p:nvSpPr>
        <p:spPr>
          <a:xfrm>
            <a:off x="4155842" y="5845328"/>
            <a:ext cx="38809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ITS</a:t>
            </a:r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서비스에 대한 프로토타입 화면과 절차를</a:t>
            </a:r>
            <a:endParaRPr lang="en-US" altLang="ko-KR" sz="11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구현하여 시각화하고 기대효과를 도출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DC92582-A34D-4B03-B701-27BB063068C5}"/>
              </a:ext>
            </a:extLst>
          </p:cNvPr>
          <p:cNvSpPr/>
          <p:nvPr/>
        </p:nvSpPr>
        <p:spPr>
          <a:xfrm>
            <a:off x="-40040" y="-4748"/>
            <a:ext cx="374224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65B4C51-996B-452B-9E85-DB198601F8B5}"/>
              </a:ext>
            </a:extLst>
          </p:cNvPr>
          <p:cNvSpPr txBox="1"/>
          <p:nvPr/>
        </p:nvSpPr>
        <p:spPr>
          <a:xfrm>
            <a:off x="418609" y="67699"/>
            <a:ext cx="4108787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Contents </a:t>
            </a:r>
          </a:p>
        </p:txBody>
      </p:sp>
      <p:sp>
        <p:nvSpPr>
          <p:cNvPr id="37" name="직사각형 34">
            <a:extLst>
              <a:ext uri="{FF2B5EF4-FFF2-40B4-BE49-F238E27FC236}">
                <a16:creationId xmlns:a16="http://schemas.microsoft.com/office/drawing/2014/main" id="{4F46E55C-6CE7-40D2-B72A-5CCE04AACF97}"/>
              </a:ext>
            </a:extLst>
          </p:cNvPr>
          <p:cNvSpPr/>
          <p:nvPr/>
        </p:nvSpPr>
        <p:spPr>
          <a:xfrm>
            <a:off x="-39106" y="88168"/>
            <a:ext cx="528990" cy="482282"/>
          </a:xfrm>
          <a:custGeom>
            <a:avLst/>
            <a:gdLst>
              <a:gd name="connsiteX0" fmla="*/ 0 w 457715"/>
              <a:gd name="connsiteY0" fmla="*/ 0 h 482282"/>
              <a:gd name="connsiteX1" fmla="*/ 457715 w 457715"/>
              <a:gd name="connsiteY1" fmla="*/ 0 h 482282"/>
              <a:gd name="connsiteX2" fmla="*/ 457715 w 457715"/>
              <a:gd name="connsiteY2" fmla="*/ 482282 h 482282"/>
              <a:gd name="connsiteX3" fmla="*/ 0 w 457715"/>
              <a:gd name="connsiteY3" fmla="*/ 482282 h 482282"/>
              <a:gd name="connsiteX4" fmla="*/ 0 w 457715"/>
              <a:gd name="connsiteY4" fmla="*/ 0 h 482282"/>
              <a:gd name="connsiteX0" fmla="*/ 0 w 457715"/>
              <a:gd name="connsiteY0" fmla="*/ 0 h 482282"/>
              <a:gd name="connsiteX1" fmla="*/ 457715 w 457715"/>
              <a:gd name="connsiteY1" fmla="*/ 0 h 482282"/>
              <a:gd name="connsiteX2" fmla="*/ 387865 w 457715"/>
              <a:gd name="connsiteY2" fmla="*/ 480695 h 482282"/>
              <a:gd name="connsiteX3" fmla="*/ 0 w 457715"/>
              <a:gd name="connsiteY3" fmla="*/ 482282 h 482282"/>
              <a:gd name="connsiteX4" fmla="*/ 0 w 457715"/>
              <a:gd name="connsiteY4" fmla="*/ 0 h 482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715" h="482282">
                <a:moveTo>
                  <a:pt x="0" y="0"/>
                </a:moveTo>
                <a:lnTo>
                  <a:pt x="457715" y="0"/>
                </a:lnTo>
                <a:lnTo>
                  <a:pt x="387865" y="480695"/>
                </a:lnTo>
                <a:lnTo>
                  <a:pt x="0" y="482282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8" name="Picture 2">
            <a:extLst>
              <a:ext uri="{FF2B5EF4-FFF2-40B4-BE49-F238E27FC236}">
                <a16:creationId xmlns:a16="http://schemas.microsoft.com/office/drawing/2014/main" id="{8A67301E-ED1A-4ACB-BBF8-18D4D207FD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65" y="6417517"/>
            <a:ext cx="966068" cy="543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1214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A33107B7-D2C0-4478-8DEF-A419EC93A5D7}"/>
              </a:ext>
            </a:extLst>
          </p:cNvPr>
          <p:cNvSpPr txBox="1"/>
          <p:nvPr/>
        </p:nvSpPr>
        <p:spPr>
          <a:xfrm>
            <a:off x="455779" y="67699"/>
            <a:ext cx="4108787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Planning overview </a:t>
            </a:r>
          </a:p>
        </p:txBody>
      </p:sp>
      <p:sp>
        <p:nvSpPr>
          <p:cNvPr id="45" name="직사각형 34">
            <a:extLst>
              <a:ext uri="{FF2B5EF4-FFF2-40B4-BE49-F238E27FC236}">
                <a16:creationId xmlns:a16="http://schemas.microsoft.com/office/drawing/2014/main" id="{899A0B31-B7D0-4756-868D-4A73D517B1D0}"/>
              </a:ext>
            </a:extLst>
          </p:cNvPr>
          <p:cNvSpPr/>
          <p:nvPr/>
        </p:nvSpPr>
        <p:spPr>
          <a:xfrm>
            <a:off x="-1936" y="88168"/>
            <a:ext cx="528990" cy="482282"/>
          </a:xfrm>
          <a:custGeom>
            <a:avLst/>
            <a:gdLst>
              <a:gd name="connsiteX0" fmla="*/ 0 w 457715"/>
              <a:gd name="connsiteY0" fmla="*/ 0 h 482282"/>
              <a:gd name="connsiteX1" fmla="*/ 457715 w 457715"/>
              <a:gd name="connsiteY1" fmla="*/ 0 h 482282"/>
              <a:gd name="connsiteX2" fmla="*/ 457715 w 457715"/>
              <a:gd name="connsiteY2" fmla="*/ 482282 h 482282"/>
              <a:gd name="connsiteX3" fmla="*/ 0 w 457715"/>
              <a:gd name="connsiteY3" fmla="*/ 482282 h 482282"/>
              <a:gd name="connsiteX4" fmla="*/ 0 w 457715"/>
              <a:gd name="connsiteY4" fmla="*/ 0 h 482282"/>
              <a:gd name="connsiteX0" fmla="*/ 0 w 457715"/>
              <a:gd name="connsiteY0" fmla="*/ 0 h 482282"/>
              <a:gd name="connsiteX1" fmla="*/ 457715 w 457715"/>
              <a:gd name="connsiteY1" fmla="*/ 0 h 482282"/>
              <a:gd name="connsiteX2" fmla="*/ 387865 w 457715"/>
              <a:gd name="connsiteY2" fmla="*/ 480695 h 482282"/>
              <a:gd name="connsiteX3" fmla="*/ 0 w 457715"/>
              <a:gd name="connsiteY3" fmla="*/ 482282 h 482282"/>
              <a:gd name="connsiteX4" fmla="*/ 0 w 457715"/>
              <a:gd name="connsiteY4" fmla="*/ 0 h 482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715" h="482282">
                <a:moveTo>
                  <a:pt x="0" y="0"/>
                </a:moveTo>
                <a:lnTo>
                  <a:pt x="457715" y="0"/>
                </a:lnTo>
                <a:lnTo>
                  <a:pt x="387865" y="480695"/>
                </a:lnTo>
                <a:lnTo>
                  <a:pt x="0" y="482282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73A051B-381C-4719-B9AE-C088908071CB}"/>
              </a:ext>
            </a:extLst>
          </p:cNvPr>
          <p:cNvSpPr txBox="1"/>
          <p:nvPr/>
        </p:nvSpPr>
        <p:spPr>
          <a:xfrm>
            <a:off x="475016" y="566130"/>
            <a:ext cx="5174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기획 개요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4656104-4221-4AAF-BA7F-6167024524F5}"/>
              </a:ext>
            </a:extLst>
          </p:cNvPr>
          <p:cNvSpPr/>
          <p:nvPr/>
        </p:nvSpPr>
        <p:spPr>
          <a:xfrm>
            <a:off x="8861497" y="0"/>
            <a:ext cx="2572214" cy="6858000"/>
          </a:xfrm>
          <a:prstGeom prst="rect">
            <a:avLst/>
          </a:pr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-100000"/>
                      </a14:imgEffect>
                      <a14:imgEffect>
                        <a14:saturation sat="25000"/>
                      </a14:imgEffect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8076778-BF04-4F41-A279-6705DDC1484F}"/>
              </a:ext>
            </a:extLst>
          </p:cNvPr>
          <p:cNvSpPr/>
          <p:nvPr/>
        </p:nvSpPr>
        <p:spPr>
          <a:xfrm>
            <a:off x="8430319" y="1390185"/>
            <a:ext cx="951571" cy="3337932"/>
          </a:xfrm>
          <a:prstGeom prst="rect">
            <a:avLst/>
          </a:prstGeom>
          <a:solidFill>
            <a:srgbClr val="30AEAA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7ABCAC9-C530-437F-B265-082128289FDF}"/>
              </a:ext>
            </a:extLst>
          </p:cNvPr>
          <p:cNvSpPr/>
          <p:nvPr/>
        </p:nvSpPr>
        <p:spPr>
          <a:xfrm>
            <a:off x="8222164" y="0"/>
            <a:ext cx="416311" cy="28993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3C7A6F5-7C8C-418E-B8C5-E08255FFD0E6}"/>
              </a:ext>
            </a:extLst>
          </p:cNvPr>
          <p:cNvSpPr/>
          <p:nvPr/>
        </p:nvSpPr>
        <p:spPr>
          <a:xfrm>
            <a:off x="11247852" y="3612995"/>
            <a:ext cx="617036" cy="2891883"/>
          </a:xfrm>
          <a:prstGeom prst="rect">
            <a:avLst/>
          </a:prstGeom>
          <a:solidFill>
            <a:schemeClr val="bg2">
              <a:lumMod val="75000"/>
              <a:alpha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F02632-67B1-41FB-8A38-99A26E5E325C}"/>
              </a:ext>
            </a:extLst>
          </p:cNvPr>
          <p:cNvSpPr txBox="1"/>
          <p:nvPr/>
        </p:nvSpPr>
        <p:spPr>
          <a:xfrm>
            <a:off x="262559" y="1951672"/>
            <a:ext cx="7937303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기획 배경</a:t>
            </a:r>
            <a:endParaRPr lang="en-US" altLang="ko-KR" sz="2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ko-KR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지능형교통체계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(Intelligent Transportation Systems, ITS)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는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교통 흐름의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효율성 증대와 안전성 확보를 위해 첨단 정보통신기술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(ICT)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을 교통체계에 통합한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시스템이다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endParaRPr lang="en-US" altLang="ko-KR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특히 도심지역에서는 교통 혼잡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사고 위험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환경오염 등의 문제를</a:t>
            </a:r>
            <a:endParaRPr lang="en-US" altLang="ko-KR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해결하기 위해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ITS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의 역할이 더욱 중요하다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최근에는 다양한 교통 데이터를 기반으로 한 분석 및 예측 기술이 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ITS 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기획과 인프라 설계의 핵심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요소로</a:t>
            </a:r>
            <a:endParaRPr lang="en-US" altLang="ko-KR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부각되고 있다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FA8D10C0-B682-44E6-947D-3ED02262F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65" y="6417517"/>
            <a:ext cx="966068" cy="543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9724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1462FFA-3005-40F2-9FC3-8230EE0339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109" y="4141934"/>
            <a:ext cx="1959941" cy="139995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67932F1-2928-4534-9C1B-BC2E6D73EE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5050" y="4141932"/>
            <a:ext cx="1959943" cy="139995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08AF44B-E12C-4B19-BEA4-AD9C7365D9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4992" y="4141931"/>
            <a:ext cx="1959942" cy="139995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0933A5E-5AF4-4422-BDA5-7D5F28C7B57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4934" y="4141930"/>
            <a:ext cx="1959942" cy="1399958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A33107B7-D2C0-4478-8DEF-A419EC93A5D7}"/>
              </a:ext>
            </a:extLst>
          </p:cNvPr>
          <p:cNvSpPr txBox="1"/>
          <p:nvPr/>
        </p:nvSpPr>
        <p:spPr>
          <a:xfrm>
            <a:off x="455779" y="67699"/>
            <a:ext cx="4108787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Planning overview </a:t>
            </a:r>
          </a:p>
        </p:txBody>
      </p:sp>
      <p:sp>
        <p:nvSpPr>
          <p:cNvPr id="45" name="직사각형 34">
            <a:extLst>
              <a:ext uri="{FF2B5EF4-FFF2-40B4-BE49-F238E27FC236}">
                <a16:creationId xmlns:a16="http://schemas.microsoft.com/office/drawing/2014/main" id="{899A0B31-B7D0-4756-868D-4A73D517B1D0}"/>
              </a:ext>
            </a:extLst>
          </p:cNvPr>
          <p:cNvSpPr/>
          <p:nvPr/>
        </p:nvSpPr>
        <p:spPr>
          <a:xfrm>
            <a:off x="-1936" y="88168"/>
            <a:ext cx="528990" cy="482282"/>
          </a:xfrm>
          <a:custGeom>
            <a:avLst/>
            <a:gdLst>
              <a:gd name="connsiteX0" fmla="*/ 0 w 457715"/>
              <a:gd name="connsiteY0" fmla="*/ 0 h 482282"/>
              <a:gd name="connsiteX1" fmla="*/ 457715 w 457715"/>
              <a:gd name="connsiteY1" fmla="*/ 0 h 482282"/>
              <a:gd name="connsiteX2" fmla="*/ 457715 w 457715"/>
              <a:gd name="connsiteY2" fmla="*/ 482282 h 482282"/>
              <a:gd name="connsiteX3" fmla="*/ 0 w 457715"/>
              <a:gd name="connsiteY3" fmla="*/ 482282 h 482282"/>
              <a:gd name="connsiteX4" fmla="*/ 0 w 457715"/>
              <a:gd name="connsiteY4" fmla="*/ 0 h 482282"/>
              <a:gd name="connsiteX0" fmla="*/ 0 w 457715"/>
              <a:gd name="connsiteY0" fmla="*/ 0 h 482282"/>
              <a:gd name="connsiteX1" fmla="*/ 457715 w 457715"/>
              <a:gd name="connsiteY1" fmla="*/ 0 h 482282"/>
              <a:gd name="connsiteX2" fmla="*/ 387865 w 457715"/>
              <a:gd name="connsiteY2" fmla="*/ 480695 h 482282"/>
              <a:gd name="connsiteX3" fmla="*/ 0 w 457715"/>
              <a:gd name="connsiteY3" fmla="*/ 482282 h 482282"/>
              <a:gd name="connsiteX4" fmla="*/ 0 w 457715"/>
              <a:gd name="connsiteY4" fmla="*/ 0 h 482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715" h="482282">
                <a:moveTo>
                  <a:pt x="0" y="0"/>
                </a:moveTo>
                <a:lnTo>
                  <a:pt x="457715" y="0"/>
                </a:lnTo>
                <a:lnTo>
                  <a:pt x="387865" y="480695"/>
                </a:lnTo>
                <a:lnTo>
                  <a:pt x="0" y="482282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73A051B-381C-4719-B9AE-C088908071CB}"/>
              </a:ext>
            </a:extLst>
          </p:cNvPr>
          <p:cNvSpPr txBox="1"/>
          <p:nvPr/>
        </p:nvSpPr>
        <p:spPr>
          <a:xfrm>
            <a:off x="475016" y="566130"/>
            <a:ext cx="5174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기획 개요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4656104-4221-4AAF-BA7F-6167024524F5}"/>
              </a:ext>
            </a:extLst>
          </p:cNvPr>
          <p:cNvSpPr/>
          <p:nvPr/>
        </p:nvSpPr>
        <p:spPr>
          <a:xfrm>
            <a:off x="8861497" y="0"/>
            <a:ext cx="2572214" cy="6858000"/>
          </a:xfrm>
          <a:prstGeom prst="rect">
            <a:avLst/>
          </a:prstGeom>
          <a:blipFill dpi="0" rotWithShape="1"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sharpenSoften amount="-100000"/>
                      </a14:imgEffect>
                      <a14:imgEffect>
                        <a14:saturation sat="25000"/>
                      </a14:imgEffect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8076778-BF04-4F41-A279-6705DDC1484F}"/>
              </a:ext>
            </a:extLst>
          </p:cNvPr>
          <p:cNvSpPr/>
          <p:nvPr/>
        </p:nvSpPr>
        <p:spPr>
          <a:xfrm>
            <a:off x="8430319" y="1390185"/>
            <a:ext cx="951571" cy="3337932"/>
          </a:xfrm>
          <a:prstGeom prst="rect">
            <a:avLst/>
          </a:prstGeom>
          <a:solidFill>
            <a:srgbClr val="30AEAA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7ABCAC9-C530-437F-B265-082128289FDF}"/>
              </a:ext>
            </a:extLst>
          </p:cNvPr>
          <p:cNvSpPr/>
          <p:nvPr/>
        </p:nvSpPr>
        <p:spPr>
          <a:xfrm>
            <a:off x="8222164" y="0"/>
            <a:ext cx="416311" cy="28993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3C7A6F5-7C8C-418E-B8C5-E08255FFD0E6}"/>
              </a:ext>
            </a:extLst>
          </p:cNvPr>
          <p:cNvSpPr/>
          <p:nvPr/>
        </p:nvSpPr>
        <p:spPr>
          <a:xfrm>
            <a:off x="11247852" y="3612995"/>
            <a:ext cx="617036" cy="2891883"/>
          </a:xfrm>
          <a:prstGeom prst="rect">
            <a:avLst/>
          </a:prstGeom>
          <a:solidFill>
            <a:schemeClr val="bg2">
              <a:lumMod val="75000"/>
              <a:alpha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C176831-CD60-42BE-98AD-F29EF03C0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719" y="1449659"/>
            <a:ext cx="7798423" cy="2416097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기획의 필요성</a:t>
            </a:r>
            <a:endParaRPr lang="en-US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800" b="1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>
              <a:lnSpc>
                <a:spcPct val="110000"/>
              </a:lnSpc>
              <a:buFontTx/>
              <a:buChar char="-"/>
            </a:pPr>
            <a:r>
              <a:rPr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인구의</a:t>
            </a:r>
            <a:r>
              <a:rPr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 50% </a:t>
            </a:r>
            <a:r>
              <a:rPr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이상이</a:t>
            </a:r>
            <a:r>
              <a:rPr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 </a:t>
            </a:r>
            <a:r>
              <a:rPr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수도권에</a:t>
            </a:r>
            <a:r>
              <a:rPr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 </a:t>
            </a:r>
            <a:r>
              <a:rPr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집중되어</a:t>
            </a:r>
            <a:r>
              <a:rPr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 </a:t>
            </a:r>
            <a:r>
              <a:rPr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교통</a:t>
            </a:r>
            <a:r>
              <a:rPr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 </a:t>
            </a:r>
            <a:r>
              <a:rPr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혼잡</a:t>
            </a:r>
            <a:r>
              <a:rPr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 </a:t>
            </a:r>
            <a:r>
              <a:rPr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비용은</a:t>
            </a:r>
            <a:r>
              <a:rPr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 </a:t>
            </a:r>
            <a:r>
              <a:rPr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연간</a:t>
            </a:r>
            <a:r>
              <a:rPr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 38조 </a:t>
            </a:r>
            <a:r>
              <a:rPr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원</a:t>
            </a:r>
            <a:r>
              <a:rPr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에</a:t>
            </a:r>
            <a:r>
              <a:rPr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 </a:t>
            </a:r>
            <a:r>
              <a:rPr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달함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-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 </a:t>
            </a:r>
            <a:r>
              <a:rPr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대중교통과</a:t>
            </a:r>
            <a:r>
              <a:rPr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 </a:t>
            </a:r>
            <a:r>
              <a:rPr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공유</a:t>
            </a:r>
            <a:r>
              <a:rPr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 </a:t>
            </a:r>
            <a:r>
              <a:rPr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PM의</a:t>
            </a:r>
            <a:r>
              <a:rPr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 </a:t>
            </a:r>
            <a:r>
              <a:rPr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혼합</a:t>
            </a:r>
            <a:r>
              <a:rPr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 </a:t>
            </a:r>
            <a:r>
              <a:rPr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사용이</a:t>
            </a:r>
            <a:r>
              <a:rPr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 </a:t>
            </a:r>
            <a:r>
              <a:rPr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증가하며</a:t>
            </a:r>
            <a:r>
              <a:rPr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 </a:t>
            </a:r>
            <a:r>
              <a:rPr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통합된</a:t>
            </a:r>
            <a:r>
              <a:rPr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 </a:t>
            </a:r>
            <a:r>
              <a:rPr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교통</a:t>
            </a:r>
            <a:r>
              <a:rPr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 </a:t>
            </a:r>
            <a:r>
              <a:rPr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서비스</a:t>
            </a:r>
            <a:r>
              <a:rPr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 </a:t>
            </a:r>
            <a:r>
              <a:rPr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필요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-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교통사고와 배출가스로 인한 </a:t>
            </a:r>
            <a:r>
              <a:rPr lang="ko-KR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환경 문제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에</a:t>
            </a:r>
            <a:r>
              <a:rPr lang="ko-KR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선제적 대응이 요구됨</a:t>
            </a:r>
          </a:p>
          <a:p>
            <a:pPr marL="0" indent="0">
              <a:lnSpc>
                <a:spcPct val="110000"/>
              </a:lnSpc>
              <a:buNone/>
            </a:pPr>
            <a:r>
              <a:rPr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- </a:t>
            </a:r>
            <a:r>
              <a:rPr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실시간</a:t>
            </a:r>
            <a:r>
              <a:rPr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 </a:t>
            </a:r>
            <a:r>
              <a:rPr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데이터</a:t>
            </a:r>
            <a:r>
              <a:rPr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 </a:t>
            </a:r>
            <a:r>
              <a:rPr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수집률</a:t>
            </a:r>
            <a:r>
              <a:rPr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 95%, </a:t>
            </a:r>
            <a:r>
              <a:rPr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클라우드</a:t>
            </a:r>
            <a:r>
              <a:rPr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 </a:t>
            </a:r>
            <a:r>
              <a:rPr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전환율</a:t>
            </a:r>
            <a:r>
              <a:rPr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 80%로 ICT </a:t>
            </a:r>
            <a:r>
              <a:rPr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인프라</a:t>
            </a:r>
            <a:r>
              <a:rPr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 </a:t>
            </a:r>
            <a:r>
              <a:rPr sz="1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확대</a:t>
            </a:r>
            <a:r>
              <a:rPr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 중</a:t>
            </a:r>
            <a:endParaRPr sz="1600" b="1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DC9325A2-DE7A-4EEA-9E9E-0B7D910301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65" y="6417517"/>
            <a:ext cx="966068" cy="543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91A3AF8-2C60-452D-9097-63A9B9623C0B}"/>
              </a:ext>
            </a:extLst>
          </p:cNvPr>
          <p:cNvSpPr txBox="1"/>
          <p:nvPr/>
        </p:nvSpPr>
        <p:spPr>
          <a:xfrm>
            <a:off x="448171" y="5513404"/>
            <a:ext cx="526117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" dirty="0"/>
              <a:t>수도권 인구 비중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68E745-7FF9-4D93-A8F1-F02720DD4018}"/>
              </a:ext>
            </a:extLst>
          </p:cNvPr>
          <p:cNvSpPr txBox="1"/>
          <p:nvPr/>
        </p:nvSpPr>
        <p:spPr>
          <a:xfrm>
            <a:off x="850493" y="5523071"/>
            <a:ext cx="526117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" dirty="0"/>
              <a:t>도심 평균속도</a:t>
            </a:r>
            <a:r>
              <a:rPr lang="en-US" altLang="ko-KR" sz="300" dirty="0"/>
              <a:t>(km/h)</a:t>
            </a:r>
            <a:endParaRPr lang="ko-KR" altLang="en-US" sz="3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515D58-D6A9-47DE-B951-96C849312820}"/>
              </a:ext>
            </a:extLst>
          </p:cNvPr>
          <p:cNvSpPr txBox="1"/>
          <p:nvPr/>
        </p:nvSpPr>
        <p:spPr>
          <a:xfrm>
            <a:off x="872237" y="4072571"/>
            <a:ext cx="71526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"/>
              <a:t>도시화 및 교통량 증가</a:t>
            </a:r>
            <a:endParaRPr lang="ko-KR" altLang="en-US" sz="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08F813-9F30-40ED-9586-79624136FE2F}"/>
              </a:ext>
            </a:extLst>
          </p:cNvPr>
          <p:cNvSpPr txBox="1"/>
          <p:nvPr/>
        </p:nvSpPr>
        <p:spPr>
          <a:xfrm>
            <a:off x="3130153" y="4062764"/>
            <a:ext cx="925316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" dirty="0"/>
              <a:t>이동 교통수단 통합 필요성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3E3BF8-8C46-4C0F-A21B-E7FD5D43A31E}"/>
              </a:ext>
            </a:extLst>
          </p:cNvPr>
          <p:cNvSpPr txBox="1"/>
          <p:nvPr/>
        </p:nvSpPr>
        <p:spPr>
          <a:xfrm>
            <a:off x="2409665" y="5516119"/>
            <a:ext cx="526117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" dirty="0"/>
              <a:t>PM </a:t>
            </a:r>
            <a:r>
              <a:rPr lang="ko-KR" altLang="en-US" sz="300" dirty="0"/>
              <a:t>혼합 이용률 </a:t>
            </a:r>
            <a:r>
              <a:rPr lang="en-US" altLang="ko-KR" sz="300" dirty="0"/>
              <a:t>(%)</a:t>
            </a:r>
            <a:endParaRPr lang="ko-KR" altLang="en-US" sz="3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588E81-9BCC-48EC-BEF7-16743FECD591}"/>
              </a:ext>
            </a:extLst>
          </p:cNvPr>
          <p:cNvSpPr txBox="1"/>
          <p:nvPr/>
        </p:nvSpPr>
        <p:spPr>
          <a:xfrm>
            <a:off x="2878234" y="5508198"/>
            <a:ext cx="526117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" dirty="0" err="1"/>
              <a:t>공유킥보드</a:t>
            </a:r>
            <a:r>
              <a:rPr lang="en-US" altLang="ko-KR" sz="300" dirty="0"/>
              <a:t>(</a:t>
            </a:r>
            <a:r>
              <a:rPr lang="ko-KR" altLang="en-US" sz="300" dirty="0"/>
              <a:t>만대</a:t>
            </a:r>
            <a:r>
              <a:rPr lang="en-US" altLang="ko-KR" sz="300" dirty="0"/>
              <a:t>)</a:t>
            </a:r>
            <a:endParaRPr lang="ko-KR" altLang="en-US" sz="3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5E4664-1082-454B-8151-791CC51361F4}"/>
              </a:ext>
            </a:extLst>
          </p:cNvPr>
          <p:cNvSpPr txBox="1"/>
          <p:nvPr/>
        </p:nvSpPr>
        <p:spPr>
          <a:xfrm>
            <a:off x="1330657" y="5529205"/>
            <a:ext cx="526117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" dirty="0"/>
              <a:t>평균 통근시간</a:t>
            </a:r>
            <a:r>
              <a:rPr lang="en-US" altLang="ko-KR" sz="300" dirty="0"/>
              <a:t>(</a:t>
            </a:r>
            <a:r>
              <a:rPr lang="ko-KR" altLang="en-US" sz="300" dirty="0"/>
              <a:t>분</a:t>
            </a:r>
            <a:r>
              <a:rPr lang="en-US" altLang="ko-KR" sz="300" dirty="0"/>
              <a:t>)</a:t>
            </a:r>
            <a:endParaRPr lang="ko-KR" altLang="en-US" sz="3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61545E-0C61-4C8B-9ECB-C04973A2B9B4}"/>
              </a:ext>
            </a:extLst>
          </p:cNvPr>
          <p:cNvSpPr txBox="1"/>
          <p:nvPr/>
        </p:nvSpPr>
        <p:spPr>
          <a:xfrm>
            <a:off x="1758146" y="5535527"/>
            <a:ext cx="526117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" dirty="0"/>
              <a:t>연간 혼잡비용</a:t>
            </a:r>
            <a:r>
              <a:rPr lang="en-US" altLang="ko-KR" sz="300" dirty="0"/>
              <a:t>(</a:t>
            </a:r>
            <a:r>
              <a:rPr lang="ko-KR" altLang="en-US" sz="300" dirty="0"/>
              <a:t>조 원</a:t>
            </a:r>
            <a:r>
              <a:rPr lang="en-US" altLang="ko-KR" sz="300" dirty="0"/>
              <a:t>)</a:t>
            </a:r>
            <a:endParaRPr lang="ko-KR" altLang="en-US" sz="3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A32B65-3CA8-429C-8641-50DAF3C035BF}"/>
              </a:ext>
            </a:extLst>
          </p:cNvPr>
          <p:cNvSpPr txBox="1"/>
          <p:nvPr/>
        </p:nvSpPr>
        <p:spPr>
          <a:xfrm>
            <a:off x="3325312" y="5505350"/>
            <a:ext cx="526117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" dirty="0" err="1"/>
              <a:t>카셰어링</a:t>
            </a:r>
            <a:r>
              <a:rPr lang="en-US" altLang="ko-KR" sz="300" dirty="0"/>
              <a:t>(</a:t>
            </a:r>
            <a:r>
              <a:rPr lang="ko-KR" altLang="en-US" sz="300" dirty="0"/>
              <a:t>만명</a:t>
            </a:r>
            <a:r>
              <a:rPr lang="en-US" altLang="ko-KR" sz="300" dirty="0"/>
              <a:t>)</a:t>
            </a:r>
            <a:endParaRPr lang="ko-KR" altLang="en-US" sz="3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08B3EFC-1E4E-419F-ACEE-538ACE8792CD}"/>
              </a:ext>
            </a:extLst>
          </p:cNvPr>
          <p:cNvSpPr txBox="1"/>
          <p:nvPr/>
        </p:nvSpPr>
        <p:spPr>
          <a:xfrm>
            <a:off x="3731868" y="5501694"/>
            <a:ext cx="526117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" dirty="0" err="1"/>
              <a:t>MaaS</a:t>
            </a:r>
            <a:r>
              <a:rPr lang="en-US" altLang="ko-KR" sz="300" dirty="0"/>
              <a:t> </a:t>
            </a:r>
            <a:r>
              <a:rPr lang="ko-KR" altLang="en-US" sz="300" dirty="0"/>
              <a:t>이용률</a:t>
            </a:r>
            <a:r>
              <a:rPr lang="en-US" altLang="ko-KR" sz="300" dirty="0"/>
              <a:t>(%)</a:t>
            </a:r>
            <a:endParaRPr lang="ko-KR" altLang="en-US" sz="3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AF33F5F-C158-4556-9153-5EF87E5925F9}"/>
              </a:ext>
            </a:extLst>
          </p:cNvPr>
          <p:cNvSpPr txBox="1"/>
          <p:nvPr/>
        </p:nvSpPr>
        <p:spPr>
          <a:xfrm>
            <a:off x="4432624" y="5498546"/>
            <a:ext cx="526117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" dirty="0"/>
              <a:t>사고건수</a:t>
            </a:r>
            <a:r>
              <a:rPr lang="en-US" altLang="ko-KR" sz="300" dirty="0"/>
              <a:t>(</a:t>
            </a:r>
            <a:r>
              <a:rPr lang="ko-KR" altLang="en-US" sz="300" dirty="0"/>
              <a:t>만</a:t>
            </a:r>
            <a:r>
              <a:rPr lang="en-US" altLang="ko-KR" sz="300" dirty="0"/>
              <a:t>)</a:t>
            </a:r>
            <a:endParaRPr lang="ko-KR" altLang="en-US" sz="3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9A28598-6E34-4205-B8CA-8E63220D5490}"/>
              </a:ext>
            </a:extLst>
          </p:cNvPr>
          <p:cNvSpPr txBox="1"/>
          <p:nvPr/>
        </p:nvSpPr>
        <p:spPr>
          <a:xfrm>
            <a:off x="4780297" y="5498746"/>
            <a:ext cx="593795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" dirty="0"/>
              <a:t>예방가능 사고비율</a:t>
            </a:r>
            <a:r>
              <a:rPr lang="en-US" altLang="ko-KR" sz="300" dirty="0"/>
              <a:t>(%)</a:t>
            </a:r>
            <a:endParaRPr lang="ko-KR" altLang="en-US" sz="3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E62CF4-01AB-48E1-AF79-59F3ABDCE013}"/>
              </a:ext>
            </a:extLst>
          </p:cNvPr>
          <p:cNvSpPr txBox="1"/>
          <p:nvPr/>
        </p:nvSpPr>
        <p:spPr>
          <a:xfrm>
            <a:off x="5235921" y="5498846"/>
            <a:ext cx="526117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" dirty="0"/>
              <a:t>미세먼지 기여율</a:t>
            </a:r>
            <a:r>
              <a:rPr lang="en-US" altLang="ko-KR" sz="300" dirty="0"/>
              <a:t>(%)</a:t>
            </a:r>
            <a:endParaRPr lang="ko-KR" altLang="en-US" sz="3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65F2EF-057E-4CC2-8886-7DCEA8B4099F}"/>
              </a:ext>
            </a:extLst>
          </p:cNvPr>
          <p:cNvSpPr txBox="1"/>
          <p:nvPr/>
        </p:nvSpPr>
        <p:spPr>
          <a:xfrm>
            <a:off x="5682774" y="5495917"/>
            <a:ext cx="526117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" dirty="0"/>
              <a:t>온실가스 비중</a:t>
            </a:r>
            <a:r>
              <a:rPr lang="en-US" altLang="ko-KR" sz="300" dirty="0"/>
              <a:t>(%)</a:t>
            </a:r>
            <a:endParaRPr lang="ko-KR" altLang="en-US" sz="3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9FC5165-556C-4651-9B84-AC6926F4B27A}"/>
              </a:ext>
            </a:extLst>
          </p:cNvPr>
          <p:cNvSpPr txBox="1"/>
          <p:nvPr/>
        </p:nvSpPr>
        <p:spPr>
          <a:xfrm>
            <a:off x="6348886" y="5495916"/>
            <a:ext cx="526117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" dirty="0"/>
              <a:t>데이터 </a:t>
            </a:r>
            <a:r>
              <a:rPr lang="ko-KR" altLang="en-US" sz="300" dirty="0" err="1"/>
              <a:t>수집률</a:t>
            </a:r>
            <a:r>
              <a:rPr lang="en-US" altLang="ko-KR" sz="300" dirty="0"/>
              <a:t>(%)</a:t>
            </a:r>
            <a:endParaRPr lang="ko-KR" altLang="en-US" sz="3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2C24556-7795-418B-BF27-2566F5E1CB3A}"/>
              </a:ext>
            </a:extLst>
          </p:cNvPr>
          <p:cNvSpPr txBox="1"/>
          <p:nvPr/>
        </p:nvSpPr>
        <p:spPr>
          <a:xfrm>
            <a:off x="6796106" y="5496032"/>
            <a:ext cx="526117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" dirty="0"/>
              <a:t>클라우드 </a:t>
            </a:r>
            <a:r>
              <a:rPr lang="ko-KR" altLang="en-US" sz="300" dirty="0" err="1"/>
              <a:t>전환율</a:t>
            </a:r>
            <a:r>
              <a:rPr lang="en-US" altLang="ko-KR" sz="300" dirty="0"/>
              <a:t>(%)</a:t>
            </a:r>
            <a:endParaRPr lang="ko-KR" altLang="en-US" sz="3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FEBAABD-0715-4C37-A70F-A23C164DD649}"/>
              </a:ext>
            </a:extLst>
          </p:cNvPr>
          <p:cNvSpPr txBox="1"/>
          <p:nvPr/>
        </p:nvSpPr>
        <p:spPr>
          <a:xfrm>
            <a:off x="7302325" y="5495916"/>
            <a:ext cx="526117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" dirty="0"/>
              <a:t>정책 건수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E0B0A55-9ED2-4528-BBF1-36AA2DCB1467}"/>
              </a:ext>
            </a:extLst>
          </p:cNvPr>
          <p:cNvSpPr txBox="1"/>
          <p:nvPr/>
        </p:nvSpPr>
        <p:spPr>
          <a:xfrm>
            <a:off x="7611347" y="5495916"/>
            <a:ext cx="582266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" dirty="0"/>
              <a:t>신호대기시간 감소율</a:t>
            </a:r>
            <a:r>
              <a:rPr lang="en-US" altLang="ko-KR" sz="300" dirty="0"/>
              <a:t>(%)</a:t>
            </a:r>
            <a:endParaRPr lang="ko-KR" altLang="en-US" sz="3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6FD0B04-5645-4541-81B2-42BC4133D988}"/>
              </a:ext>
            </a:extLst>
          </p:cNvPr>
          <p:cNvSpPr txBox="1"/>
          <p:nvPr/>
        </p:nvSpPr>
        <p:spPr>
          <a:xfrm>
            <a:off x="5012115" y="4064785"/>
            <a:ext cx="749130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" dirty="0"/>
              <a:t>교통사고 및 환경 문제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A6FC51D-C90A-4AE4-AC29-17BAFD7130B9}"/>
              </a:ext>
            </a:extLst>
          </p:cNvPr>
          <p:cNvSpPr/>
          <p:nvPr/>
        </p:nvSpPr>
        <p:spPr>
          <a:xfrm>
            <a:off x="518099" y="5347858"/>
            <a:ext cx="7618368" cy="1674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1385795-DEDF-40F3-9F3F-50C5B04A0658}"/>
              </a:ext>
            </a:extLst>
          </p:cNvPr>
          <p:cNvSpPr txBox="1"/>
          <p:nvPr/>
        </p:nvSpPr>
        <p:spPr>
          <a:xfrm>
            <a:off x="6816637" y="4056658"/>
            <a:ext cx="92531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" dirty="0"/>
              <a:t>데이터 기반 정책 및 </a:t>
            </a:r>
            <a:r>
              <a:rPr lang="en-US" altLang="ko-KR" sz="400" dirty="0"/>
              <a:t>ICT </a:t>
            </a:r>
            <a:r>
              <a:rPr lang="ko-KR" altLang="en-US" sz="400" dirty="0"/>
              <a:t>인프라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11673D9-046C-4DE4-868C-7223B062DC88}"/>
              </a:ext>
            </a:extLst>
          </p:cNvPr>
          <p:cNvSpPr/>
          <p:nvPr/>
        </p:nvSpPr>
        <p:spPr>
          <a:xfrm>
            <a:off x="1090290" y="4184253"/>
            <a:ext cx="6725075" cy="832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766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5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타원 5">
            <a:extLst>
              <a:ext uri="{FF2B5EF4-FFF2-40B4-BE49-F238E27FC236}">
                <a16:creationId xmlns:a16="http://schemas.microsoft.com/office/drawing/2014/main" id="{E51D94DE-24D7-410F-93A1-918CC2607ACE}"/>
              </a:ext>
            </a:extLst>
          </p:cNvPr>
          <p:cNvSpPr/>
          <p:nvPr/>
        </p:nvSpPr>
        <p:spPr>
          <a:xfrm>
            <a:off x="1626930" y="1258227"/>
            <a:ext cx="2698750" cy="2698750"/>
          </a:xfrm>
          <a:prstGeom prst="ellipse">
            <a:avLst/>
          </a:prstGeom>
          <a:noFill/>
          <a:ln w="762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432243-8169-4495-831F-EFCCBDC558FD}"/>
              </a:ext>
            </a:extLst>
          </p:cNvPr>
          <p:cNvSpPr txBox="1"/>
          <p:nvPr/>
        </p:nvSpPr>
        <p:spPr>
          <a:xfrm>
            <a:off x="1957130" y="2678692"/>
            <a:ext cx="20383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i="0" u="none" strike="noStrike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제시된 </a:t>
            </a:r>
            <a:r>
              <a:rPr lang="en-US" altLang="ko-KR" sz="1200" b="1" i="0" u="none" strike="noStrike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RFP </a:t>
            </a:r>
            <a:r>
              <a:rPr lang="ko-KR" altLang="en-US" sz="1200" b="1" i="0" u="none" strike="noStrike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기반으로</a:t>
            </a:r>
            <a:endParaRPr lang="en-US" altLang="ko-KR" sz="1200" b="1" i="0" u="none" strike="noStrike" baseline="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  <a:p>
            <a:pPr algn="ctr"/>
            <a:r>
              <a:rPr lang="ko-KR" altLang="en-US" sz="1200" b="1" i="0" u="none" strike="noStrike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서비스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</a:t>
            </a:r>
            <a:r>
              <a:rPr lang="ko-KR" altLang="en-US" sz="1200" b="1" i="0" u="none" strike="noStrike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요구 파악</a:t>
            </a:r>
            <a:r>
              <a:rPr lang="en-US" altLang="ko-KR" sz="1200" b="1" i="0" u="none" strike="noStrike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, </a:t>
            </a:r>
            <a:r>
              <a:rPr lang="ko-KR" altLang="en-US" sz="1200" b="1" i="0" u="none" strike="noStrike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사용자 흐름</a:t>
            </a:r>
            <a:r>
              <a:rPr lang="en-US" altLang="ko-KR" sz="1200" b="1" i="0" u="none" strike="noStrike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, </a:t>
            </a:r>
            <a:r>
              <a:rPr lang="ko-KR" altLang="en-US" sz="1200" b="1" i="0" u="none" strike="noStrike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기능 그룹</a:t>
            </a:r>
            <a:r>
              <a:rPr lang="en-US" altLang="ko-KR" sz="1200" b="1" i="0" u="none" strike="noStrike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, </a:t>
            </a:r>
            <a:r>
              <a:rPr lang="ko-KR" altLang="en-US" sz="1200" b="1" i="0" u="none" strike="noStrike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기술 요건 등 도출하여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</a:t>
            </a:r>
            <a:r>
              <a:rPr lang="ko-KR" altLang="en-US" sz="1200" b="1" i="0" u="none" strike="noStrike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목표 시스템 작성</a:t>
            </a:r>
            <a:endParaRPr lang="ko-KR" altLang="en-US" sz="1200" b="1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FEC8BA-3F15-4326-AA21-558BEFC6BAAD}"/>
              </a:ext>
            </a:extLst>
          </p:cNvPr>
          <p:cNvSpPr txBox="1"/>
          <p:nvPr/>
        </p:nvSpPr>
        <p:spPr>
          <a:xfrm>
            <a:off x="2031744" y="1733472"/>
            <a:ext cx="18891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목표 시스템 구성도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A1FFBF-7D54-40EF-94E9-2037E90A65D4}"/>
              </a:ext>
            </a:extLst>
          </p:cNvPr>
          <p:cNvSpPr txBox="1"/>
          <p:nvPr/>
        </p:nvSpPr>
        <p:spPr>
          <a:xfrm>
            <a:off x="5857776" y="2681948"/>
            <a:ext cx="22507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클라우드 기반의 교통 데이터 수집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, 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처리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, 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분석을 위한 유연하고 확장 가능한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하드웨어</a:t>
            </a:r>
            <a:endParaRPr lang="en-US" altLang="ko-KR" sz="1200" b="1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  <a:p>
            <a:pPr algn="ctr"/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구성도 작성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B28299F-9523-4AE5-ADF1-52083B357F96}"/>
              </a:ext>
            </a:extLst>
          </p:cNvPr>
          <p:cNvSpPr txBox="1"/>
          <p:nvPr/>
        </p:nvSpPr>
        <p:spPr>
          <a:xfrm>
            <a:off x="6038594" y="1733472"/>
            <a:ext cx="18891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하드웨어</a:t>
            </a:r>
            <a:endParaRPr lang="en-US" altLang="ko-KR" sz="2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구성도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6131A8C-C8F5-425E-852E-F6FCC62FB7D9}"/>
              </a:ext>
            </a:extLst>
          </p:cNvPr>
          <p:cNvSpPr txBox="1"/>
          <p:nvPr/>
        </p:nvSpPr>
        <p:spPr>
          <a:xfrm>
            <a:off x="3905117" y="5064364"/>
            <a:ext cx="21908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클라우드 기반의 교통 데이터 수집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, 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처리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, 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분석을 위한 유연하고 확장 가능한 소프트웨어 구성도 작성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BBEB94-8CE7-4116-B7C8-79494B00BE00}"/>
              </a:ext>
            </a:extLst>
          </p:cNvPr>
          <p:cNvSpPr txBox="1"/>
          <p:nvPr/>
        </p:nvSpPr>
        <p:spPr>
          <a:xfrm>
            <a:off x="4070094" y="4127428"/>
            <a:ext cx="18891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소프트웨어</a:t>
            </a:r>
            <a:endParaRPr lang="en-US" altLang="ko-KR" sz="2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구성도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0911835-A354-41DA-AD06-87EA20ED31F0}"/>
              </a:ext>
            </a:extLst>
          </p:cNvPr>
          <p:cNvSpPr txBox="1"/>
          <p:nvPr/>
        </p:nvSpPr>
        <p:spPr>
          <a:xfrm>
            <a:off x="7836654" y="5072648"/>
            <a:ext cx="22507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i="0" u="none" strike="noStrike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클라우드 기반의 교통 데이터 수집</a:t>
            </a:r>
            <a:r>
              <a:rPr lang="en-US" altLang="ko-KR" sz="1200" b="1" i="0" u="none" strike="noStrike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, </a:t>
            </a:r>
            <a:r>
              <a:rPr lang="ko-KR" altLang="en-US" sz="1200" b="1" i="0" u="none" strike="noStrike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처리</a:t>
            </a:r>
            <a:r>
              <a:rPr lang="en-US" altLang="ko-KR" sz="1200" b="1" i="0" u="none" strike="noStrike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, </a:t>
            </a:r>
            <a:r>
              <a:rPr lang="ko-KR" altLang="en-US" sz="1200" b="1" i="0" u="none" strike="noStrike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분석을 위한 유연하고 확장 가능한 인프라 설계</a:t>
            </a:r>
            <a:endParaRPr lang="ko-KR" altLang="en-US" sz="1200" b="1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E364382-425B-4741-A2AE-7AB7ACBE124A}"/>
              </a:ext>
            </a:extLst>
          </p:cNvPr>
          <p:cNvSpPr txBox="1"/>
          <p:nvPr/>
        </p:nvSpPr>
        <p:spPr>
          <a:xfrm>
            <a:off x="8017472" y="4127428"/>
            <a:ext cx="18891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통합</a:t>
            </a:r>
            <a:endParaRPr lang="en-US" altLang="ko-KR" sz="2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구성도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B9D19DA6-5422-42CC-ABA8-563244FEF44E}"/>
              </a:ext>
            </a:extLst>
          </p:cNvPr>
          <p:cNvSpPr/>
          <p:nvPr/>
        </p:nvSpPr>
        <p:spPr>
          <a:xfrm>
            <a:off x="8060651" y="4958425"/>
            <a:ext cx="1802765" cy="91531"/>
          </a:xfrm>
          <a:prstGeom prst="roundRect">
            <a:avLst>
              <a:gd name="adj" fmla="val 50000"/>
            </a:avLst>
          </a:prstGeom>
          <a:solidFill>
            <a:srgbClr val="30AE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0D66BA5E-5713-482A-AC1E-881DB2133831}"/>
              </a:ext>
            </a:extLst>
          </p:cNvPr>
          <p:cNvSpPr/>
          <p:nvPr/>
        </p:nvSpPr>
        <p:spPr>
          <a:xfrm>
            <a:off x="4113272" y="4965549"/>
            <a:ext cx="1802765" cy="91531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101CA5ED-1C73-4CC9-A4EC-23945963DFC7}"/>
              </a:ext>
            </a:extLst>
          </p:cNvPr>
          <p:cNvSpPr/>
          <p:nvPr/>
        </p:nvSpPr>
        <p:spPr>
          <a:xfrm>
            <a:off x="6081772" y="2561838"/>
            <a:ext cx="1802765" cy="91531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FDD91ABF-0DFF-4137-A55D-7C47B5769D8C}"/>
              </a:ext>
            </a:extLst>
          </p:cNvPr>
          <p:cNvSpPr/>
          <p:nvPr/>
        </p:nvSpPr>
        <p:spPr>
          <a:xfrm>
            <a:off x="2074923" y="2561837"/>
            <a:ext cx="1802765" cy="91531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546BF88F-C675-4350-A929-201FF8F32768}"/>
              </a:ext>
            </a:extLst>
          </p:cNvPr>
          <p:cNvSpPr/>
          <p:nvPr/>
        </p:nvSpPr>
        <p:spPr>
          <a:xfrm>
            <a:off x="5633779" y="1258227"/>
            <a:ext cx="2698750" cy="2698750"/>
          </a:xfrm>
          <a:prstGeom prst="ellipse">
            <a:avLst/>
          </a:prstGeom>
          <a:noFill/>
          <a:ln w="762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6DE3FCCE-8218-4EF5-B04A-861D650A8423}"/>
              </a:ext>
            </a:extLst>
          </p:cNvPr>
          <p:cNvSpPr/>
          <p:nvPr/>
        </p:nvSpPr>
        <p:spPr>
          <a:xfrm>
            <a:off x="3665279" y="3661939"/>
            <a:ext cx="2698750" cy="2698750"/>
          </a:xfrm>
          <a:prstGeom prst="ellipse">
            <a:avLst/>
          </a:prstGeom>
          <a:noFill/>
          <a:ln w="762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C9337F5F-4015-426E-A8D9-4D98C73EF933}"/>
              </a:ext>
            </a:extLst>
          </p:cNvPr>
          <p:cNvSpPr/>
          <p:nvPr/>
        </p:nvSpPr>
        <p:spPr>
          <a:xfrm>
            <a:off x="7612658" y="3661939"/>
            <a:ext cx="2698750" cy="2698750"/>
          </a:xfrm>
          <a:prstGeom prst="ellipse">
            <a:avLst/>
          </a:prstGeom>
          <a:noFill/>
          <a:ln w="76200">
            <a:solidFill>
              <a:srgbClr val="30AE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33107B7-D2C0-4478-8DEF-A419EC93A5D7}"/>
              </a:ext>
            </a:extLst>
          </p:cNvPr>
          <p:cNvSpPr txBox="1"/>
          <p:nvPr/>
        </p:nvSpPr>
        <p:spPr>
          <a:xfrm>
            <a:off x="455779" y="67699"/>
            <a:ext cx="4108787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Configuration diagram </a:t>
            </a:r>
          </a:p>
        </p:txBody>
      </p:sp>
      <p:sp>
        <p:nvSpPr>
          <p:cNvPr id="45" name="직사각형 34">
            <a:extLst>
              <a:ext uri="{FF2B5EF4-FFF2-40B4-BE49-F238E27FC236}">
                <a16:creationId xmlns:a16="http://schemas.microsoft.com/office/drawing/2014/main" id="{899A0B31-B7D0-4756-868D-4A73D517B1D0}"/>
              </a:ext>
            </a:extLst>
          </p:cNvPr>
          <p:cNvSpPr/>
          <p:nvPr/>
        </p:nvSpPr>
        <p:spPr>
          <a:xfrm>
            <a:off x="-1936" y="88168"/>
            <a:ext cx="528990" cy="482282"/>
          </a:xfrm>
          <a:custGeom>
            <a:avLst/>
            <a:gdLst>
              <a:gd name="connsiteX0" fmla="*/ 0 w 457715"/>
              <a:gd name="connsiteY0" fmla="*/ 0 h 482282"/>
              <a:gd name="connsiteX1" fmla="*/ 457715 w 457715"/>
              <a:gd name="connsiteY1" fmla="*/ 0 h 482282"/>
              <a:gd name="connsiteX2" fmla="*/ 457715 w 457715"/>
              <a:gd name="connsiteY2" fmla="*/ 482282 h 482282"/>
              <a:gd name="connsiteX3" fmla="*/ 0 w 457715"/>
              <a:gd name="connsiteY3" fmla="*/ 482282 h 482282"/>
              <a:gd name="connsiteX4" fmla="*/ 0 w 457715"/>
              <a:gd name="connsiteY4" fmla="*/ 0 h 482282"/>
              <a:gd name="connsiteX0" fmla="*/ 0 w 457715"/>
              <a:gd name="connsiteY0" fmla="*/ 0 h 482282"/>
              <a:gd name="connsiteX1" fmla="*/ 457715 w 457715"/>
              <a:gd name="connsiteY1" fmla="*/ 0 h 482282"/>
              <a:gd name="connsiteX2" fmla="*/ 387865 w 457715"/>
              <a:gd name="connsiteY2" fmla="*/ 480695 h 482282"/>
              <a:gd name="connsiteX3" fmla="*/ 0 w 457715"/>
              <a:gd name="connsiteY3" fmla="*/ 482282 h 482282"/>
              <a:gd name="connsiteX4" fmla="*/ 0 w 457715"/>
              <a:gd name="connsiteY4" fmla="*/ 0 h 482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715" h="482282">
                <a:moveTo>
                  <a:pt x="0" y="0"/>
                </a:moveTo>
                <a:lnTo>
                  <a:pt x="457715" y="0"/>
                </a:lnTo>
                <a:lnTo>
                  <a:pt x="387865" y="480695"/>
                </a:lnTo>
                <a:lnTo>
                  <a:pt x="0" y="482282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73A051B-381C-4719-B9AE-C088908071CB}"/>
              </a:ext>
            </a:extLst>
          </p:cNvPr>
          <p:cNvSpPr txBox="1"/>
          <p:nvPr/>
        </p:nvSpPr>
        <p:spPr>
          <a:xfrm>
            <a:off x="475016" y="566130"/>
            <a:ext cx="5174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구성도의 목표 설정과 구성을 확립하여 구성도를 제안</a:t>
            </a:r>
          </a:p>
        </p:txBody>
      </p:sp>
      <p:pic>
        <p:nvPicPr>
          <p:cNvPr id="50" name="Picture 2">
            <a:extLst>
              <a:ext uri="{FF2B5EF4-FFF2-40B4-BE49-F238E27FC236}">
                <a16:creationId xmlns:a16="http://schemas.microsoft.com/office/drawing/2014/main" id="{B32CB1C9-A8E7-4E38-B534-1248EEA5E1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65" y="6417517"/>
            <a:ext cx="966068" cy="543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0181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25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A33107B7-D2C0-4478-8DEF-A419EC93A5D7}"/>
              </a:ext>
            </a:extLst>
          </p:cNvPr>
          <p:cNvSpPr txBox="1"/>
          <p:nvPr/>
        </p:nvSpPr>
        <p:spPr>
          <a:xfrm>
            <a:off x="455779" y="67699"/>
            <a:ext cx="4108787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Configuration diagram </a:t>
            </a:r>
          </a:p>
        </p:txBody>
      </p:sp>
      <p:sp>
        <p:nvSpPr>
          <p:cNvPr id="45" name="직사각형 34">
            <a:extLst>
              <a:ext uri="{FF2B5EF4-FFF2-40B4-BE49-F238E27FC236}">
                <a16:creationId xmlns:a16="http://schemas.microsoft.com/office/drawing/2014/main" id="{899A0B31-B7D0-4756-868D-4A73D517B1D0}"/>
              </a:ext>
            </a:extLst>
          </p:cNvPr>
          <p:cNvSpPr/>
          <p:nvPr/>
        </p:nvSpPr>
        <p:spPr>
          <a:xfrm>
            <a:off x="-1936" y="88168"/>
            <a:ext cx="528990" cy="482282"/>
          </a:xfrm>
          <a:custGeom>
            <a:avLst/>
            <a:gdLst>
              <a:gd name="connsiteX0" fmla="*/ 0 w 457715"/>
              <a:gd name="connsiteY0" fmla="*/ 0 h 482282"/>
              <a:gd name="connsiteX1" fmla="*/ 457715 w 457715"/>
              <a:gd name="connsiteY1" fmla="*/ 0 h 482282"/>
              <a:gd name="connsiteX2" fmla="*/ 457715 w 457715"/>
              <a:gd name="connsiteY2" fmla="*/ 482282 h 482282"/>
              <a:gd name="connsiteX3" fmla="*/ 0 w 457715"/>
              <a:gd name="connsiteY3" fmla="*/ 482282 h 482282"/>
              <a:gd name="connsiteX4" fmla="*/ 0 w 457715"/>
              <a:gd name="connsiteY4" fmla="*/ 0 h 482282"/>
              <a:gd name="connsiteX0" fmla="*/ 0 w 457715"/>
              <a:gd name="connsiteY0" fmla="*/ 0 h 482282"/>
              <a:gd name="connsiteX1" fmla="*/ 457715 w 457715"/>
              <a:gd name="connsiteY1" fmla="*/ 0 h 482282"/>
              <a:gd name="connsiteX2" fmla="*/ 387865 w 457715"/>
              <a:gd name="connsiteY2" fmla="*/ 480695 h 482282"/>
              <a:gd name="connsiteX3" fmla="*/ 0 w 457715"/>
              <a:gd name="connsiteY3" fmla="*/ 482282 h 482282"/>
              <a:gd name="connsiteX4" fmla="*/ 0 w 457715"/>
              <a:gd name="connsiteY4" fmla="*/ 0 h 482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715" h="482282">
                <a:moveTo>
                  <a:pt x="0" y="0"/>
                </a:moveTo>
                <a:lnTo>
                  <a:pt x="457715" y="0"/>
                </a:lnTo>
                <a:lnTo>
                  <a:pt x="387865" y="480695"/>
                </a:lnTo>
                <a:lnTo>
                  <a:pt x="0" y="482282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73A051B-381C-4719-B9AE-C088908071CB}"/>
              </a:ext>
            </a:extLst>
          </p:cNvPr>
          <p:cNvSpPr txBox="1"/>
          <p:nvPr/>
        </p:nvSpPr>
        <p:spPr>
          <a:xfrm>
            <a:off x="475016" y="566130"/>
            <a:ext cx="5174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목표 시스템 구성도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7FC3C47-AB40-455D-8C0E-BC170E9CB428}"/>
              </a:ext>
            </a:extLst>
          </p:cNvPr>
          <p:cNvSpPr/>
          <p:nvPr/>
        </p:nvSpPr>
        <p:spPr>
          <a:xfrm>
            <a:off x="8267700" y="1"/>
            <a:ext cx="39243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50800" dist="63500" dir="10800000" algn="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3" name="Picture 2">
            <a:extLst>
              <a:ext uri="{FF2B5EF4-FFF2-40B4-BE49-F238E27FC236}">
                <a16:creationId xmlns:a16="http://schemas.microsoft.com/office/drawing/2014/main" id="{4F08CDDC-B877-4890-96B3-BE54389C08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65" y="6417517"/>
            <a:ext cx="966068" cy="543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573F894-1B8B-451F-953E-7EAD3A5F6597}"/>
              </a:ext>
            </a:extLst>
          </p:cNvPr>
          <p:cNvSpPr txBox="1"/>
          <p:nvPr/>
        </p:nvSpPr>
        <p:spPr>
          <a:xfrm>
            <a:off x="8422886" y="3113253"/>
            <a:ext cx="1427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</a:rPr>
              <a:t>핵심 시스템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3CDA03-65ED-4DFB-AD37-44FEE9526E9B}"/>
              </a:ext>
            </a:extLst>
          </p:cNvPr>
          <p:cNvSpPr txBox="1"/>
          <p:nvPr/>
        </p:nvSpPr>
        <p:spPr>
          <a:xfrm>
            <a:off x="8422886" y="3026918"/>
            <a:ext cx="3343664" cy="198971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endParaRPr lang="ko-KR" altLang="en-US" sz="1400" b="1" dirty="0">
              <a:solidFill>
                <a:schemeClr val="bg1"/>
              </a:solidFill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bg1"/>
                </a:solidFill>
                <a:latin typeface="+mj-lt"/>
              </a:rPr>
              <a:t>-</a:t>
            </a:r>
            <a:r>
              <a:rPr lang="ko-KR" altLang="en-US" sz="1400" dirty="0">
                <a:solidFill>
                  <a:schemeClr val="bg1"/>
                </a:solidFill>
                <a:latin typeface="+mj-lt"/>
              </a:rPr>
              <a:t>실시간 교통 상황 관제</a:t>
            </a:r>
            <a:r>
              <a:rPr lang="en-US" altLang="ko-KR" sz="1400" dirty="0">
                <a:solidFill>
                  <a:schemeClr val="bg1"/>
                </a:solidFill>
                <a:latin typeface="+mj-lt"/>
              </a:rPr>
              <a:t>·</a:t>
            </a:r>
            <a:r>
              <a:rPr lang="ko-KR" altLang="en-US" sz="1400" dirty="0">
                <a:solidFill>
                  <a:schemeClr val="bg1"/>
                </a:solidFill>
                <a:latin typeface="+mj-lt"/>
              </a:rPr>
              <a:t>예측</a:t>
            </a:r>
            <a:r>
              <a:rPr lang="en-US" altLang="ko-KR" sz="1400" dirty="0">
                <a:solidFill>
                  <a:schemeClr val="bg1"/>
                </a:solidFill>
                <a:latin typeface="+mj-lt"/>
              </a:rPr>
              <a:t>·</a:t>
            </a:r>
            <a:r>
              <a:rPr lang="ko-KR" altLang="en-US" sz="1400" dirty="0">
                <a:solidFill>
                  <a:schemeClr val="bg1"/>
                </a:solidFill>
                <a:latin typeface="+mj-lt"/>
              </a:rPr>
              <a:t>알림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bg1"/>
                </a:solidFill>
                <a:latin typeface="+mj-lt"/>
              </a:rPr>
              <a:t>-</a:t>
            </a:r>
            <a:r>
              <a:rPr lang="ko-KR" altLang="en-US" sz="1400" dirty="0">
                <a:solidFill>
                  <a:schemeClr val="bg1"/>
                </a:solidFill>
                <a:latin typeface="+mj-lt"/>
              </a:rPr>
              <a:t>사고</a:t>
            </a:r>
            <a:r>
              <a:rPr lang="en-US" altLang="ko-KR" sz="1400" dirty="0">
                <a:solidFill>
                  <a:schemeClr val="bg1"/>
                </a:solidFill>
                <a:latin typeface="+mj-lt"/>
              </a:rPr>
              <a:t>·</a:t>
            </a:r>
            <a:r>
              <a:rPr lang="ko-KR" altLang="en-US" sz="1400" dirty="0">
                <a:solidFill>
                  <a:schemeClr val="bg1"/>
                </a:solidFill>
                <a:latin typeface="+mj-lt"/>
              </a:rPr>
              <a:t>재난 대응</a:t>
            </a:r>
            <a:r>
              <a:rPr lang="en-US" altLang="ko-KR" sz="1400" dirty="0">
                <a:solidFill>
                  <a:schemeClr val="bg1"/>
                </a:solidFill>
                <a:latin typeface="+mj-lt"/>
              </a:rPr>
              <a:t>·</a:t>
            </a:r>
            <a:r>
              <a:rPr lang="ko-KR" altLang="en-US" sz="1400" dirty="0">
                <a:solidFill>
                  <a:schemeClr val="bg1"/>
                </a:solidFill>
                <a:latin typeface="+mj-lt"/>
              </a:rPr>
              <a:t>연계 체계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bg1"/>
                </a:solidFill>
                <a:latin typeface="+mj-lt"/>
              </a:rPr>
              <a:t>-</a:t>
            </a:r>
            <a:r>
              <a:rPr lang="ko-KR" altLang="en-US" sz="1400" dirty="0">
                <a:solidFill>
                  <a:schemeClr val="bg1"/>
                </a:solidFill>
                <a:latin typeface="+mj-lt"/>
              </a:rPr>
              <a:t>도로</a:t>
            </a:r>
            <a:r>
              <a:rPr lang="en-US" altLang="ko-KR" sz="1400" dirty="0">
                <a:solidFill>
                  <a:schemeClr val="bg1"/>
                </a:solidFill>
                <a:latin typeface="+mj-lt"/>
              </a:rPr>
              <a:t>·</a:t>
            </a:r>
            <a:r>
              <a:rPr lang="ko-KR" altLang="en-US" sz="1400" dirty="0">
                <a:solidFill>
                  <a:schemeClr val="bg1"/>
                </a:solidFill>
                <a:latin typeface="+mj-lt"/>
              </a:rPr>
              <a:t>교통 자원 연계 서비스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bg1"/>
                </a:solidFill>
                <a:latin typeface="+mj-lt"/>
              </a:rPr>
              <a:t>-</a:t>
            </a:r>
            <a:r>
              <a:rPr lang="ko-KR" altLang="en-US" sz="1400" dirty="0">
                <a:solidFill>
                  <a:schemeClr val="bg1"/>
                </a:solidFill>
                <a:latin typeface="+mj-lt"/>
              </a:rPr>
              <a:t>데이터 연계</a:t>
            </a:r>
            <a:r>
              <a:rPr lang="en-US" altLang="ko-KR" sz="1400" dirty="0">
                <a:solidFill>
                  <a:schemeClr val="bg1"/>
                </a:solidFill>
                <a:latin typeface="+mj-lt"/>
              </a:rPr>
              <a:t>·</a:t>
            </a:r>
            <a:r>
              <a:rPr lang="ko-KR" altLang="en-US" sz="1400" dirty="0">
                <a:solidFill>
                  <a:schemeClr val="bg1"/>
                </a:solidFill>
                <a:latin typeface="+mj-lt"/>
              </a:rPr>
              <a:t>분석 시스템</a:t>
            </a:r>
          </a:p>
          <a:p>
            <a:pPr>
              <a:lnSpc>
                <a:spcPct val="150000"/>
              </a:lnSpc>
            </a:pPr>
            <a:endParaRPr lang="ko-KR" altLang="en-US" sz="1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D92D1A-07FE-4F0A-BA61-D0E7F194C92B}"/>
              </a:ext>
            </a:extLst>
          </p:cNvPr>
          <p:cNvSpPr txBox="1"/>
          <p:nvPr/>
        </p:nvSpPr>
        <p:spPr>
          <a:xfrm>
            <a:off x="8422886" y="5141730"/>
            <a:ext cx="1427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</a:rPr>
              <a:t>흐름도 특징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DBB670-4973-4371-9443-DD94C6911AFB}"/>
              </a:ext>
            </a:extLst>
          </p:cNvPr>
          <p:cNvSpPr txBox="1"/>
          <p:nvPr/>
        </p:nvSpPr>
        <p:spPr>
          <a:xfrm>
            <a:off x="8422886" y="5385537"/>
            <a:ext cx="3394464" cy="1343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bg1"/>
                </a:solidFill>
                <a:latin typeface="+mj-lt"/>
              </a:rPr>
              <a:t>-</a:t>
            </a:r>
            <a:r>
              <a:rPr lang="ko-KR" altLang="en-US" sz="1400" dirty="0">
                <a:solidFill>
                  <a:schemeClr val="bg1"/>
                </a:solidFill>
                <a:latin typeface="+mj-lt"/>
              </a:rPr>
              <a:t>사고</a:t>
            </a:r>
            <a:r>
              <a:rPr lang="en-US" altLang="ko-KR" sz="1400" dirty="0">
                <a:solidFill>
                  <a:schemeClr val="bg1"/>
                </a:solidFill>
                <a:latin typeface="+mj-lt"/>
              </a:rPr>
              <a:t>·</a:t>
            </a:r>
            <a:r>
              <a:rPr lang="ko-KR" altLang="en-US" sz="1400" dirty="0">
                <a:solidFill>
                  <a:schemeClr val="bg1"/>
                </a:solidFill>
                <a:latin typeface="+mj-lt"/>
              </a:rPr>
              <a:t>혼잡</a:t>
            </a:r>
            <a:r>
              <a:rPr lang="en-US" altLang="ko-KR" sz="1400" dirty="0">
                <a:solidFill>
                  <a:schemeClr val="bg1"/>
                </a:solidFill>
                <a:latin typeface="+mj-lt"/>
              </a:rPr>
              <a:t>·</a:t>
            </a:r>
            <a:r>
              <a:rPr lang="ko-KR" altLang="en-US" sz="1400" dirty="0">
                <a:solidFill>
                  <a:schemeClr val="bg1"/>
                </a:solidFill>
                <a:latin typeface="+mj-lt"/>
              </a:rPr>
              <a:t>사건 원시 데이터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bg1"/>
                </a:solidFill>
                <a:latin typeface="+mj-lt"/>
              </a:rPr>
              <a:t>-</a:t>
            </a:r>
            <a:r>
              <a:rPr lang="ko-KR" altLang="en-US" sz="1400" dirty="0">
                <a:solidFill>
                  <a:schemeClr val="bg1"/>
                </a:solidFill>
                <a:latin typeface="+mj-lt"/>
              </a:rPr>
              <a:t>실시간</a:t>
            </a:r>
            <a:r>
              <a:rPr lang="en-US" altLang="ko-KR" sz="1400" dirty="0">
                <a:solidFill>
                  <a:schemeClr val="bg1"/>
                </a:solidFill>
                <a:latin typeface="+mj-lt"/>
              </a:rPr>
              <a:t>·</a:t>
            </a:r>
            <a:r>
              <a:rPr lang="ko-KR" altLang="en-US" sz="1400" dirty="0">
                <a:solidFill>
                  <a:schemeClr val="bg1"/>
                </a:solidFill>
                <a:latin typeface="+mj-lt"/>
              </a:rPr>
              <a:t>역사 교통 데이터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bg1"/>
                </a:solidFill>
                <a:latin typeface="+mj-lt"/>
              </a:rPr>
              <a:t>-</a:t>
            </a:r>
            <a:r>
              <a:rPr lang="ko-KR" altLang="en-US" sz="1400" dirty="0">
                <a:solidFill>
                  <a:schemeClr val="bg1"/>
                </a:solidFill>
                <a:latin typeface="+mj-lt"/>
              </a:rPr>
              <a:t>경로</a:t>
            </a:r>
            <a:r>
              <a:rPr lang="en-US" altLang="ko-KR" sz="1400" dirty="0">
                <a:solidFill>
                  <a:schemeClr val="bg1"/>
                </a:solidFill>
                <a:latin typeface="+mj-lt"/>
              </a:rPr>
              <a:t>·</a:t>
            </a:r>
            <a:r>
              <a:rPr lang="ko-KR" altLang="en-US" sz="1400" dirty="0">
                <a:solidFill>
                  <a:schemeClr val="bg1"/>
                </a:solidFill>
                <a:latin typeface="+mj-lt"/>
              </a:rPr>
              <a:t>예측</a:t>
            </a:r>
            <a:r>
              <a:rPr lang="en-US" altLang="ko-KR" sz="1400" dirty="0">
                <a:solidFill>
                  <a:schemeClr val="bg1"/>
                </a:solidFill>
                <a:latin typeface="+mj-lt"/>
              </a:rPr>
              <a:t>·</a:t>
            </a:r>
            <a:r>
              <a:rPr lang="ko-KR" altLang="en-US" sz="1400" dirty="0">
                <a:solidFill>
                  <a:schemeClr val="bg1"/>
                </a:solidFill>
                <a:latin typeface="+mj-lt"/>
              </a:rPr>
              <a:t>알림 데이터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bg1"/>
                </a:solidFill>
                <a:latin typeface="+mj-lt"/>
              </a:rPr>
              <a:t>-</a:t>
            </a:r>
            <a:r>
              <a:rPr lang="ko-KR" altLang="en-US" sz="1400" dirty="0" err="1">
                <a:solidFill>
                  <a:schemeClr val="bg1"/>
                </a:solidFill>
                <a:latin typeface="+mj-lt"/>
              </a:rPr>
              <a:t>상황별</a:t>
            </a:r>
            <a:r>
              <a:rPr lang="ko-KR" altLang="en-US" sz="1400" dirty="0">
                <a:solidFill>
                  <a:schemeClr val="bg1"/>
                </a:solidFill>
                <a:latin typeface="+mj-lt"/>
              </a:rPr>
              <a:t> 사고</a:t>
            </a:r>
            <a:r>
              <a:rPr lang="en-US" altLang="ko-KR" sz="1400" dirty="0">
                <a:solidFill>
                  <a:schemeClr val="bg1"/>
                </a:solidFill>
                <a:latin typeface="+mj-lt"/>
              </a:rPr>
              <a:t>·</a:t>
            </a:r>
            <a:r>
              <a:rPr lang="ko-KR" altLang="en-US" sz="1400" dirty="0">
                <a:solidFill>
                  <a:schemeClr val="bg1"/>
                </a:solidFill>
                <a:latin typeface="+mj-lt"/>
              </a:rPr>
              <a:t>혼잡 패턴</a:t>
            </a:r>
            <a:r>
              <a:rPr lang="en-US" altLang="ko-KR" sz="1400" dirty="0">
                <a:solidFill>
                  <a:schemeClr val="bg1"/>
                </a:solidFill>
                <a:latin typeface="+mj-lt"/>
              </a:rPr>
              <a:t>·</a:t>
            </a:r>
            <a:r>
              <a:rPr lang="ko-KR" altLang="en-US" sz="1400" dirty="0">
                <a:solidFill>
                  <a:schemeClr val="bg1"/>
                </a:solidFill>
                <a:latin typeface="+mj-lt"/>
              </a:rPr>
              <a:t>원인 데이터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3FCC9CC-3D57-4A94-B17E-5A8FF3EAF2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8734" y="590919"/>
            <a:ext cx="5764684" cy="6199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772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25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A33107B7-D2C0-4478-8DEF-A419EC93A5D7}"/>
              </a:ext>
            </a:extLst>
          </p:cNvPr>
          <p:cNvSpPr txBox="1"/>
          <p:nvPr/>
        </p:nvSpPr>
        <p:spPr>
          <a:xfrm>
            <a:off x="455779" y="67699"/>
            <a:ext cx="4108787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Configuration diagram </a:t>
            </a:r>
          </a:p>
        </p:txBody>
      </p:sp>
      <p:sp>
        <p:nvSpPr>
          <p:cNvPr id="45" name="직사각형 34">
            <a:extLst>
              <a:ext uri="{FF2B5EF4-FFF2-40B4-BE49-F238E27FC236}">
                <a16:creationId xmlns:a16="http://schemas.microsoft.com/office/drawing/2014/main" id="{899A0B31-B7D0-4756-868D-4A73D517B1D0}"/>
              </a:ext>
            </a:extLst>
          </p:cNvPr>
          <p:cNvSpPr/>
          <p:nvPr/>
        </p:nvSpPr>
        <p:spPr>
          <a:xfrm>
            <a:off x="-1936" y="88168"/>
            <a:ext cx="528990" cy="482282"/>
          </a:xfrm>
          <a:custGeom>
            <a:avLst/>
            <a:gdLst>
              <a:gd name="connsiteX0" fmla="*/ 0 w 457715"/>
              <a:gd name="connsiteY0" fmla="*/ 0 h 482282"/>
              <a:gd name="connsiteX1" fmla="*/ 457715 w 457715"/>
              <a:gd name="connsiteY1" fmla="*/ 0 h 482282"/>
              <a:gd name="connsiteX2" fmla="*/ 457715 w 457715"/>
              <a:gd name="connsiteY2" fmla="*/ 482282 h 482282"/>
              <a:gd name="connsiteX3" fmla="*/ 0 w 457715"/>
              <a:gd name="connsiteY3" fmla="*/ 482282 h 482282"/>
              <a:gd name="connsiteX4" fmla="*/ 0 w 457715"/>
              <a:gd name="connsiteY4" fmla="*/ 0 h 482282"/>
              <a:gd name="connsiteX0" fmla="*/ 0 w 457715"/>
              <a:gd name="connsiteY0" fmla="*/ 0 h 482282"/>
              <a:gd name="connsiteX1" fmla="*/ 457715 w 457715"/>
              <a:gd name="connsiteY1" fmla="*/ 0 h 482282"/>
              <a:gd name="connsiteX2" fmla="*/ 387865 w 457715"/>
              <a:gd name="connsiteY2" fmla="*/ 480695 h 482282"/>
              <a:gd name="connsiteX3" fmla="*/ 0 w 457715"/>
              <a:gd name="connsiteY3" fmla="*/ 482282 h 482282"/>
              <a:gd name="connsiteX4" fmla="*/ 0 w 457715"/>
              <a:gd name="connsiteY4" fmla="*/ 0 h 482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715" h="482282">
                <a:moveTo>
                  <a:pt x="0" y="0"/>
                </a:moveTo>
                <a:lnTo>
                  <a:pt x="457715" y="0"/>
                </a:lnTo>
                <a:lnTo>
                  <a:pt x="387865" y="480695"/>
                </a:lnTo>
                <a:lnTo>
                  <a:pt x="0" y="482282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73A051B-381C-4719-B9AE-C088908071CB}"/>
              </a:ext>
            </a:extLst>
          </p:cNvPr>
          <p:cNvSpPr txBox="1"/>
          <p:nvPr/>
        </p:nvSpPr>
        <p:spPr>
          <a:xfrm>
            <a:off x="475016" y="566130"/>
            <a:ext cx="5174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하드웨어 구성도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0E38A6A2-B14A-4646-9391-9BAD76CDFA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65" y="6417517"/>
            <a:ext cx="966068" cy="543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B6E54696-91E3-47FA-8FA3-560788B71711}"/>
              </a:ext>
            </a:extLst>
          </p:cNvPr>
          <p:cNvSpPr/>
          <p:nvPr/>
        </p:nvSpPr>
        <p:spPr>
          <a:xfrm>
            <a:off x="7344937" y="1"/>
            <a:ext cx="4847063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50800" dist="63500" dir="10800000" algn="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C8CCB3E-1E23-4278-8AAE-D6C93ADE6E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5" y="1590236"/>
            <a:ext cx="7188820" cy="367752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AEF60E5-1354-4768-AE06-22441411A547}"/>
              </a:ext>
            </a:extLst>
          </p:cNvPr>
          <p:cNvSpPr txBox="1"/>
          <p:nvPr/>
        </p:nvSpPr>
        <p:spPr>
          <a:xfrm>
            <a:off x="7490739" y="502652"/>
            <a:ext cx="4459961" cy="6355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1" dirty="0">
                <a:solidFill>
                  <a:schemeClr val="bg1"/>
                </a:solidFill>
              </a:rPr>
              <a:t>1. </a:t>
            </a:r>
            <a:r>
              <a:rPr lang="ko-KR" altLang="en-US" sz="1100" b="1" dirty="0" err="1">
                <a:solidFill>
                  <a:schemeClr val="bg1"/>
                </a:solidFill>
              </a:rPr>
              <a:t>외부망</a:t>
            </a:r>
            <a:r>
              <a:rPr lang="ko-KR" altLang="en-US" sz="1100" b="1" dirty="0">
                <a:solidFill>
                  <a:schemeClr val="bg1"/>
                </a:solidFill>
              </a:rPr>
              <a:t> 접속</a:t>
            </a:r>
          </a:p>
          <a:p>
            <a:r>
              <a:rPr lang="en-US" altLang="ko-KR" sz="1100" b="1" dirty="0">
                <a:solidFill>
                  <a:schemeClr val="bg1"/>
                </a:solidFill>
              </a:rPr>
              <a:t>-DNS </a:t>
            </a:r>
            <a:r>
              <a:rPr lang="ko-KR" altLang="en-US" sz="1100" b="1" dirty="0">
                <a:solidFill>
                  <a:schemeClr val="bg1"/>
                </a:solidFill>
              </a:rPr>
              <a:t>라우팅</a:t>
            </a:r>
            <a:r>
              <a:rPr lang="en-US" altLang="ko-KR" sz="1100" dirty="0">
                <a:solidFill>
                  <a:schemeClr val="bg1"/>
                </a:solidFill>
              </a:rPr>
              <a:t>: Route53</a:t>
            </a:r>
          </a:p>
          <a:p>
            <a:r>
              <a:rPr lang="en-US" altLang="ko-KR" sz="1100" b="1" dirty="0">
                <a:solidFill>
                  <a:schemeClr val="bg1"/>
                </a:solidFill>
              </a:rPr>
              <a:t>-</a:t>
            </a:r>
            <a:r>
              <a:rPr lang="ko-KR" altLang="en-US" sz="1100" b="1" dirty="0">
                <a:solidFill>
                  <a:schemeClr val="bg1"/>
                </a:solidFill>
              </a:rPr>
              <a:t>보안</a:t>
            </a:r>
            <a:r>
              <a:rPr lang="en-US" altLang="ko-KR" sz="1100" dirty="0">
                <a:solidFill>
                  <a:schemeClr val="bg1"/>
                </a:solidFill>
              </a:rPr>
              <a:t>: WAF </a:t>
            </a:r>
            <a:r>
              <a:rPr lang="ko-KR" altLang="en-US" sz="1100" dirty="0">
                <a:solidFill>
                  <a:schemeClr val="bg1"/>
                </a:solidFill>
              </a:rPr>
              <a:t>통해 외부 접근 제어</a:t>
            </a:r>
          </a:p>
          <a:p>
            <a:r>
              <a:rPr lang="en-US" altLang="ko-KR" sz="1100" b="1" dirty="0">
                <a:solidFill>
                  <a:schemeClr val="bg1"/>
                </a:solidFill>
              </a:rPr>
              <a:t>-</a:t>
            </a:r>
            <a:r>
              <a:rPr lang="ko-KR" altLang="en-US" sz="1100" b="1" dirty="0">
                <a:solidFill>
                  <a:schemeClr val="bg1"/>
                </a:solidFill>
              </a:rPr>
              <a:t>콘텐츠 전달</a:t>
            </a:r>
            <a:r>
              <a:rPr lang="en-US" altLang="ko-KR" sz="1100" dirty="0">
                <a:solidFill>
                  <a:schemeClr val="bg1"/>
                </a:solidFill>
              </a:rPr>
              <a:t>: CloudFront</a:t>
            </a:r>
          </a:p>
          <a:p>
            <a:r>
              <a:rPr lang="en-US" altLang="ko-KR" sz="1100" b="1" dirty="0">
                <a:solidFill>
                  <a:schemeClr val="bg1"/>
                </a:solidFill>
              </a:rPr>
              <a:t>-</a:t>
            </a:r>
            <a:r>
              <a:rPr lang="ko-KR" altLang="en-US" sz="1100" b="1" dirty="0">
                <a:solidFill>
                  <a:schemeClr val="bg1"/>
                </a:solidFill>
              </a:rPr>
              <a:t>연결 게이트웨이</a:t>
            </a:r>
            <a:r>
              <a:rPr lang="en-US" altLang="ko-KR" sz="1100" dirty="0">
                <a:solidFill>
                  <a:schemeClr val="bg1"/>
                </a:solidFill>
              </a:rPr>
              <a:t>: API Gateway / Internet Gateway </a:t>
            </a:r>
            <a:r>
              <a:rPr lang="ko-KR" altLang="en-US" sz="1100" dirty="0">
                <a:solidFill>
                  <a:schemeClr val="bg1"/>
                </a:solidFill>
              </a:rPr>
              <a:t>통해 </a:t>
            </a:r>
            <a:r>
              <a:rPr lang="ko-KR" altLang="en-US" sz="1100" dirty="0" err="1">
                <a:solidFill>
                  <a:schemeClr val="bg1"/>
                </a:solidFill>
              </a:rPr>
              <a:t>로드밸런서</a:t>
            </a:r>
            <a:r>
              <a:rPr lang="ko-KR" altLang="en-US" sz="1100" dirty="0">
                <a:solidFill>
                  <a:schemeClr val="bg1"/>
                </a:solidFill>
              </a:rPr>
              <a:t> 연계</a:t>
            </a:r>
          </a:p>
          <a:p>
            <a:endParaRPr lang="en-US" altLang="ko-KR" sz="1100" b="1" dirty="0">
              <a:solidFill>
                <a:schemeClr val="bg1"/>
              </a:solidFill>
            </a:endParaRPr>
          </a:p>
          <a:p>
            <a:r>
              <a:rPr lang="en-US" altLang="ko-KR" sz="1100" b="1" dirty="0">
                <a:solidFill>
                  <a:schemeClr val="bg1"/>
                </a:solidFill>
              </a:rPr>
              <a:t>2. </a:t>
            </a:r>
            <a:r>
              <a:rPr lang="ko-KR" altLang="en-US" sz="1100" b="1" dirty="0">
                <a:solidFill>
                  <a:schemeClr val="bg1"/>
                </a:solidFill>
              </a:rPr>
              <a:t>에지 레이어 </a:t>
            </a:r>
            <a:r>
              <a:rPr lang="en-US" altLang="ko-KR" sz="1100" b="1" dirty="0">
                <a:solidFill>
                  <a:schemeClr val="bg1"/>
                </a:solidFill>
              </a:rPr>
              <a:t>(</a:t>
            </a:r>
            <a:r>
              <a:rPr lang="ko-KR" altLang="en-US" sz="1100" b="1" dirty="0">
                <a:solidFill>
                  <a:schemeClr val="bg1"/>
                </a:solidFill>
              </a:rPr>
              <a:t>수집계층</a:t>
            </a:r>
            <a:r>
              <a:rPr lang="en-US" altLang="ko-KR" sz="1100" b="1" dirty="0">
                <a:solidFill>
                  <a:schemeClr val="bg1"/>
                </a:solidFill>
              </a:rPr>
              <a:t>)</a:t>
            </a:r>
          </a:p>
          <a:p>
            <a:r>
              <a:rPr lang="en-US" altLang="ko-KR" sz="1100" b="1" dirty="0">
                <a:solidFill>
                  <a:schemeClr val="bg1"/>
                </a:solidFill>
              </a:rPr>
              <a:t>-</a:t>
            </a:r>
            <a:r>
              <a:rPr lang="ko-KR" altLang="en-US" sz="1100" b="1" dirty="0">
                <a:solidFill>
                  <a:schemeClr val="bg1"/>
                </a:solidFill>
              </a:rPr>
              <a:t>장치 종류</a:t>
            </a:r>
            <a:r>
              <a:rPr lang="en-US" altLang="ko-KR" sz="1100" dirty="0">
                <a:solidFill>
                  <a:schemeClr val="bg1"/>
                </a:solidFill>
              </a:rPr>
              <a:t>: OBU, RSU (</a:t>
            </a:r>
            <a:r>
              <a:rPr lang="ko-KR" altLang="en-US" sz="1100" dirty="0">
                <a:solidFill>
                  <a:schemeClr val="bg1"/>
                </a:solidFill>
              </a:rPr>
              <a:t>차량</a:t>
            </a:r>
            <a:r>
              <a:rPr lang="en-US" altLang="ko-KR" sz="1100" dirty="0">
                <a:solidFill>
                  <a:schemeClr val="bg1"/>
                </a:solidFill>
              </a:rPr>
              <a:t>, </a:t>
            </a:r>
            <a:r>
              <a:rPr lang="ko-KR" altLang="en-US" sz="1100" dirty="0">
                <a:solidFill>
                  <a:schemeClr val="bg1"/>
                </a:solidFill>
              </a:rPr>
              <a:t>도로</a:t>
            </a:r>
            <a:r>
              <a:rPr lang="en-US" altLang="ko-KR" sz="1100" dirty="0">
                <a:solidFill>
                  <a:schemeClr val="bg1"/>
                </a:solidFill>
              </a:rPr>
              <a:t>, </a:t>
            </a:r>
            <a:r>
              <a:rPr lang="ko-KR" altLang="en-US" sz="1100" dirty="0">
                <a:solidFill>
                  <a:schemeClr val="bg1"/>
                </a:solidFill>
              </a:rPr>
              <a:t>환경센서</a:t>
            </a:r>
            <a:r>
              <a:rPr lang="en-US" altLang="ko-KR" sz="1100" dirty="0">
                <a:solidFill>
                  <a:schemeClr val="bg1"/>
                </a:solidFill>
              </a:rPr>
              <a:t>)</a:t>
            </a:r>
          </a:p>
          <a:p>
            <a:r>
              <a:rPr lang="en-US" altLang="ko-KR" sz="1100" b="1" dirty="0">
                <a:solidFill>
                  <a:schemeClr val="bg1"/>
                </a:solidFill>
              </a:rPr>
              <a:t>-</a:t>
            </a:r>
            <a:r>
              <a:rPr lang="ko-KR" altLang="en-US" sz="1100" b="1" dirty="0">
                <a:solidFill>
                  <a:schemeClr val="bg1"/>
                </a:solidFill>
              </a:rPr>
              <a:t>연결</a:t>
            </a:r>
            <a:r>
              <a:rPr lang="en-US" altLang="ko-KR" sz="1100" dirty="0">
                <a:solidFill>
                  <a:schemeClr val="bg1"/>
                </a:solidFill>
              </a:rPr>
              <a:t>: NB-IoT, LTE, 5G, </a:t>
            </a:r>
            <a:r>
              <a:rPr lang="ko-KR" altLang="en-US" sz="1100" dirty="0">
                <a:solidFill>
                  <a:schemeClr val="bg1"/>
                </a:solidFill>
              </a:rPr>
              <a:t>유선</a:t>
            </a:r>
            <a:r>
              <a:rPr lang="en-US" altLang="ko-KR" sz="1100" dirty="0">
                <a:solidFill>
                  <a:schemeClr val="bg1"/>
                </a:solidFill>
              </a:rPr>
              <a:t>(L2/L3 </a:t>
            </a:r>
            <a:r>
              <a:rPr lang="ko-KR" altLang="en-US" sz="1100" dirty="0">
                <a:solidFill>
                  <a:schemeClr val="bg1"/>
                </a:solidFill>
              </a:rPr>
              <a:t>스위치</a:t>
            </a:r>
            <a:r>
              <a:rPr lang="en-US" altLang="ko-KR" sz="1100" dirty="0">
                <a:solidFill>
                  <a:schemeClr val="bg1"/>
                </a:solidFill>
              </a:rPr>
              <a:t>) </a:t>
            </a:r>
            <a:r>
              <a:rPr lang="ko-KR" altLang="en-US" sz="1100" dirty="0">
                <a:solidFill>
                  <a:schemeClr val="bg1"/>
                </a:solidFill>
              </a:rPr>
              <a:t>통해 실시간 데이터 수집</a:t>
            </a:r>
          </a:p>
          <a:p>
            <a:r>
              <a:rPr lang="en-US" altLang="ko-KR" sz="1100" b="1" dirty="0">
                <a:solidFill>
                  <a:schemeClr val="bg1"/>
                </a:solidFill>
              </a:rPr>
              <a:t>-</a:t>
            </a:r>
            <a:r>
              <a:rPr lang="ko-KR" altLang="en-US" sz="1100" b="1" dirty="0">
                <a:solidFill>
                  <a:schemeClr val="bg1"/>
                </a:solidFill>
              </a:rPr>
              <a:t>데이터 종류</a:t>
            </a:r>
            <a:r>
              <a:rPr lang="en-US" altLang="ko-KR" sz="1100" dirty="0">
                <a:solidFill>
                  <a:schemeClr val="bg1"/>
                </a:solidFill>
              </a:rPr>
              <a:t>: V2V/V2I </a:t>
            </a:r>
            <a:r>
              <a:rPr lang="ko-KR" altLang="en-US" sz="1100" dirty="0">
                <a:solidFill>
                  <a:schemeClr val="bg1"/>
                </a:solidFill>
              </a:rPr>
              <a:t>메시지</a:t>
            </a:r>
          </a:p>
          <a:p>
            <a:endParaRPr lang="en-US" altLang="ko-KR" sz="1100" b="1" dirty="0">
              <a:solidFill>
                <a:schemeClr val="bg1"/>
              </a:solidFill>
            </a:endParaRPr>
          </a:p>
          <a:p>
            <a:r>
              <a:rPr lang="en-US" altLang="ko-KR" sz="1100" b="1" dirty="0">
                <a:solidFill>
                  <a:schemeClr val="bg1"/>
                </a:solidFill>
              </a:rPr>
              <a:t>3. </a:t>
            </a:r>
            <a:r>
              <a:rPr lang="ko-KR" altLang="en-US" sz="1100" b="1" dirty="0" err="1">
                <a:solidFill>
                  <a:schemeClr val="bg1"/>
                </a:solidFill>
              </a:rPr>
              <a:t>내부망</a:t>
            </a:r>
            <a:r>
              <a:rPr lang="ko-KR" altLang="en-US" sz="1100" b="1" dirty="0">
                <a:solidFill>
                  <a:schemeClr val="bg1"/>
                </a:solidFill>
              </a:rPr>
              <a:t> 서비스 계층</a:t>
            </a:r>
          </a:p>
          <a:p>
            <a:r>
              <a:rPr lang="en-US" altLang="ko-KR" sz="1100" b="1" dirty="0">
                <a:solidFill>
                  <a:schemeClr val="bg1"/>
                </a:solidFill>
              </a:rPr>
              <a:t>-</a:t>
            </a:r>
            <a:r>
              <a:rPr lang="ko-KR" altLang="en-US" sz="1100" b="1" dirty="0">
                <a:solidFill>
                  <a:schemeClr val="bg1"/>
                </a:solidFill>
              </a:rPr>
              <a:t>서비스 종류</a:t>
            </a:r>
            <a:r>
              <a:rPr lang="en-US" altLang="ko-KR" sz="1100" dirty="0">
                <a:solidFill>
                  <a:schemeClr val="bg1"/>
                </a:solidFill>
              </a:rPr>
              <a:t>:</a:t>
            </a:r>
          </a:p>
          <a:p>
            <a:r>
              <a:rPr lang="ko-KR" altLang="en-US" sz="1100" dirty="0">
                <a:solidFill>
                  <a:schemeClr val="bg1"/>
                </a:solidFill>
              </a:rPr>
              <a:t>웹서버 </a:t>
            </a:r>
            <a:r>
              <a:rPr lang="en-US" altLang="ko-KR" sz="1100" dirty="0">
                <a:solidFill>
                  <a:schemeClr val="bg1"/>
                </a:solidFill>
              </a:rPr>
              <a:t>(EC2)</a:t>
            </a:r>
          </a:p>
          <a:p>
            <a:r>
              <a:rPr lang="en-US" altLang="ko-KR" sz="1100" dirty="0">
                <a:solidFill>
                  <a:schemeClr val="bg1"/>
                </a:solidFill>
              </a:rPr>
              <a:t>API</a:t>
            </a:r>
            <a:r>
              <a:rPr lang="ko-KR" altLang="en-US" sz="1100" dirty="0">
                <a:solidFill>
                  <a:schemeClr val="bg1"/>
                </a:solidFill>
              </a:rPr>
              <a:t>서버 </a:t>
            </a:r>
            <a:r>
              <a:rPr lang="en-US" altLang="ko-KR" sz="1100" dirty="0">
                <a:solidFill>
                  <a:schemeClr val="bg1"/>
                </a:solidFill>
              </a:rPr>
              <a:t>(EC2)</a:t>
            </a:r>
          </a:p>
          <a:p>
            <a:r>
              <a:rPr lang="en-US" altLang="ko-KR" sz="1100" dirty="0">
                <a:solidFill>
                  <a:schemeClr val="bg1"/>
                </a:solidFill>
              </a:rPr>
              <a:t>WAS</a:t>
            </a:r>
            <a:r>
              <a:rPr lang="ko-KR" altLang="en-US" sz="1100" dirty="0">
                <a:solidFill>
                  <a:schemeClr val="bg1"/>
                </a:solidFill>
              </a:rPr>
              <a:t>서버 </a:t>
            </a:r>
            <a:r>
              <a:rPr lang="en-US" altLang="ko-KR" sz="1100" dirty="0">
                <a:solidFill>
                  <a:schemeClr val="bg1"/>
                </a:solidFill>
              </a:rPr>
              <a:t>(EC2)</a:t>
            </a:r>
          </a:p>
          <a:p>
            <a:r>
              <a:rPr lang="en-US" altLang="ko-KR" sz="1100" dirty="0">
                <a:solidFill>
                  <a:schemeClr val="bg1"/>
                </a:solidFill>
              </a:rPr>
              <a:t>V2X </a:t>
            </a:r>
            <a:r>
              <a:rPr lang="ko-KR" altLang="en-US" sz="1100" dirty="0">
                <a:solidFill>
                  <a:schemeClr val="bg1"/>
                </a:solidFill>
              </a:rPr>
              <a:t>메시지 연계서버 </a:t>
            </a:r>
            <a:r>
              <a:rPr lang="en-US" altLang="ko-KR" sz="1100" dirty="0">
                <a:solidFill>
                  <a:schemeClr val="bg1"/>
                </a:solidFill>
              </a:rPr>
              <a:t>(EC2)</a:t>
            </a:r>
          </a:p>
          <a:p>
            <a:r>
              <a:rPr lang="en-US" altLang="ko-KR" sz="1100" b="1" dirty="0">
                <a:solidFill>
                  <a:schemeClr val="bg1"/>
                </a:solidFill>
              </a:rPr>
              <a:t>-</a:t>
            </a:r>
            <a:r>
              <a:rPr lang="ko-KR" altLang="en-US" sz="1100" b="1" dirty="0">
                <a:solidFill>
                  <a:schemeClr val="bg1"/>
                </a:solidFill>
              </a:rPr>
              <a:t>데이터 버퍼</a:t>
            </a:r>
            <a:r>
              <a:rPr lang="en-US" altLang="ko-KR" sz="1100" b="1" dirty="0">
                <a:solidFill>
                  <a:schemeClr val="bg1"/>
                </a:solidFill>
              </a:rPr>
              <a:t>·</a:t>
            </a:r>
            <a:r>
              <a:rPr lang="ko-KR" altLang="en-US" sz="1100" b="1" dirty="0">
                <a:solidFill>
                  <a:schemeClr val="bg1"/>
                </a:solidFill>
              </a:rPr>
              <a:t>스트리밍</a:t>
            </a:r>
            <a:r>
              <a:rPr lang="en-US" altLang="ko-KR" sz="1100" dirty="0">
                <a:solidFill>
                  <a:schemeClr val="bg1"/>
                </a:solidFill>
              </a:rPr>
              <a:t>: Apache Kafka</a:t>
            </a:r>
          </a:p>
          <a:p>
            <a:r>
              <a:rPr lang="en-US" altLang="ko-KR" sz="1100" b="1" dirty="0">
                <a:solidFill>
                  <a:schemeClr val="bg1"/>
                </a:solidFill>
              </a:rPr>
              <a:t>-AI </a:t>
            </a:r>
            <a:r>
              <a:rPr lang="ko-KR" altLang="en-US" sz="1100" b="1" dirty="0">
                <a:solidFill>
                  <a:schemeClr val="bg1"/>
                </a:solidFill>
              </a:rPr>
              <a:t>연계</a:t>
            </a:r>
            <a:r>
              <a:rPr lang="en-US" altLang="ko-KR" sz="1100" dirty="0">
                <a:solidFill>
                  <a:schemeClr val="bg1"/>
                </a:solidFill>
              </a:rPr>
              <a:t>: </a:t>
            </a:r>
            <a:r>
              <a:rPr lang="en-US" altLang="ko-KR" sz="1100" dirty="0" err="1">
                <a:solidFill>
                  <a:schemeClr val="bg1"/>
                </a:solidFill>
              </a:rPr>
              <a:t>SageMaker</a:t>
            </a:r>
            <a:r>
              <a:rPr lang="en-US" altLang="ko-KR" sz="1100" dirty="0">
                <a:solidFill>
                  <a:schemeClr val="bg1"/>
                </a:solidFill>
              </a:rPr>
              <a:t> Endpoint, Lambda </a:t>
            </a:r>
            <a:r>
              <a:rPr lang="ko-KR" altLang="en-US" sz="1100" dirty="0">
                <a:solidFill>
                  <a:schemeClr val="bg1"/>
                </a:solidFill>
              </a:rPr>
              <a:t>통해 </a:t>
            </a:r>
            <a:r>
              <a:rPr lang="en-US" altLang="ko-KR" sz="1100" dirty="0">
                <a:solidFill>
                  <a:schemeClr val="bg1"/>
                </a:solidFill>
              </a:rPr>
              <a:t>AI </a:t>
            </a:r>
            <a:r>
              <a:rPr lang="ko-KR" altLang="en-US" sz="1100" dirty="0">
                <a:solidFill>
                  <a:schemeClr val="bg1"/>
                </a:solidFill>
              </a:rPr>
              <a:t>추론 연계 가능</a:t>
            </a:r>
          </a:p>
          <a:p>
            <a:endParaRPr lang="en-US" altLang="ko-KR" sz="1100" b="1" dirty="0">
              <a:solidFill>
                <a:schemeClr val="bg1"/>
              </a:solidFill>
            </a:endParaRPr>
          </a:p>
          <a:p>
            <a:r>
              <a:rPr lang="en-US" altLang="ko-KR" sz="1100" b="1" dirty="0">
                <a:solidFill>
                  <a:schemeClr val="bg1"/>
                </a:solidFill>
              </a:rPr>
              <a:t>4. </a:t>
            </a:r>
            <a:r>
              <a:rPr lang="ko-KR" altLang="en-US" sz="1100" b="1" dirty="0">
                <a:solidFill>
                  <a:schemeClr val="bg1"/>
                </a:solidFill>
              </a:rPr>
              <a:t>저장</a:t>
            </a:r>
            <a:r>
              <a:rPr lang="en-US" altLang="ko-KR" sz="1100" b="1" dirty="0">
                <a:solidFill>
                  <a:schemeClr val="bg1"/>
                </a:solidFill>
              </a:rPr>
              <a:t>·</a:t>
            </a:r>
            <a:r>
              <a:rPr lang="ko-KR" altLang="en-US" sz="1100" b="1" dirty="0">
                <a:solidFill>
                  <a:schemeClr val="bg1"/>
                </a:solidFill>
              </a:rPr>
              <a:t>분석 계층</a:t>
            </a:r>
          </a:p>
          <a:p>
            <a:r>
              <a:rPr lang="en-US" altLang="ko-KR" sz="1100" b="1" dirty="0">
                <a:solidFill>
                  <a:schemeClr val="bg1"/>
                </a:solidFill>
              </a:rPr>
              <a:t>-</a:t>
            </a:r>
            <a:r>
              <a:rPr lang="ko-KR" altLang="en-US" sz="1100" b="1" dirty="0">
                <a:solidFill>
                  <a:schemeClr val="bg1"/>
                </a:solidFill>
              </a:rPr>
              <a:t>관계형 </a:t>
            </a:r>
            <a:r>
              <a:rPr lang="en-US" altLang="ko-KR" sz="1100" b="1" dirty="0">
                <a:solidFill>
                  <a:schemeClr val="bg1"/>
                </a:solidFill>
              </a:rPr>
              <a:t>DB</a:t>
            </a:r>
            <a:r>
              <a:rPr lang="en-US" altLang="ko-KR" sz="1100" dirty="0">
                <a:solidFill>
                  <a:schemeClr val="bg1"/>
                </a:solidFill>
              </a:rPr>
              <a:t>: Amazon RDS (Master/Replica)</a:t>
            </a:r>
          </a:p>
          <a:p>
            <a:r>
              <a:rPr lang="en-US" altLang="ko-KR" sz="1100" b="1" dirty="0">
                <a:solidFill>
                  <a:schemeClr val="bg1"/>
                </a:solidFill>
              </a:rPr>
              <a:t>-</a:t>
            </a:r>
            <a:r>
              <a:rPr lang="ko-KR" altLang="en-US" sz="1100" b="1" dirty="0">
                <a:solidFill>
                  <a:schemeClr val="bg1"/>
                </a:solidFill>
              </a:rPr>
              <a:t>비관계형 </a:t>
            </a:r>
            <a:r>
              <a:rPr lang="en-US" altLang="ko-KR" sz="1100" b="1" dirty="0">
                <a:solidFill>
                  <a:schemeClr val="bg1"/>
                </a:solidFill>
              </a:rPr>
              <a:t>DB</a:t>
            </a:r>
            <a:r>
              <a:rPr lang="en-US" altLang="ko-KR" sz="1100" dirty="0">
                <a:solidFill>
                  <a:schemeClr val="bg1"/>
                </a:solidFill>
              </a:rPr>
              <a:t>: DynamoDB, </a:t>
            </a:r>
            <a:r>
              <a:rPr lang="en-US" altLang="ko-KR" sz="1100" dirty="0" err="1">
                <a:solidFill>
                  <a:schemeClr val="bg1"/>
                </a:solidFill>
              </a:rPr>
              <a:t>InfluxDB</a:t>
            </a:r>
            <a:r>
              <a:rPr lang="en-US" altLang="ko-KR" sz="1100" dirty="0">
                <a:solidFill>
                  <a:schemeClr val="bg1"/>
                </a:solidFill>
              </a:rPr>
              <a:t>, Redshift</a:t>
            </a:r>
          </a:p>
          <a:p>
            <a:r>
              <a:rPr lang="en-US" altLang="ko-KR" sz="1100" b="1" dirty="0">
                <a:solidFill>
                  <a:schemeClr val="bg1"/>
                </a:solidFill>
              </a:rPr>
              <a:t>-</a:t>
            </a:r>
            <a:r>
              <a:rPr lang="ko-KR" altLang="en-US" sz="1100" b="1" dirty="0">
                <a:solidFill>
                  <a:schemeClr val="bg1"/>
                </a:solidFill>
              </a:rPr>
              <a:t>파일 스토리지</a:t>
            </a:r>
            <a:r>
              <a:rPr lang="en-US" altLang="ko-KR" sz="1100" dirty="0">
                <a:solidFill>
                  <a:schemeClr val="bg1"/>
                </a:solidFill>
              </a:rPr>
              <a:t>: Amazon S3 (</a:t>
            </a:r>
            <a:r>
              <a:rPr lang="ko-KR" altLang="en-US" sz="1100" dirty="0">
                <a:solidFill>
                  <a:schemeClr val="bg1"/>
                </a:solidFill>
              </a:rPr>
              <a:t>영상</a:t>
            </a:r>
            <a:r>
              <a:rPr lang="en-US" altLang="ko-KR" sz="1100" dirty="0">
                <a:solidFill>
                  <a:schemeClr val="bg1"/>
                </a:solidFill>
              </a:rPr>
              <a:t>·</a:t>
            </a:r>
            <a:r>
              <a:rPr lang="ko-KR" altLang="en-US" sz="1100" dirty="0">
                <a:solidFill>
                  <a:schemeClr val="bg1"/>
                </a:solidFill>
              </a:rPr>
              <a:t>백업 저장</a:t>
            </a:r>
            <a:r>
              <a:rPr lang="en-US" altLang="ko-KR" sz="1100" dirty="0">
                <a:solidFill>
                  <a:schemeClr val="bg1"/>
                </a:solidFill>
              </a:rPr>
              <a:t>)</a:t>
            </a:r>
          </a:p>
          <a:p>
            <a:endParaRPr lang="en-US" altLang="ko-KR" sz="1100" b="1" dirty="0">
              <a:solidFill>
                <a:schemeClr val="bg1"/>
              </a:solidFill>
            </a:endParaRPr>
          </a:p>
          <a:p>
            <a:r>
              <a:rPr lang="en-US" altLang="ko-KR" sz="1100" b="1" dirty="0">
                <a:solidFill>
                  <a:schemeClr val="bg1"/>
                </a:solidFill>
              </a:rPr>
              <a:t>5. </a:t>
            </a:r>
            <a:r>
              <a:rPr lang="ko-KR" altLang="en-US" sz="1100" b="1" dirty="0">
                <a:solidFill>
                  <a:schemeClr val="bg1"/>
                </a:solidFill>
              </a:rPr>
              <a:t>운영</a:t>
            </a:r>
            <a:r>
              <a:rPr lang="en-US" altLang="ko-KR" sz="1100" b="1" dirty="0">
                <a:solidFill>
                  <a:schemeClr val="bg1"/>
                </a:solidFill>
              </a:rPr>
              <a:t>·</a:t>
            </a:r>
            <a:r>
              <a:rPr lang="ko-KR" altLang="en-US" sz="1100" b="1" dirty="0">
                <a:solidFill>
                  <a:schemeClr val="bg1"/>
                </a:solidFill>
              </a:rPr>
              <a:t>보안</a:t>
            </a:r>
            <a:r>
              <a:rPr lang="en-US" altLang="ko-KR" sz="1100" b="1" dirty="0">
                <a:solidFill>
                  <a:schemeClr val="bg1"/>
                </a:solidFill>
              </a:rPr>
              <a:t>·</a:t>
            </a:r>
            <a:r>
              <a:rPr lang="ko-KR" altLang="en-US" sz="1100" b="1" dirty="0">
                <a:solidFill>
                  <a:schemeClr val="bg1"/>
                </a:solidFill>
              </a:rPr>
              <a:t>모니터링</a:t>
            </a:r>
          </a:p>
          <a:p>
            <a:r>
              <a:rPr lang="en-US" altLang="ko-KR" sz="1100" b="1" dirty="0">
                <a:solidFill>
                  <a:schemeClr val="bg1"/>
                </a:solidFill>
              </a:rPr>
              <a:t>-</a:t>
            </a:r>
            <a:r>
              <a:rPr lang="ko-KR" altLang="en-US" sz="1100" b="1" dirty="0">
                <a:solidFill>
                  <a:schemeClr val="bg1"/>
                </a:solidFill>
              </a:rPr>
              <a:t>서비스</a:t>
            </a:r>
            <a:r>
              <a:rPr lang="en-US" altLang="ko-KR" sz="1100" dirty="0">
                <a:solidFill>
                  <a:schemeClr val="bg1"/>
                </a:solidFill>
              </a:rPr>
              <a:t>:</a:t>
            </a:r>
          </a:p>
          <a:p>
            <a:r>
              <a:rPr lang="ko-KR" altLang="en-US" sz="1100" dirty="0">
                <a:solidFill>
                  <a:schemeClr val="bg1"/>
                </a:solidFill>
              </a:rPr>
              <a:t>모니터링</a:t>
            </a:r>
            <a:r>
              <a:rPr lang="en-US" altLang="ko-KR" sz="1100" dirty="0">
                <a:solidFill>
                  <a:schemeClr val="bg1"/>
                </a:solidFill>
              </a:rPr>
              <a:t>: CloudWatch, X-Ray, Prometheus</a:t>
            </a:r>
          </a:p>
          <a:p>
            <a:r>
              <a:rPr lang="ko-KR" altLang="en-US" sz="1100" dirty="0">
                <a:solidFill>
                  <a:schemeClr val="bg1"/>
                </a:solidFill>
              </a:rPr>
              <a:t>자원 관리</a:t>
            </a:r>
            <a:r>
              <a:rPr lang="en-US" altLang="ko-KR" sz="1100" dirty="0">
                <a:solidFill>
                  <a:schemeClr val="bg1"/>
                </a:solidFill>
              </a:rPr>
              <a:t>: IAM, AWS Health Dashboard</a:t>
            </a:r>
          </a:p>
          <a:p>
            <a:r>
              <a:rPr lang="ko-KR" altLang="en-US" sz="1100" dirty="0">
                <a:solidFill>
                  <a:schemeClr val="bg1"/>
                </a:solidFill>
              </a:rPr>
              <a:t>알림</a:t>
            </a:r>
            <a:r>
              <a:rPr lang="en-US" altLang="ko-KR" sz="1100" dirty="0">
                <a:solidFill>
                  <a:schemeClr val="bg1"/>
                </a:solidFill>
              </a:rPr>
              <a:t>·</a:t>
            </a:r>
            <a:r>
              <a:rPr lang="ko-KR" altLang="en-US" sz="1100" dirty="0">
                <a:solidFill>
                  <a:schemeClr val="bg1"/>
                </a:solidFill>
              </a:rPr>
              <a:t>백업</a:t>
            </a:r>
            <a:r>
              <a:rPr lang="en-US" altLang="ko-KR" sz="1100" dirty="0">
                <a:solidFill>
                  <a:schemeClr val="bg1"/>
                </a:solidFill>
              </a:rPr>
              <a:t>: SNS, Snapshot</a:t>
            </a:r>
          </a:p>
          <a:p>
            <a:endParaRPr lang="en-US" altLang="ko-KR" sz="1100" b="1" dirty="0">
              <a:solidFill>
                <a:schemeClr val="bg1"/>
              </a:solidFill>
            </a:endParaRPr>
          </a:p>
          <a:p>
            <a:r>
              <a:rPr lang="ko-KR" altLang="en-US" sz="1100" b="1" dirty="0">
                <a:solidFill>
                  <a:schemeClr val="bg1"/>
                </a:solidFill>
              </a:rPr>
              <a:t>핵심 강점</a:t>
            </a:r>
          </a:p>
          <a:p>
            <a:r>
              <a:rPr lang="en-US" altLang="ko-KR" sz="1100" dirty="0">
                <a:solidFill>
                  <a:schemeClr val="bg1"/>
                </a:solidFill>
              </a:rPr>
              <a:t>-</a:t>
            </a:r>
            <a:r>
              <a:rPr lang="ko-KR" altLang="en-US" sz="1100" dirty="0">
                <a:solidFill>
                  <a:schemeClr val="bg1"/>
                </a:solidFill>
              </a:rPr>
              <a:t>외부 접속과 실시간 데이터 처리</a:t>
            </a:r>
            <a:r>
              <a:rPr lang="en-US" altLang="ko-KR" sz="1100" dirty="0">
                <a:solidFill>
                  <a:schemeClr val="bg1"/>
                </a:solidFill>
              </a:rPr>
              <a:t>, AI </a:t>
            </a:r>
            <a:r>
              <a:rPr lang="ko-KR" altLang="en-US" sz="1100" dirty="0">
                <a:solidFill>
                  <a:schemeClr val="bg1"/>
                </a:solidFill>
              </a:rPr>
              <a:t>연계 가능</a:t>
            </a:r>
          </a:p>
          <a:p>
            <a:r>
              <a:rPr lang="en-US" altLang="ko-KR" sz="1100" dirty="0">
                <a:solidFill>
                  <a:schemeClr val="bg1"/>
                </a:solidFill>
              </a:rPr>
              <a:t>-</a:t>
            </a:r>
            <a:r>
              <a:rPr lang="ko-KR" altLang="en-US" sz="1100" dirty="0">
                <a:solidFill>
                  <a:schemeClr val="bg1"/>
                </a:solidFill>
              </a:rPr>
              <a:t>대용량 데이터를 실시간</a:t>
            </a:r>
            <a:r>
              <a:rPr lang="en-US" altLang="ko-KR" sz="1100" dirty="0">
                <a:solidFill>
                  <a:schemeClr val="bg1"/>
                </a:solidFill>
              </a:rPr>
              <a:t>·</a:t>
            </a:r>
            <a:r>
              <a:rPr lang="ko-KR" altLang="en-US" sz="1100" dirty="0">
                <a:solidFill>
                  <a:schemeClr val="bg1"/>
                </a:solidFill>
              </a:rPr>
              <a:t>안정적으로 저장</a:t>
            </a:r>
            <a:r>
              <a:rPr lang="en-US" altLang="ko-KR" sz="1100" dirty="0">
                <a:solidFill>
                  <a:schemeClr val="bg1"/>
                </a:solidFill>
              </a:rPr>
              <a:t>·</a:t>
            </a:r>
            <a:r>
              <a:rPr lang="ko-KR" altLang="en-US" sz="1100" dirty="0">
                <a:solidFill>
                  <a:schemeClr val="bg1"/>
                </a:solidFill>
              </a:rPr>
              <a:t>분석</a:t>
            </a:r>
          </a:p>
          <a:p>
            <a:r>
              <a:rPr lang="en-US" altLang="ko-KR" sz="1100" dirty="0">
                <a:solidFill>
                  <a:schemeClr val="bg1"/>
                </a:solidFill>
              </a:rPr>
              <a:t>-</a:t>
            </a:r>
            <a:r>
              <a:rPr lang="ko-KR" altLang="en-US" sz="1100" dirty="0">
                <a:solidFill>
                  <a:schemeClr val="bg1"/>
                </a:solidFill>
              </a:rPr>
              <a:t>강력한 보안</a:t>
            </a:r>
            <a:r>
              <a:rPr lang="en-US" altLang="ko-KR" sz="1100" dirty="0">
                <a:solidFill>
                  <a:schemeClr val="bg1"/>
                </a:solidFill>
              </a:rPr>
              <a:t>·</a:t>
            </a:r>
            <a:r>
              <a:rPr lang="ko-KR" altLang="en-US" sz="1100" dirty="0">
                <a:solidFill>
                  <a:schemeClr val="bg1"/>
                </a:solidFill>
              </a:rPr>
              <a:t>모니터링 체계 통해 </a:t>
            </a:r>
            <a:r>
              <a:rPr lang="ko-KR" altLang="en-US" sz="1100" dirty="0" err="1">
                <a:solidFill>
                  <a:schemeClr val="bg1"/>
                </a:solidFill>
              </a:rPr>
              <a:t>무중단</a:t>
            </a:r>
            <a:r>
              <a:rPr lang="ko-KR" altLang="en-US" sz="1100" dirty="0">
                <a:solidFill>
                  <a:schemeClr val="bg1"/>
                </a:solidFill>
              </a:rPr>
              <a:t> 서비스 지원</a:t>
            </a:r>
          </a:p>
          <a:p>
            <a:r>
              <a:rPr lang="en-US" altLang="ko-KR" sz="1100" dirty="0">
                <a:solidFill>
                  <a:schemeClr val="bg1"/>
                </a:solidFill>
              </a:rPr>
              <a:t>-</a:t>
            </a:r>
            <a:r>
              <a:rPr lang="ko-KR" altLang="en-US" sz="1100" dirty="0">
                <a:solidFill>
                  <a:schemeClr val="bg1"/>
                </a:solidFill>
              </a:rPr>
              <a:t>도로</a:t>
            </a:r>
            <a:r>
              <a:rPr lang="en-US" altLang="ko-KR" sz="1100" dirty="0">
                <a:solidFill>
                  <a:schemeClr val="bg1"/>
                </a:solidFill>
              </a:rPr>
              <a:t>·</a:t>
            </a:r>
            <a:r>
              <a:rPr lang="ko-KR" altLang="en-US" sz="1100" dirty="0">
                <a:solidFill>
                  <a:schemeClr val="bg1"/>
                </a:solidFill>
              </a:rPr>
              <a:t>교통</a:t>
            </a:r>
            <a:r>
              <a:rPr lang="en-US" altLang="ko-KR" sz="1100" dirty="0">
                <a:solidFill>
                  <a:schemeClr val="bg1"/>
                </a:solidFill>
              </a:rPr>
              <a:t>·</a:t>
            </a:r>
            <a:r>
              <a:rPr lang="ko-KR" altLang="en-US" sz="1100" dirty="0">
                <a:solidFill>
                  <a:schemeClr val="bg1"/>
                </a:solidFill>
              </a:rPr>
              <a:t>환경 데이터 연계로 스마트 교통 서비스 가능</a:t>
            </a:r>
          </a:p>
        </p:txBody>
      </p:sp>
    </p:spTree>
    <p:extLst>
      <p:ext uri="{BB962C8B-B14F-4D97-AF65-F5344CB8AC3E}">
        <p14:creationId xmlns:p14="http://schemas.microsoft.com/office/powerpoint/2010/main" val="446908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25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A33107B7-D2C0-4478-8DEF-A419EC93A5D7}"/>
              </a:ext>
            </a:extLst>
          </p:cNvPr>
          <p:cNvSpPr txBox="1"/>
          <p:nvPr/>
        </p:nvSpPr>
        <p:spPr>
          <a:xfrm>
            <a:off x="455779" y="67699"/>
            <a:ext cx="4108787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Configuration diagram </a:t>
            </a:r>
          </a:p>
        </p:txBody>
      </p:sp>
      <p:sp>
        <p:nvSpPr>
          <p:cNvPr id="45" name="직사각형 34">
            <a:extLst>
              <a:ext uri="{FF2B5EF4-FFF2-40B4-BE49-F238E27FC236}">
                <a16:creationId xmlns:a16="http://schemas.microsoft.com/office/drawing/2014/main" id="{899A0B31-B7D0-4756-868D-4A73D517B1D0}"/>
              </a:ext>
            </a:extLst>
          </p:cNvPr>
          <p:cNvSpPr/>
          <p:nvPr/>
        </p:nvSpPr>
        <p:spPr>
          <a:xfrm>
            <a:off x="-1936" y="88168"/>
            <a:ext cx="528990" cy="482282"/>
          </a:xfrm>
          <a:custGeom>
            <a:avLst/>
            <a:gdLst>
              <a:gd name="connsiteX0" fmla="*/ 0 w 457715"/>
              <a:gd name="connsiteY0" fmla="*/ 0 h 482282"/>
              <a:gd name="connsiteX1" fmla="*/ 457715 w 457715"/>
              <a:gd name="connsiteY1" fmla="*/ 0 h 482282"/>
              <a:gd name="connsiteX2" fmla="*/ 457715 w 457715"/>
              <a:gd name="connsiteY2" fmla="*/ 482282 h 482282"/>
              <a:gd name="connsiteX3" fmla="*/ 0 w 457715"/>
              <a:gd name="connsiteY3" fmla="*/ 482282 h 482282"/>
              <a:gd name="connsiteX4" fmla="*/ 0 w 457715"/>
              <a:gd name="connsiteY4" fmla="*/ 0 h 482282"/>
              <a:gd name="connsiteX0" fmla="*/ 0 w 457715"/>
              <a:gd name="connsiteY0" fmla="*/ 0 h 482282"/>
              <a:gd name="connsiteX1" fmla="*/ 457715 w 457715"/>
              <a:gd name="connsiteY1" fmla="*/ 0 h 482282"/>
              <a:gd name="connsiteX2" fmla="*/ 387865 w 457715"/>
              <a:gd name="connsiteY2" fmla="*/ 480695 h 482282"/>
              <a:gd name="connsiteX3" fmla="*/ 0 w 457715"/>
              <a:gd name="connsiteY3" fmla="*/ 482282 h 482282"/>
              <a:gd name="connsiteX4" fmla="*/ 0 w 457715"/>
              <a:gd name="connsiteY4" fmla="*/ 0 h 482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715" h="482282">
                <a:moveTo>
                  <a:pt x="0" y="0"/>
                </a:moveTo>
                <a:lnTo>
                  <a:pt x="457715" y="0"/>
                </a:lnTo>
                <a:lnTo>
                  <a:pt x="387865" y="480695"/>
                </a:lnTo>
                <a:lnTo>
                  <a:pt x="0" y="482282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73A051B-381C-4719-B9AE-C088908071CB}"/>
              </a:ext>
            </a:extLst>
          </p:cNvPr>
          <p:cNvSpPr txBox="1"/>
          <p:nvPr/>
        </p:nvSpPr>
        <p:spPr>
          <a:xfrm>
            <a:off x="475016" y="566130"/>
            <a:ext cx="5174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소프트웨어 구성도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1AF2EA3-4972-46EA-B916-72D23C917B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65" y="6417517"/>
            <a:ext cx="966068" cy="543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42E0CEAB-5E71-4F22-B860-20D90DC71BAE}"/>
              </a:ext>
            </a:extLst>
          </p:cNvPr>
          <p:cNvSpPr/>
          <p:nvPr/>
        </p:nvSpPr>
        <p:spPr>
          <a:xfrm>
            <a:off x="7344937" y="1"/>
            <a:ext cx="4847063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50800" dist="63500" dir="10800000" algn="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E04075F-C1B6-4563-B637-8FB55DAAFA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35" y="1379034"/>
            <a:ext cx="7117842" cy="4099932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328A4F0C-419B-4E72-8878-ACA999D766EB}"/>
              </a:ext>
            </a:extLst>
          </p:cNvPr>
          <p:cNvSpPr txBox="1"/>
          <p:nvPr/>
        </p:nvSpPr>
        <p:spPr>
          <a:xfrm>
            <a:off x="7499350" y="329722"/>
            <a:ext cx="4191000" cy="6524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b="1" dirty="0" err="1">
                <a:solidFill>
                  <a:schemeClr val="bg1"/>
                </a:solidFill>
              </a:rPr>
              <a:t>엣지</a:t>
            </a:r>
            <a:r>
              <a:rPr lang="ko-KR" altLang="en-US" sz="1100" b="1" dirty="0">
                <a:solidFill>
                  <a:schemeClr val="bg1"/>
                </a:solidFill>
              </a:rPr>
              <a:t> 레이어 </a:t>
            </a:r>
            <a:r>
              <a:rPr lang="en-US" altLang="ko-KR" sz="1100" b="1" dirty="0">
                <a:solidFill>
                  <a:schemeClr val="bg1"/>
                </a:solidFill>
              </a:rPr>
              <a:t>(Edge Layer)</a:t>
            </a:r>
          </a:p>
          <a:p>
            <a:r>
              <a:rPr lang="en-US" altLang="ko-KR" sz="1100" dirty="0">
                <a:solidFill>
                  <a:schemeClr val="bg1"/>
                </a:solidFill>
              </a:rPr>
              <a:t>-</a:t>
            </a:r>
            <a:r>
              <a:rPr lang="ko-KR" altLang="en-US" sz="1100" dirty="0">
                <a:solidFill>
                  <a:schemeClr val="bg1"/>
                </a:solidFill>
              </a:rPr>
              <a:t>연계 대상</a:t>
            </a:r>
            <a:r>
              <a:rPr lang="en-US" altLang="ko-KR" sz="1100" dirty="0">
                <a:solidFill>
                  <a:schemeClr val="bg1"/>
                </a:solidFill>
              </a:rPr>
              <a:t>: OBU, RSU (</a:t>
            </a:r>
            <a:r>
              <a:rPr lang="ko-KR" altLang="en-US" sz="1100" dirty="0">
                <a:solidFill>
                  <a:schemeClr val="bg1"/>
                </a:solidFill>
              </a:rPr>
              <a:t>차량</a:t>
            </a:r>
            <a:r>
              <a:rPr lang="en-US" altLang="ko-KR" sz="1100" dirty="0">
                <a:solidFill>
                  <a:schemeClr val="bg1"/>
                </a:solidFill>
              </a:rPr>
              <a:t>/</a:t>
            </a:r>
            <a:r>
              <a:rPr lang="ko-KR" altLang="en-US" sz="1100" dirty="0">
                <a:solidFill>
                  <a:schemeClr val="bg1"/>
                </a:solidFill>
              </a:rPr>
              <a:t>환경</a:t>
            </a:r>
            <a:r>
              <a:rPr lang="en-US" altLang="ko-KR" sz="1100" dirty="0">
                <a:solidFill>
                  <a:schemeClr val="bg1"/>
                </a:solidFill>
              </a:rPr>
              <a:t>/</a:t>
            </a:r>
            <a:r>
              <a:rPr lang="ko-KR" altLang="en-US" sz="1100" dirty="0">
                <a:solidFill>
                  <a:schemeClr val="bg1"/>
                </a:solidFill>
              </a:rPr>
              <a:t>계측 데이터</a:t>
            </a:r>
            <a:r>
              <a:rPr lang="en-US" altLang="ko-KR" sz="1100" dirty="0">
                <a:solidFill>
                  <a:schemeClr val="bg1"/>
                </a:solidFill>
              </a:rPr>
              <a:t>)</a:t>
            </a:r>
          </a:p>
          <a:p>
            <a:r>
              <a:rPr lang="ko-KR" altLang="en-US" sz="1100" dirty="0">
                <a:solidFill>
                  <a:schemeClr val="bg1"/>
                </a:solidFill>
              </a:rPr>
              <a:t>소프트웨어</a:t>
            </a:r>
            <a:r>
              <a:rPr lang="en-US" altLang="ko-KR" sz="1100" dirty="0">
                <a:solidFill>
                  <a:schemeClr val="bg1"/>
                </a:solidFill>
              </a:rPr>
              <a:t>:</a:t>
            </a:r>
          </a:p>
          <a:p>
            <a:r>
              <a:rPr lang="en-US" altLang="ko-KR" sz="1100" dirty="0">
                <a:solidFill>
                  <a:schemeClr val="bg1"/>
                </a:solidFill>
              </a:rPr>
              <a:t>-Edge Gateway </a:t>
            </a:r>
            <a:r>
              <a:rPr lang="ko-KR" altLang="en-US" sz="1100" dirty="0">
                <a:solidFill>
                  <a:schemeClr val="bg1"/>
                </a:solidFill>
              </a:rPr>
              <a:t>표준화</a:t>
            </a:r>
          </a:p>
          <a:p>
            <a:r>
              <a:rPr lang="en-US" altLang="ko-KR" sz="1100" dirty="0">
                <a:solidFill>
                  <a:schemeClr val="bg1"/>
                </a:solidFill>
              </a:rPr>
              <a:t>-</a:t>
            </a:r>
            <a:r>
              <a:rPr lang="ko-KR" altLang="en-US" sz="1100" dirty="0">
                <a:solidFill>
                  <a:schemeClr val="bg1"/>
                </a:solidFill>
              </a:rPr>
              <a:t>다양한 프로토콜 지원 </a:t>
            </a:r>
            <a:r>
              <a:rPr lang="en-US" altLang="ko-KR" sz="1100" dirty="0">
                <a:solidFill>
                  <a:schemeClr val="bg1"/>
                </a:solidFill>
              </a:rPr>
              <a:t>(MQTT, CoAP, HTTP, WebSocket)</a:t>
            </a:r>
          </a:p>
          <a:p>
            <a:endParaRPr lang="en-US" altLang="ko-KR" sz="1100" dirty="0">
              <a:solidFill>
                <a:schemeClr val="bg1"/>
              </a:solidFill>
            </a:endParaRPr>
          </a:p>
          <a:p>
            <a:r>
              <a:rPr lang="ko-KR" altLang="en-US" sz="1100" b="1" dirty="0">
                <a:solidFill>
                  <a:schemeClr val="bg1"/>
                </a:solidFill>
              </a:rPr>
              <a:t>서비스 연계 </a:t>
            </a:r>
            <a:r>
              <a:rPr lang="en-US" altLang="ko-KR" sz="1100" b="1" dirty="0">
                <a:solidFill>
                  <a:schemeClr val="bg1"/>
                </a:solidFill>
              </a:rPr>
              <a:t>(Public Subnet / </a:t>
            </a:r>
            <a:r>
              <a:rPr lang="ko-KR" altLang="en-US" sz="1100" b="1" dirty="0">
                <a:solidFill>
                  <a:schemeClr val="bg1"/>
                </a:solidFill>
              </a:rPr>
              <a:t>외부 연계</a:t>
            </a:r>
            <a:r>
              <a:rPr lang="en-US" altLang="ko-KR" sz="1100" b="1" dirty="0">
                <a:solidFill>
                  <a:schemeClr val="bg1"/>
                </a:solidFill>
              </a:rPr>
              <a:t>)</a:t>
            </a:r>
          </a:p>
          <a:p>
            <a:r>
              <a:rPr lang="en-US" altLang="ko-KR" sz="1100" dirty="0">
                <a:solidFill>
                  <a:schemeClr val="bg1"/>
                </a:solidFill>
              </a:rPr>
              <a:t>-</a:t>
            </a:r>
            <a:r>
              <a:rPr lang="ko-KR" altLang="en-US" sz="1100" dirty="0" err="1">
                <a:solidFill>
                  <a:schemeClr val="bg1"/>
                </a:solidFill>
              </a:rPr>
              <a:t>로드밸런서</a:t>
            </a:r>
            <a:r>
              <a:rPr lang="ko-KR" altLang="en-US" sz="1100" dirty="0">
                <a:solidFill>
                  <a:schemeClr val="bg1"/>
                </a:solidFill>
              </a:rPr>
              <a:t> </a:t>
            </a:r>
            <a:r>
              <a:rPr lang="en-US" altLang="ko-KR" sz="1100" dirty="0">
                <a:solidFill>
                  <a:schemeClr val="bg1"/>
                </a:solidFill>
              </a:rPr>
              <a:t>/ </a:t>
            </a:r>
            <a:r>
              <a:rPr lang="ko-KR" altLang="en-US" sz="1100" dirty="0">
                <a:solidFill>
                  <a:schemeClr val="bg1"/>
                </a:solidFill>
              </a:rPr>
              <a:t>게이트웨이</a:t>
            </a:r>
          </a:p>
          <a:p>
            <a:r>
              <a:rPr lang="en-US" altLang="ko-KR" sz="1100" dirty="0">
                <a:solidFill>
                  <a:schemeClr val="bg1"/>
                </a:solidFill>
              </a:rPr>
              <a:t>-Route53, WAF, CloudFront </a:t>
            </a:r>
            <a:r>
              <a:rPr lang="ko-KR" altLang="en-US" sz="1100" dirty="0">
                <a:solidFill>
                  <a:schemeClr val="bg1"/>
                </a:solidFill>
              </a:rPr>
              <a:t>통해 외부 트래픽 제어</a:t>
            </a:r>
          </a:p>
          <a:p>
            <a:r>
              <a:rPr lang="en-US" altLang="ko-KR" sz="1100" dirty="0">
                <a:solidFill>
                  <a:schemeClr val="bg1"/>
                </a:solidFill>
              </a:rPr>
              <a:t>-API Gateway </a:t>
            </a:r>
            <a:r>
              <a:rPr lang="ko-KR" altLang="en-US" sz="1100" dirty="0">
                <a:solidFill>
                  <a:schemeClr val="bg1"/>
                </a:solidFill>
              </a:rPr>
              <a:t>통해 서비스 연계</a:t>
            </a:r>
          </a:p>
          <a:p>
            <a:r>
              <a:rPr lang="en-US" altLang="ko-KR" sz="1100" dirty="0">
                <a:solidFill>
                  <a:schemeClr val="bg1"/>
                </a:solidFill>
              </a:rPr>
              <a:t>-</a:t>
            </a:r>
            <a:r>
              <a:rPr lang="ko-KR" altLang="en-US" sz="1100" dirty="0">
                <a:solidFill>
                  <a:schemeClr val="bg1"/>
                </a:solidFill>
              </a:rPr>
              <a:t>미디어 서버</a:t>
            </a:r>
          </a:p>
          <a:p>
            <a:r>
              <a:rPr lang="en-US" altLang="ko-KR" sz="1100" dirty="0">
                <a:solidFill>
                  <a:schemeClr val="bg1"/>
                </a:solidFill>
              </a:rPr>
              <a:t>-Nginx-</a:t>
            </a:r>
            <a:r>
              <a:rPr lang="en-US" altLang="ko-KR" sz="1100" dirty="0" err="1">
                <a:solidFill>
                  <a:schemeClr val="bg1"/>
                </a:solidFill>
              </a:rPr>
              <a:t>rtmp</a:t>
            </a:r>
            <a:r>
              <a:rPr lang="en-US" altLang="ko-KR" sz="1100" dirty="0">
                <a:solidFill>
                  <a:schemeClr val="bg1"/>
                </a:solidFill>
              </a:rPr>
              <a:t>, </a:t>
            </a:r>
            <a:r>
              <a:rPr lang="en-US" altLang="ko-KR" sz="1100" dirty="0" err="1">
                <a:solidFill>
                  <a:schemeClr val="bg1"/>
                </a:solidFill>
              </a:rPr>
              <a:t>FFmpeg</a:t>
            </a:r>
            <a:r>
              <a:rPr lang="en-US" altLang="ko-KR" sz="1100" dirty="0">
                <a:solidFill>
                  <a:schemeClr val="bg1"/>
                </a:solidFill>
              </a:rPr>
              <a:t> </a:t>
            </a:r>
            <a:r>
              <a:rPr lang="ko-KR" altLang="en-US" sz="1100" dirty="0">
                <a:solidFill>
                  <a:schemeClr val="bg1"/>
                </a:solidFill>
              </a:rPr>
              <a:t>통해 실시간 영상 처리</a:t>
            </a:r>
            <a:r>
              <a:rPr lang="en-US" altLang="ko-KR" sz="1100" dirty="0">
                <a:solidFill>
                  <a:schemeClr val="bg1"/>
                </a:solidFill>
              </a:rPr>
              <a:t>(HLS)</a:t>
            </a:r>
          </a:p>
          <a:p>
            <a:endParaRPr lang="en-US" altLang="ko-KR" sz="1100" dirty="0">
              <a:solidFill>
                <a:schemeClr val="bg1"/>
              </a:solidFill>
            </a:endParaRPr>
          </a:p>
          <a:p>
            <a:r>
              <a:rPr lang="ko-KR" altLang="en-US" sz="1100" b="1" dirty="0">
                <a:solidFill>
                  <a:schemeClr val="bg1"/>
                </a:solidFill>
              </a:rPr>
              <a:t>비즈니스 로직 </a:t>
            </a:r>
            <a:r>
              <a:rPr lang="en-US" altLang="ko-KR" sz="1100" b="1" dirty="0">
                <a:solidFill>
                  <a:schemeClr val="bg1"/>
                </a:solidFill>
              </a:rPr>
              <a:t>/ </a:t>
            </a:r>
            <a:r>
              <a:rPr lang="ko-KR" altLang="en-US" sz="1100" b="1" dirty="0">
                <a:solidFill>
                  <a:schemeClr val="bg1"/>
                </a:solidFill>
              </a:rPr>
              <a:t>서비스 </a:t>
            </a:r>
            <a:r>
              <a:rPr lang="en-US" altLang="ko-KR" sz="1100" b="1" dirty="0">
                <a:solidFill>
                  <a:schemeClr val="bg1"/>
                </a:solidFill>
              </a:rPr>
              <a:t>(Private Subnet)</a:t>
            </a:r>
          </a:p>
          <a:p>
            <a:r>
              <a:rPr lang="en-US" altLang="ko-KR" sz="1100" dirty="0">
                <a:solidFill>
                  <a:schemeClr val="bg1"/>
                </a:solidFill>
              </a:rPr>
              <a:t>-</a:t>
            </a:r>
            <a:r>
              <a:rPr lang="ko-KR" altLang="en-US" sz="1100" dirty="0">
                <a:solidFill>
                  <a:schemeClr val="bg1"/>
                </a:solidFill>
              </a:rPr>
              <a:t>웹서버</a:t>
            </a:r>
          </a:p>
          <a:p>
            <a:r>
              <a:rPr lang="en-US" altLang="ko-KR" sz="1100" dirty="0">
                <a:solidFill>
                  <a:schemeClr val="bg1"/>
                </a:solidFill>
              </a:rPr>
              <a:t>-Nginx 1.24.0, Vue.js 3.0, JWT </a:t>
            </a:r>
            <a:r>
              <a:rPr lang="ko-KR" altLang="en-US" sz="1100" dirty="0">
                <a:solidFill>
                  <a:schemeClr val="bg1"/>
                </a:solidFill>
              </a:rPr>
              <a:t>인증 연계</a:t>
            </a:r>
          </a:p>
          <a:p>
            <a:r>
              <a:rPr lang="en-US" altLang="ko-KR" sz="1100" dirty="0">
                <a:solidFill>
                  <a:schemeClr val="bg1"/>
                </a:solidFill>
              </a:rPr>
              <a:t>-API</a:t>
            </a:r>
            <a:r>
              <a:rPr lang="ko-KR" altLang="en-US" sz="1100" dirty="0">
                <a:solidFill>
                  <a:schemeClr val="bg1"/>
                </a:solidFill>
              </a:rPr>
              <a:t>서버</a:t>
            </a:r>
          </a:p>
          <a:p>
            <a:r>
              <a:rPr lang="en-US" altLang="ko-KR" sz="1100" dirty="0">
                <a:solidFill>
                  <a:schemeClr val="bg1"/>
                </a:solidFill>
              </a:rPr>
              <a:t>-Nginx 1.24.0, </a:t>
            </a:r>
            <a:r>
              <a:rPr lang="en-US" altLang="ko-KR" sz="1100" dirty="0" err="1">
                <a:solidFill>
                  <a:schemeClr val="bg1"/>
                </a:solidFill>
              </a:rPr>
              <a:t>OpenAPI</a:t>
            </a:r>
            <a:r>
              <a:rPr lang="en-US" altLang="ko-KR" sz="1100" dirty="0">
                <a:solidFill>
                  <a:schemeClr val="bg1"/>
                </a:solidFill>
              </a:rPr>
              <a:t> </a:t>
            </a:r>
            <a:r>
              <a:rPr lang="ko-KR" altLang="en-US" sz="1100" dirty="0">
                <a:solidFill>
                  <a:schemeClr val="bg1"/>
                </a:solidFill>
              </a:rPr>
              <a:t>연계</a:t>
            </a:r>
          </a:p>
          <a:p>
            <a:r>
              <a:rPr lang="en-US" altLang="ko-KR" sz="1100" dirty="0">
                <a:solidFill>
                  <a:schemeClr val="bg1"/>
                </a:solidFill>
              </a:rPr>
              <a:t>-</a:t>
            </a:r>
            <a:r>
              <a:rPr lang="ko-KR" altLang="en-US" sz="1100" dirty="0">
                <a:solidFill>
                  <a:schemeClr val="bg1"/>
                </a:solidFill>
              </a:rPr>
              <a:t>교통 정책</a:t>
            </a:r>
            <a:r>
              <a:rPr lang="en-US" altLang="ko-KR" sz="1100" dirty="0">
                <a:solidFill>
                  <a:schemeClr val="bg1"/>
                </a:solidFill>
              </a:rPr>
              <a:t>·</a:t>
            </a:r>
            <a:r>
              <a:rPr lang="ko-KR" altLang="en-US" sz="1100" dirty="0">
                <a:solidFill>
                  <a:schemeClr val="bg1"/>
                </a:solidFill>
              </a:rPr>
              <a:t>분석</a:t>
            </a:r>
          </a:p>
          <a:p>
            <a:r>
              <a:rPr lang="en-US" altLang="ko-KR" sz="1100" dirty="0">
                <a:solidFill>
                  <a:schemeClr val="bg1"/>
                </a:solidFill>
              </a:rPr>
              <a:t>-WAS </a:t>
            </a:r>
            <a:r>
              <a:rPr lang="ko-KR" altLang="en-US" sz="1100" dirty="0">
                <a:solidFill>
                  <a:schemeClr val="bg1"/>
                </a:solidFill>
              </a:rPr>
              <a:t>서버</a:t>
            </a:r>
            <a:r>
              <a:rPr lang="en-US" altLang="ko-KR" sz="1100" dirty="0">
                <a:solidFill>
                  <a:schemeClr val="bg1"/>
                </a:solidFill>
              </a:rPr>
              <a:t>: Node.js, Spring Boot, Redis </a:t>
            </a:r>
            <a:r>
              <a:rPr lang="ko-KR" altLang="en-US" sz="1100" dirty="0">
                <a:solidFill>
                  <a:schemeClr val="bg1"/>
                </a:solidFill>
              </a:rPr>
              <a:t>연계</a:t>
            </a:r>
          </a:p>
          <a:p>
            <a:r>
              <a:rPr lang="en-US" altLang="ko-KR" sz="1100" dirty="0">
                <a:solidFill>
                  <a:schemeClr val="bg1"/>
                </a:solidFill>
              </a:rPr>
              <a:t>-V2X </a:t>
            </a:r>
            <a:r>
              <a:rPr lang="ko-KR" altLang="en-US" sz="1100" dirty="0">
                <a:solidFill>
                  <a:schemeClr val="bg1"/>
                </a:solidFill>
              </a:rPr>
              <a:t>실시간 연계</a:t>
            </a:r>
          </a:p>
          <a:p>
            <a:r>
              <a:rPr lang="en-US" altLang="ko-KR" sz="1100" dirty="0">
                <a:solidFill>
                  <a:schemeClr val="bg1"/>
                </a:solidFill>
              </a:rPr>
              <a:t>-MQTT, Spring Boot, TLS </a:t>
            </a:r>
            <a:r>
              <a:rPr lang="ko-KR" altLang="en-US" sz="1100" dirty="0">
                <a:solidFill>
                  <a:schemeClr val="bg1"/>
                </a:solidFill>
              </a:rPr>
              <a:t>연계</a:t>
            </a:r>
            <a:r>
              <a:rPr lang="en-US" altLang="ko-KR" sz="1100" dirty="0">
                <a:solidFill>
                  <a:schemeClr val="bg1"/>
                </a:solidFill>
              </a:rPr>
              <a:t>, </a:t>
            </a:r>
            <a:r>
              <a:rPr lang="ko-KR" altLang="en-US" sz="1100" dirty="0">
                <a:solidFill>
                  <a:schemeClr val="bg1"/>
                </a:solidFill>
              </a:rPr>
              <a:t>메시지 브로커</a:t>
            </a:r>
          </a:p>
          <a:p>
            <a:endParaRPr lang="en-US" altLang="ko-KR" sz="1100" dirty="0">
              <a:solidFill>
                <a:schemeClr val="bg1"/>
              </a:solidFill>
            </a:endParaRPr>
          </a:p>
          <a:p>
            <a:r>
              <a:rPr lang="ko-KR" altLang="en-US" sz="1100" b="1" dirty="0">
                <a:solidFill>
                  <a:schemeClr val="bg1"/>
                </a:solidFill>
              </a:rPr>
              <a:t>데이터 저장소</a:t>
            </a:r>
          </a:p>
          <a:p>
            <a:r>
              <a:rPr lang="ko-KR" altLang="en-US" sz="1100" dirty="0">
                <a:solidFill>
                  <a:schemeClr val="bg1"/>
                </a:solidFill>
              </a:rPr>
              <a:t>관계형 </a:t>
            </a:r>
            <a:r>
              <a:rPr lang="en-US" altLang="ko-KR" sz="1100" dirty="0">
                <a:solidFill>
                  <a:schemeClr val="bg1"/>
                </a:solidFill>
              </a:rPr>
              <a:t>DB:</a:t>
            </a:r>
          </a:p>
          <a:p>
            <a:r>
              <a:rPr lang="en-US" altLang="ko-KR" sz="1100" dirty="0">
                <a:solidFill>
                  <a:schemeClr val="bg1"/>
                </a:solidFill>
              </a:rPr>
              <a:t>-Amazon RDS (PostgreSQL, Redis)</a:t>
            </a:r>
          </a:p>
          <a:p>
            <a:r>
              <a:rPr lang="en-US" altLang="ko-KR" sz="1100" dirty="0">
                <a:solidFill>
                  <a:schemeClr val="bg1"/>
                </a:solidFill>
              </a:rPr>
              <a:t>-</a:t>
            </a:r>
            <a:r>
              <a:rPr lang="ko-KR" altLang="en-US" sz="1100" dirty="0">
                <a:solidFill>
                  <a:schemeClr val="bg1"/>
                </a:solidFill>
              </a:rPr>
              <a:t>중요 교통</a:t>
            </a:r>
            <a:r>
              <a:rPr lang="en-US" altLang="ko-KR" sz="1100" dirty="0">
                <a:solidFill>
                  <a:schemeClr val="bg1"/>
                </a:solidFill>
              </a:rPr>
              <a:t>·</a:t>
            </a:r>
            <a:r>
              <a:rPr lang="ko-KR" altLang="en-US" sz="1100" dirty="0">
                <a:solidFill>
                  <a:schemeClr val="bg1"/>
                </a:solidFill>
              </a:rPr>
              <a:t>환경 데이터 저장</a:t>
            </a:r>
          </a:p>
          <a:p>
            <a:r>
              <a:rPr lang="ko-KR" altLang="en-US" sz="1100" dirty="0">
                <a:solidFill>
                  <a:schemeClr val="bg1"/>
                </a:solidFill>
              </a:rPr>
              <a:t>비정형 </a:t>
            </a:r>
            <a:r>
              <a:rPr lang="en-US" altLang="ko-KR" sz="1100" dirty="0">
                <a:solidFill>
                  <a:schemeClr val="bg1"/>
                </a:solidFill>
              </a:rPr>
              <a:t>DB:</a:t>
            </a:r>
          </a:p>
          <a:p>
            <a:r>
              <a:rPr lang="en-US" altLang="ko-KR" sz="1100" dirty="0">
                <a:solidFill>
                  <a:schemeClr val="bg1"/>
                </a:solidFill>
              </a:rPr>
              <a:t>-DynamoDB, </a:t>
            </a:r>
            <a:r>
              <a:rPr lang="en-US" altLang="ko-KR" sz="1100" dirty="0" err="1">
                <a:solidFill>
                  <a:schemeClr val="bg1"/>
                </a:solidFill>
              </a:rPr>
              <a:t>InfluxDB</a:t>
            </a:r>
            <a:r>
              <a:rPr lang="en-US" altLang="ko-KR" sz="1100" dirty="0">
                <a:solidFill>
                  <a:schemeClr val="bg1"/>
                </a:solidFill>
              </a:rPr>
              <a:t>, Redshift </a:t>
            </a:r>
            <a:r>
              <a:rPr lang="ko-KR" altLang="en-US" sz="1100" dirty="0">
                <a:solidFill>
                  <a:schemeClr val="bg1"/>
                </a:solidFill>
              </a:rPr>
              <a:t>통해 실시간 트래픽</a:t>
            </a:r>
            <a:r>
              <a:rPr lang="en-US" altLang="ko-KR" sz="1100" dirty="0">
                <a:solidFill>
                  <a:schemeClr val="bg1"/>
                </a:solidFill>
              </a:rPr>
              <a:t>·</a:t>
            </a:r>
            <a:r>
              <a:rPr lang="ko-KR" altLang="en-US" sz="1100" dirty="0">
                <a:solidFill>
                  <a:schemeClr val="bg1"/>
                </a:solidFill>
              </a:rPr>
              <a:t>이벤트 저장</a:t>
            </a:r>
          </a:p>
          <a:p>
            <a:r>
              <a:rPr lang="ko-KR" altLang="en-US" sz="1100" dirty="0">
                <a:solidFill>
                  <a:schemeClr val="bg1"/>
                </a:solidFill>
              </a:rPr>
              <a:t>파일 스토리지</a:t>
            </a:r>
            <a:r>
              <a:rPr lang="en-US" altLang="ko-KR" sz="1100" dirty="0">
                <a:solidFill>
                  <a:schemeClr val="bg1"/>
                </a:solidFill>
              </a:rPr>
              <a:t>:</a:t>
            </a:r>
          </a:p>
          <a:p>
            <a:r>
              <a:rPr lang="en-US" altLang="ko-KR" sz="1100" dirty="0">
                <a:solidFill>
                  <a:schemeClr val="bg1"/>
                </a:solidFill>
              </a:rPr>
              <a:t>-Amazon S3 (</a:t>
            </a:r>
            <a:r>
              <a:rPr lang="ko-KR" altLang="en-US" sz="1100" dirty="0">
                <a:solidFill>
                  <a:schemeClr val="bg1"/>
                </a:solidFill>
              </a:rPr>
              <a:t>영상</a:t>
            </a:r>
            <a:r>
              <a:rPr lang="en-US" altLang="ko-KR" sz="1100" dirty="0">
                <a:solidFill>
                  <a:schemeClr val="bg1"/>
                </a:solidFill>
              </a:rPr>
              <a:t>·</a:t>
            </a:r>
            <a:r>
              <a:rPr lang="ko-KR" altLang="en-US" sz="1100" dirty="0">
                <a:solidFill>
                  <a:schemeClr val="bg1"/>
                </a:solidFill>
              </a:rPr>
              <a:t>대용량 저장</a:t>
            </a:r>
            <a:r>
              <a:rPr lang="en-US" altLang="ko-KR" sz="1100" dirty="0">
                <a:solidFill>
                  <a:schemeClr val="bg1"/>
                </a:solidFill>
              </a:rPr>
              <a:t>)</a:t>
            </a:r>
          </a:p>
          <a:p>
            <a:endParaRPr lang="en-US" altLang="ko-KR" sz="1100" dirty="0">
              <a:solidFill>
                <a:schemeClr val="bg1"/>
              </a:solidFill>
            </a:endParaRPr>
          </a:p>
          <a:p>
            <a:r>
              <a:rPr lang="ko-KR" altLang="en-US" sz="1100" b="1" dirty="0">
                <a:solidFill>
                  <a:schemeClr val="bg1"/>
                </a:solidFill>
              </a:rPr>
              <a:t>운영</a:t>
            </a:r>
            <a:r>
              <a:rPr lang="en-US" altLang="ko-KR" sz="1100" b="1" dirty="0">
                <a:solidFill>
                  <a:schemeClr val="bg1"/>
                </a:solidFill>
              </a:rPr>
              <a:t>·</a:t>
            </a:r>
            <a:r>
              <a:rPr lang="ko-KR" altLang="en-US" sz="1100" b="1" dirty="0">
                <a:solidFill>
                  <a:schemeClr val="bg1"/>
                </a:solidFill>
              </a:rPr>
              <a:t>보안</a:t>
            </a:r>
            <a:r>
              <a:rPr lang="en-US" altLang="ko-KR" sz="1100" b="1" dirty="0">
                <a:solidFill>
                  <a:schemeClr val="bg1"/>
                </a:solidFill>
              </a:rPr>
              <a:t>·</a:t>
            </a:r>
            <a:r>
              <a:rPr lang="ko-KR" altLang="en-US" sz="1100" b="1" dirty="0">
                <a:solidFill>
                  <a:schemeClr val="bg1"/>
                </a:solidFill>
              </a:rPr>
              <a:t>모니터링</a:t>
            </a:r>
          </a:p>
          <a:p>
            <a:r>
              <a:rPr lang="ko-KR" altLang="en-US" sz="1100" dirty="0">
                <a:solidFill>
                  <a:schemeClr val="bg1"/>
                </a:solidFill>
              </a:rPr>
              <a:t>서비스</a:t>
            </a:r>
            <a:r>
              <a:rPr lang="en-US" altLang="ko-KR" sz="1100" dirty="0">
                <a:solidFill>
                  <a:schemeClr val="bg1"/>
                </a:solidFill>
              </a:rPr>
              <a:t>:</a:t>
            </a:r>
          </a:p>
          <a:p>
            <a:r>
              <a:rPr lang="en-US" altLang="ko-KR" sz="1100" dirty="0">
                <a:solidFill>
                  <a:schemeClr val="bg1"/>
                </a:solidFill>
              </a:rPr>
              <a:t>-CloudWatch, CloudTrail, SNS </a:t>
            </a:r>
            <a:r>
              <a:rPr lang="ko-KR" altLang="en-US" sz="1100" dirty="0">
                <a:solidFill>
                  <a:schemeClr val="bg1"/>
                </a:solidFill>
              </a:rPr>
              <a:t>연계 알림</a:t>
            </a:r>
          </a:p>
          <a:p>
            <a:r>
              <a:rPr lang="en-US" altLang="ko-KR" sz="1100" dirty="0">
                <a:solidFill>
                  <a:schemeClr val="bg1"/>
                </a:solidFill>
              </a:rPr>
              <a:t>-AWS X-Ray, </a:t>
            </a:r>
            <a:r>
              <a:rPr lang="en-US" altLang="ko-KR" sz="1100" dirty="0" err="1">
                <a:solidFill>
                  <a:schemeClr val="bg1"/>
                </a:solidFill>
              </a:rPr>
              <a:t>GuardDuty</a:t>
            </a:r>
            <a:r>
              <a:rPr lang="en-US" altLang="ko-KR" sz="1100" dirty="0">
                <a:solidFill>
                  <a:schemeClr val="bg1"/>
                </a:solidFill>
              </a:rPr>
              <a:t>, Snapshot </a:t>
            </a:r>
            <a:r>
              <a:rPr lang="ko-KR" altLang="en-US" sz="1100" dirty="0">
                <a:solidFill>
                  <a:schemeClr val="bg1"/>
                </a:solidFill>
              </a:rPr>
              <a:t>통해 서비스 모니터링</a:t>
            </a:r>
            <a:r>
              <a:rPr lang="en-US" altLang="ko-KR" sz="1100" dirty="0">
                <a:solidFill>
                  <a:schemeClr val="bg1"/>
                </a:solidFill>
              </a:rPr>
              <a:t>·</a:t>
            </a:r>
            <a:r>
              <a:rPr lang="ko-KR" altLang="en-US" sz="1100" dirty="0">
                <a:solidFill>
                  <a:schemeClr val="bg1"/>
                </a:solidFill>
              </a:rPr>
              <a:t>백업</a:t>
            </a:r>
          </a:p>
          <a:p>
            <a:r>
              <a:rPr lang="ko-KR" altLang="en-US" sz="1100" dirty="0">
                <a:solidFill>
                  <a:schemeClr val="bg1"/>
                </a:solidFill>
              </a:rPr>
              <a:t>보안</a:t>
            </a:r>
            <a:r>
              <a:rPr lang="en-US" altLang="ko-KR" sz="1100" dirty="0">
                <a:solidFill>
                  <a:schemeClr val="bg1"/>
                </a:solidFill>
              </a:rPr>
              <a:t>·</a:t>
            </a:r>
            <a:r>
              <a:rPr lang="ko-KR" altLang="en-US" sz="1100" dirty="0">
                <a:solidFill>
                  <a:schemeClr val="bg1"/>
                </a:solidFill>
              </a:rPr>
              <a:t>권한 관리</a:t>
            </a:r>
            <a:r>
              <a:rPr lang="en-US" altLang="ko-KR" sz="1100" dirty="0">
                <a:solidFill>
                  <a:schemeClr val="bg1"/>
                </a:solidFill>
              </a:rPr>
              <a:t>:</a:t>
            </a:r>
          </a:p>
          <a:p>
            <a:r>
              <a:rPr lang="en-US" altLang="ko-KR" sz="1100" dirty="0">
                <a:solidFill>
                  <a:schemeClr val="bg1"/>
                </a:solidFill>
              </a:rPr>
              <a:t>-IAM, Prometheus </a:t>
            </a:r>
            <a:r>
              <a:rPr lang="ko-KR" altLang="en-US" sz="1100" dirty="0">
                <a:solidFill>
                  <a:schemeClr val="bg1"/>
                </a:solidFill>
              </a:rPr>
              <a:t>통해 권한 제어</a:t>
            </a:r>
            <a:r>
              <a:rPr lang="en-US" altLang="ko-KR" sz="1100" dirty="0">
                <a:solidFill>
                  <a:schemeClr val="bg1"/>
                </a:solidFill>
              </a:rPr>
              <a:t>·</a:t>
            </a:r>
            <a:r>
              <a:rPr lang="ko-KR" altLang="en-US" sz="1100" dirty="0">
                <a:solidFill>
                  <a:schemeClr val="bg1"/>
                </a:solidFill>
              </a:rPr>
              <a:t>실시간 성능 모니터링</a:t>
            </a:r>
          </a:p>
        </p:txBody>
      </p:sp>
    </p:spTree>
    <p:extLst>
      <p:ext uri="{BB962C8B-B14F-4D97-AF65-F5344CB8AC3E}">
        <p14:creationId xmlns:p14="http://schemas.microsoft.com/office/powerpoint/2010/main" val="1144369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25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A33107B7-D2C0-4478-8DEF-A419EC93A5D7}"/>
              </a:ext>
            </a:extLst>
          </p:cNvPr>
          <p:cNvSpPr txBox="1"/>
          <p:nvPr/>
        </p:nvSpPr>
        <p:spPr>
          <a:xfrm>
            <a:off x="455779" y="67699"/>
            <a:ext cx="4108787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rgbClr val="30AEA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Configuration diagram </a:t>
            </a:r>
          </a:p>
        </p:txBody>
      </p:sp>
      <p:sp>
        <p:nvSpPr>
          <p:cNvPr id="45" name="직사각형 34">
            <a:extLst>
              <a:ext uri="{FF2B5EF4-FFF2-40B4-BE49-F238E27FC236}">
                <a16:creationId xmlns:a16="http://schemas.microsoft.com/office/drawing/2014/main" id="{899A0B31-B7D0-4756-868D-4A73D517B1D0}"/>
              </a:ext>
            </a:extLst>
          </p:cNvPr>
          <p:cNvSpPr/>
          <p:nvPr/>
        </p:nvSpPr>
        <p:spPr>
          <a:xfrm>
            <a:off x="-1936" y="88168"/>
            <a:ext cx="528990" cy="482282"/>
          </a:xfrm>
          <a:custGeom>
            <a:avLst/>
            <a:gdLst>
              <a:gd name="connsiteX0" fmla="*/ 0 w 457715"/>
              <a:gd name="connsiteY0" fmla="*/ 0 h 482282"/>
              <a:gd name="connsiteX1" fmla="*/ 457715 w 457715"/>
              <a:gd name="connsiteY1" fmla="*/ 0 h 482282"/>
              <a:gd name="connsiteX2" fmla="*/ 457715 w 457715"/>
              <a:gd name="connsiteY2" fmla="*/ 482282 h 482282"/>
              <a:gd name="connsiteX3" fmla="*/ 0 w 457715"/>
              <a:gd name="connsiteY3" fmla="*/ 482282 h 482282"/>
              <a:gd name="connsiteX4" fmla="*/ 0 w 457715"/>
              <a:gd name="connsiteY4" fmla="*/ 0 h 482282"/>
              <a:gd name="connsiteX0" fmla="*/ 0 w 457715"/>
              <a:gd name="connsiteY0" fmla="*/ 0 h 482282"/>
              <a:gd name="connsiteX1" fmla="*/ 457715 w 457715"/>
              <a:gd name="connsiteY1" fmla="*/ 0 h 482282"/>
              <a:gd name="connsiteX2" fmla="*/ 387865 w 457715"/>
              <a:gd name="connsiteY2" fmla="*/ 480695 h 482282"/>
              <a:gd name="connsiteX3" fmla="*/ 0 w 457715"/>
              <a:gd name="connsiteY3" fmla="*/ 482282 h 482282"/>
              <a:gd name="connsiteX4" fmla="*/ 0 w 457715"/>
              <a:gd name="connsiteY4" fmla="*/ 0 h 482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715" h="482282">
                <a:moveTo>
                  <a:pt x="0" y="0"/>
                </a:moveTo>
                <a:lnTo>
                  <a:pt x="457715" y="0"/>
                </a:lnTo>
                <a:lnTo>
                  <a:pt x="387865" y="480695"/>
                </a:lnTo>
                <a:lnTo>
                  <a:pt x="0" y="482282"/>
                </a:lnTo>
                <a:lnTo>
                  <a:pt x="0" y="0"/>
                </a:lnTo>
                <a:close/>
              </a:path>
            </a:pathLst>
          </a:custGeom>
          <a:solidFill>
            <a:srgbClr val="30AE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73A051B-381C-4719-B9AE-C088908071CB}"/>
              </a:ext>
            </a:extLst>
          </p:cNvPr>
          <p:cNvSpPr txBox="1"/>
          <p:nvPr/>
        </p:nvSpPr>
        <p:spPr>
          <a:xfrm>
            <a:off x="475016" y="566130"/>
            <a:ext cx="5174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통합 구성도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798E529-C0D3-4EA9-B975-C452B0854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65" y="6417517"/>
            <a:ext cx="966068" cy="543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4176EF72-32BE-4DE2-9A08-D986947470A7}"/>
              </a:ext>
            </a:extLst>
          </p:cNvPr>
          <p:cNvSpPr/>
          <p:nvPr/>
        </p:nvSpPr>
        <p:spPr>
          <a:xfrm>
            <a:off x="7344937" y="1"/>
            <a:ext cx="4847063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50800" dist="63500" dir="10800000" algn="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BB0C429-52A7-4821-BFCC-E971046ADE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21" y="1124256"/>
            <a:ext cx="7058671" cy="460948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8E63A71-94B8-438C-AA8C-39092C15B961}"/>
              </a:ext>
            </a:extLst>
          </p:cNvPr>
          <p:cNvSpPr txBox="1"/>
          <p:nvPr/>
        </p:nvSpPr>
        <p:spPr>
          <a:xfrm>
            <a:off x="7467600" y="1508907"/>
            <a:ext cx="4356100" cy="5339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b="1" dirty="0">
                <a:solidFill>
                  <a:schemeClr val="bg1"/>
                </a:solidFill>
              </a:rPr>
              <a:t>클라우드 네트워크</a:t>
            </a:r>
          </a:p>
          <a:p>
            <a:r>
              <a:rPr lang="ko-KR" altLang="en-US" sz="1100" dirty="0">
                <a:solidFill>
                  <a:schemeClr val="bg1"/>
                </a:solidFill>
              </a:rPr>
              <a:t>외부 접근</a:t>
            </a:r>
            <a:endParaRPr lang="en-US" altLang="ko-KR" sz="1100" dirty="0">
              <a:solidFill>
                <a:schemeClr val="bg1"/>
              </a:solidFill>
            </a:endParaRPr>
          </a:p>
          <a:p>
            <a:r>
              <a:rPr lang="en-US" altLang="ko-KR" sz="1100" dirty="0">
                <a:solidFill>
                  <a:schemeClr val="bg1"/>
                </a:solidFill>
              </a:rPr>
              <a:t>-Route53, WAF, CloudFront </a:t>
            </a:r>
            <a:r>
              <a:rPr lang="ko-KR" altLang="en-US" sz="1100" dirty="0">
                <a:solidFill>
                  <a:schemeClr val="bg1"/>
                </a:solidFill>
              </a:rPr>
              <a:t>통해 외부 접속 제어</a:t>
            </a:r>
            <a:endParaRPr lang="en-US" altLang="ko-KR" sz="1100" dirty="0">
              <a:solidFill>
                <a:schemeClr val="bg1"/>
              </a:solidFill>
            </a:endParaRPr>
          </a:p>
          <a:p>
            <a:r>
              <a:rPr lang="en-US" altLang="ko-KR" sz="1100" dirty="0">
                <a:solidFill>
                  <a:schemeClr val="bg1"/>
                </a:solidFill>
              </a:rPr>
              <a:t>-API Gateway </a:t>
            </a:r>
            <a:r>
              <a:rPr lang="ko-KR" altLang="en-US" sz="1100" dirty="0">
                <a:solidFill>
                  <a:schemeClr val="bg1"/>
                </a:solidFill>
              </a:rPr>
              <a:t>통해 서비스 연계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bg1"/>
                </a:solidFill>
              </a:rPr>
              <a:t>네트워킹</a:t>
            </a:r>
            <a:endParaRPr lang="en-US" altLang="ko-KR" sz="1100" dirty="0">
              <a:solidFill>
                <a:schemeClr val="bg1"/>
              </a:solidFill>
            </a:endParaRPr>
          </a:p>
          <a:p>
            <a:r>
              <a:rPr lang="en-US" altLang="ko-KR" sz="1100" dirty="0">
                <a:solidFill>
                  <a:schemeClr val="bg1"/>
                </a:solidFill>
              </a:rPr>
              <a:t>-Public Subnet: NAT Gateway</a:t>
            </a:r>
          </a:p>
          <a:p>
            <a:r>
              <a:rPr lang="en-US" altLang="ko-KR" sz="1100" dirty="0">
                <a:solidFill>
                  <a:schemeClr val="bg1"/>
                </a:solidFill>
              </a:rPr>
              <a:t>-Private Subnet: EC2(</a:t>
            </a:r>
            <a:r>
              <a:rPr lang="ko-KR" altLang="en-US" sz="1100" dirty="0">
                <a:solidFill>
                  <a:schemeClr val="bg1"/>
                </a:solidFill>
              </a:rPr>
              <a:t>웹서버</a:t>
            </a:r>
            <a:r>
              <a:rPr lang="en-US" altLang="ko-KR" sz="1100" dirty="0">
                <a:solidFill>
                  <a:schemeClr val="bg1"/>
                </a:solidFill>
              </a:rPr>
              <a:t>, API</a:t>
            </a:r>
            <a:r>
              <a:rPr lang="ko-KR" altLang="en-US" sz="1100" dirty="0">
                <a:solidFill>
                  <a:schemeClr val="bg1"/>
                </a:solidFill>
              </a:rPr>
              <a:t>서버</a:t>
            </a:r>
            <a:r>
              <a:rPr lang="en-US" altLang="ko-KR" sz="1100" dirty="0">
                <a:solidFill>
                  <a:schemeClr val="bg1"/>
                </a:solidFill>
              </a:rPr>
              <a:t>), VPC </a:t>
            </a:r>
            <a:r>
              <a:rPr lang="ko-KR" altLang="en-US" sz="1100" dirty="0">
                <a:solidFill>
                  <a:schemeClr val="bg1"/>
                </a:solidFill>
              </a:rPr>
              <a:t>내 연계</a:t>
            </a:r>
            <a:endParaRPr lang="en-US" altLang="ko-KR" sz="1100" dirty="0">
              <a:solidFill>
                <a:schemeClr val="bg1"/>
              </a:solidFill>
            </a:endParaRPr>
          </a:p>
          <a:p>
            <a:r>
              <a:rPr lang="en-US" altLang="ko-KR" sz="1100" dirty="0">
                <a:solidFill>
                  <a:schemeClr val="bg1"/>
                </a:solidFill>
              </a:rPr>
              <a:t>-VPC Link </a:t>
            </a:r>
            <a:r>
              <a:rPr lang="ko-KR" altLang="en-US" sz="1100" dirty="0">
                <a:solidFill>
                  <a:schemeClr val="bg1"/>
                </a:solidFill>
              </a:rPr>
              <a:t>통해 외부</a:t>
            </a:r>
            <a:r>
              <a:rPr lang="en-US" altLang="ko-KR" sz="1100" dirty="0">
                <a:solidFill>
                  <a:schemeClr val="bg1"/>
                </a:solidFill>
              </a:rPr>
              <a:t>·</a:t>
            </a:r>
            <a:r>
              <a:rPr lang="ko-KR" altLang="en-US" sz="1100" dirty="0">
                <a:solidFill>
                  <a:schemeClr val="bg1"/>
                </a:solidFill>
              </a:rPr>
              <a:t>서비스 연계</a:t>
            </a:r>
            <a:endParaRPr lang="en-US" altLang="ko-KR" sz="1100" dirty="0">
              <a:solidFill>
                <a:schemeClr val="bg1"/>
              </a:solidFill>
            </a:endParaRPr>
          </a:p>
          <a:p>
            <a:endParaRPr lang="ko-KR" altLang="en-US" sz="1100" dirty="0">
              <a:solidFill>
                <a:schemeClr val="bg1"/>
              </a:solidFill>
            </a:endParaRPr>
          </a:p>
          <a:p>
            <a:r>
              <a:rPr lang="ko-KR" altLang="en-US" sz="1100" b="1" dirty="0">
                <a:solidFill>
                  <a:schemeClr val="bg1"/>
                </a:solidFill>
              </a:rPr>
              <a:t>서비스 레이어</a:t>
            </a:r>
          </a:p>
          <a:p>
            <a:r>
              <a:rPr lang="ko-KR" altLang="en-US" sz="1100" dirty="0" err="1">
                <a:solidFill>
                  <a:schemeClr val="bg1"/>
                </a:solidFill>
              </a:rPr>
              <a:t>엣지</a:t>
            </a:r>
            <a:r>
              <a:rPr lang="ko-KR" altLang="en-US" sz="1100" dirty="0">
                <a:solidFill>
                  <a:schemeClr val="bg1"/>
                </a:solidFill>
              </a:rPr>
              <a:t> 레이어</a:t>
            </a:r>
            <a:endParaRPr lang="en-US" altLang="ko-KR" sz="1100" dirty="0">
              <a:solidFill>
                <a:schemeClr val="bg1"/>
              </a:solidFill>
            </a:endParaRPr>
          </a:p>
          <a:p>
            <a:r>
              <a:rPr lang="en-US" altLang="ko-KR" sz="1100" dirty="0">
                <a:solidFill>
                  <a:schemeClr val="bg1"/>
                </a:solidFill>
              </a:rPr>
              <a:t>-OBU, RSU </a:t>
            </a:r>
            <a:r>
              <a:rPr lang="ko-KR" altLang="en-US" sz="1100" dirty="0">
                <a:solidFill>
                  <a:schemeClr val="bg1"/>
                </a:solidFill>
              </a:rPr>
              <a:t>통해 실시간 도로</a:t>
            </a:r>
            <a:r>
              <a:rPr lang="en-US" altLang="ko-KR" sz="1100" dirty="0">
                <a:solidFill>
                  <a:schemeClr val="bg1"/>
                </a:solidFill>
              </a:rPr>
              <a:t>·</a:t>
            </a:r>
            <a:r>
              <a:rPr lang="ko-KR" altLang="en-US" sz="1100" dirty="0">
                <a:solidFill>
                  <a:schemeClr val="bg1"/>
                </a:solidFill>
              </a:rPr>
              <a:t>환경 데이터 수집</a:t>
            </a:r>
          </a:p>
          <a:p>
            <a:r>
              <a:rPr lang="ko-KR" altLang="en-US" sz="1100" dirty="0">
                <a:solidFill>
                  <a:schemeClr val="bg1"/>
                </a:solidFill>
              </a:rPr>
              <a:t>서비스 연계 레이어</a:t>
            </a:r>
            <a:endParaRPr lang="en-US" altLang="ko-KR" sz="1100" dirty="0">
              <a:solidFill>
                <a:schemeClr val="bg1"/>
              </a:solidFill>
            </a:endParaRPr>
          </a:p>
          <a:p>
            <a:r>
              <a:rPr lang="en-US" altLang="ko-KR" sz="1100" dirty="0">
                <a:solidFill>
                  <a:schemeClr val="bg1"/>
                </a:solidFill>
              </a:rPr>
              <a:t>-WAS / API / V2X </a:t>
            </a:r>
            <a:r>
              <a:rPr lang="ko-KR" altLang="en-US" sz="1100" dirty="0">
                <a:solidFill>
                  <a:schemeClr val="bg1"/>
                </a:solidFill>
              </a:rPr>
              <a:t>실시간 연계 서비스</a:t>
            </a:r>
            <a:endParaRPr lang="en-US" altLang="ko-KR" sz="1100" dirty="0">
              <a:solidFill>
                <a:schemeClr val="bg1"/>
              </a:solidFill>
            </a:endParaRPr>
          </a:p>
          <a:p>
            <a:r>
              <a:rPr lang="en-US" altLang="ko-KR" sz="1100" dirty="0">
                <a:solidFill>
                  <a:schemeClr val="bg1"/>
                </a:solidFill>
              </a:rPr>
              <a:t>-Lambda </a:t>
            </a:r>
            <a:r>
              <a:rPr lang="ko-KR" altLang="en-US" sz="1100" dirty="0">
                <a:solidFill>
                  <a:schemeClr val="bg1"/>
                </a:solidFill>
              </a:rPr>
              <a:t>통해 비즈니스 로직 실행</a:t>
            </a:r>
            <a:endParaRPr lang="en-US" altLang="ko-KR" sz="1100" dirty="0">
              <a:solidFill>
                <a:schemeClr val="bg1"/>
              </a:solidFill>
            </a:endParaRPr>
          </a:p>
          <a:p>
            <a:r>
              <a:rPr lang="en-US" altLang="ko-KR" sz="1100" dirty="0">
                <a:solidFill>
                  <a:schemeClr val="bg1"/>
                </a:solidFill>
              </a:rPr>
              <a:t>-</a:t>
            </a:r>
            <a:r>
              <a:rPr lang="en-US" altLang="ko-KR" sz="1100" dirty="0" err="1">
                <a:solidFill>
                  <a:schemeClr val="bg1"/>
                </a:solidFill>
              </a:rPr>
              <a:t>SageMaker</a:t>
            </a:r>
            <a:r>
              <a:rPr lang="en-US" altLang="ko-KR" sz="1100" dirty="0">
                <a:solidFill>
                  <a:schemeClr val="bg1"/>
                </a:solidFill>
              </a:rPr>
              <a:t> </a:t>
            </a:r>
            <a:r>
              <a:rPr lang="ko-KR" altLang="en-US" sz="1100" dirty="0">
                <a:solidFill>
                  <a:schemeClr val="bg1"/>
                </a:solidFill>
              </a:rPr>
              <a:t>통해 </a:t>
            </a:r>
            <a:r>
              <a:rPr lang="en-US" altLang="ko-KR" sz="1100" dirty="0">
                <a:solidFill>
                  <a:schemeClr val="bg1"/>
                </a:solidFill>
              </a:rPr>
              <a:t>AI </a:t>
            </a:r>
            <a:r>
              <a:rPr lang="ko-KR" altLang="en-US" sz="1100" dirty="0">
                <a:solidFill>
                  <a:schemeClr val="bg1"/>
                </a:solidFill>
              </a:rPr>
              <a:t>모델 연계</a:t>
            </a:r>
            <a:endParaRPr lang="en-US" altLang="ko-KR" sz="1100" dirty="0">
              <a:solidFill>
                <a:schemeClr val="bg1"/>
              </a:solidFill>
            </a:endParaRPr>
          </a:p>
          <a:p>
            <a:endParaRPr lang="ko-KR" altLang="en-US" sz="1100" dirty="0">
              <a:solidFill>
                <a:schemeClr val="bg1"/>
              </a:solidFill>
            </a:endParaRPr>
          </a:p>
          <a:p>
            <a:r>
              <a:rPr lang="ko-KR" altLang="en-US" sz="1100" b="1" dirty="0">
                <a:solidFill>
                  <a:schemeClr val="bg1"/>
                </a:solidFill>
              </a:rPr>
              <a:t>데이터 저장소</a:t>
            </a:r>
          </a:p>
          <a:p>
            <a:r>
              <a:rPr lang="en-US" altLang="ko-KR" sz="1100" dirty="0">
                <a:solidFill>
                  <a:schemeClr val="bg1"/>
                </a:solidFill>
              </a:rPr>
              <a:t>-RDS (Master, Replica) </a:t>
            </a:r>
            <a:r>
              <a:rPr lang="ko-KR" altLang="en-US" sz="1100" dirty="0">
                <a:solidFill>
                  <a:schemeClr val="bg1"/>
                </a:solidFill>
              </a:rPr>
              <a:t>통해 핵심 데이터 저장</a:t>
            </a:r>
          </a:p>
          <a:p>
            <a:r>
              <a:rPr lang="en-US" altLang="ko-KR" sz="1100" dirty="0">
                <a:solidFill>
                  <a:schemeClr val="bg1"/>
                </a:solidFill>
              </a:rPr>
              <a:t>-</a:t>
            </a:r>
            <a:r>
              <a:rPr lang="en-US" altLang="ko-KR" sz="1100" dirty="0" err="1">
                <a:solidFill>
                  <a:schemeClr val="bg1"/>
                </a:solidFill>
              </a:rPr>
              <a:t>InfluxDB</a:t>
            </a:r>
            <a:r>
              <a:rPr lang="en-US" altLang="ko-KR" sz="1100" dirty="0">
                <a:solidFill>
                  <a:schemeClr val="bg1"/>
                </a:solidFill>
              </a:rPr>
              <a:t>, Redshift </a:t>
            </a:r>
            <a:r>
              <a:rPr lang="ko-KR" altLang="en-US" sz="1100" dirty="0">
                <a:solidFill>
                  <a:schemeClr val="bg1"/>
                </a:solidFill>
              </a:rPr>
              <a:t>통해 비정형</a:t>
            </a:r>
            <a:r>
              <a:rPr lang="en-US" altLang="ko-KR" sz="1100" dirty="0">
                <a:solidFill>
                  <a:schemeClr val="bg1"/>
                </a:solidFill>
              </a:rPr>
              <a:t>·</a:t>
            </a:r>
            <a:r>
              <a:rPr lang="ko-KR" altLang="en-US" sz="1100" dirty="0">
                <a:solidFill>
                  <a:schemeClr val="bg1"/>
                </a:solidFill>
              </a:rPr>
              <a:t>실시간 데이터 저장</a:t>
            </a:r>
          </a:p>
          <a:p>
            <a:r>
              <a:rPr lang="en-US" altLang="ko-KR" sz="1100" dirty="0">
                <a:solidFill>
                  <a:schemeClr val="bg1"/>
                </a:solidFill>
              </a:rPr>
              <a:t>-Amazon S3 </a:t>
            </a:r>
            <a:r>
              <a:rPr lang="ko-KR" altLang="en-US" sz="1100" dirty="0">
                <a:solidFill>
                  <a:schemeClr val="bg1"/>
                </a:solidFill>
              </a:rPr>
              <a:t>통해 대용량 파일</a:t>
            </a:r>
            <a:r>
              <a:rPr lang="en-US" altLang="ko-KR" sz="1100" dirty="0">
                <a:solidFill>
                  <a:schemeClr val="bg1"/>
                </a:solidFill>
              </a:rPr>
              <a:t>·</a:t>
            </a:r>
            <a:r>
              <a:rPr lang="ko-KR" altLang="en-US" sz="1100" dirty="0">
                <a:solidFill>
                  <a:schemeClr val="bg1"/>
                </a:solidFill>
              </a:rPr>
              <a:t>영상 저장</a:t>
            </a:r>
          </a:p>
          <a:p>
            <a:endParaRPr lang="en-US" altLang="ko-KR" sz="1100" dirty="0">
              <a:solidFill>
                <a:schemeClr val="bg1"/>
              </a:solidFill>
            </a:endParaRPr>
          </a:p>
          <a:p>
            <a:r>
              <a:rPr lang="ko-KR" altLang="en-US" sz="1100" b="1" dirty="0">
                <a:solidFill>
                  <a:schemeClr val="bg1"/>
                </a:solidFill>
              </a:rPr>
              <a:t>보안</a:t>
            </a:r>
            <a:r>
              <a:rPr lang="en-US" altLang="ko-KR" sz="1100" b="1" dirty="0">
                <a:solidFill>
                  <a:schemeClr val="bg1"/>
                </a:solidFill>
              </a:rPr>
              <a:t>·</a:t>
            </a:r>
            <a:r>
              <a:rPr lang="ko-KR" altLang="en-US" sz="1100" b="1" dirty="0">
                <a:solidFill>
                  <a:schemeClr val="bg1"/>
                </a:solidFill>
              </a:rPr>
              <a:t>모니터링</a:t>
            </a:r>
          </a:p>
          <a:p>
            <a:r>
              <a:rPr lang="en-US" altLang="ko-KR" sz="1100" dirty="0">
                <a:solidFill>
                  <a:schemeClr val="bg1"/>
                </a:solidFill>
              </a:rPr>
              <a:t>-IAM </a:t>
            </a:r>
            <a:r>
              <a:rPr lang="ko-KR" altLang="en-US" sz="1100" dirty="0">
                <a:solidFill>
                  <a:schemeClr val="bg1"/>
                </a:solidFill>
              </a:rPr>
              <a:t>통해 권한 제어</a:t>
            </a:r>
          </a:p>
          <a:p>
            <a:r>
              <a:rPr lang="en-US" altLang="ko-KR" sz="1100" dirty="0">
                <a:solidFill>
                  <a:schemeClr val="bg1"/>
                </a:solidFill>
              </a:rPr>
              <a:t>-CloudWatch, X-Ray, Prometheus </a:t>
            </a:r>
            <a:r>
              <a:rPr lang="ko-KR" altLang="en-US" sz="1100" dirty="0">
                <a:solidFill>
                  <a:schemeClr val="bg1"/>
                </a:solidFill>
              </a:rPr>
              <a:t>통해 서비스 성능</a:t>
            </a:r>
            <a:r>
              <a:rPr lang="en-US" altLang="ko-KR" sz="1100" dirty="0">
                <a:solidFill>
                  <a:schemeClr val="bg1"/>
                </a:solidFill>
              </a:rPr>
              <a:t>·</a:t>
            </a:r>
            <a:r>
              <a:rPr lang="ko-KR" altLang="en-US" sz="1100" dirty="0">
                <a:solidFill>
                  <a:schemeClr val="bg1"/>
                </a:solidFill>
              </a:rPr>
              <a:t>장애 모니터링</a:t>
            </a:r>
          </a:p>
          <a:p>
            <a:r>
              <a:rPr lang="en-US" altLang="ko-KR" sz="1100" dirty="0">
                <a:solidFill>
                  <a:schemeClr val="bg1"/>
                </a:solidFill>
              </a:rPr>
              <a:t>-AWS Health Dashboard, SNS </a:t>
            </a:r>
            <a:r>
              <a:rPr lang="ko-KR" altLang="en-US" sz="1100" dirty="0">
                <a:solidFill>
                  <a:schemeClr val="bg1"/>
                </a:solidFill>
              </a:rPr>
              <a:t>통해 사고 알림 연계</a:t>
            </a:r>
          </a:p>
          <a:p>
            <a:endParaRPr lang="en-US" altLang="ko-KR" sz="1100" dirty="0">
              <a:solidFill>
                <a:schemeClr val="bg1"/>
              </a:solidFill>
            </a:endParaRPr>
          </a:p>
          <a:p>
            <a:r>
              <a:rPr lang="ko-KR" altLang="en-US" sz="1100" b="1" dirty="0">
                <a:solidFill>
                  <a:schemeClr val="bg1"/>
                </a:solidFill>
              </a:rPr>
              <a:t>연계 서비스</a:t>
            </a:r>
          </a:p>
          <a:p>
            <a:r>
              <a:rPr lang="en-US" altLang="ko-KR" sz="1100" dirty="0">
                <a:solidFill>
                  <a:schemeClr val="bg1"/>
                </a:solidFill>
              </a:rPr>
              <a:t>-</a:t>
            </a:r>
            <a:r>
              <a:rPr lang="ko-KR" altLang="en-US" sz="1100" dirty="0">
                <a:solidFill>
                  <a:schemeClr val="bg1"/>
                </a:solidFill>
              </a:rPr>
              <a:t>외부 연계</a:t>
            </a:r>
            <a:r>
              <a:rPr lang="en-US" altLang="ko-KR" sz="1100" dirty="0">
                <a:solidFill>
                  <a:schemeClr val="bg1"/>
                </a:solidFill>
              </a:rPr>
              <a:t>: </a:t>
            </a:r>
            <a:r>
              <a:rPr lang="ko-KR" altLang="en-US" sz="1100" dirty="0">
                <a:solidFill>
                  <a:schemeClr val="bg1"/>
                </a:solidFill>
              </a:rPr>
              <a:t>경찰청</a:t>
            </a:r>
            <a:r>
              <a:rPr lang="en-US" altLang="ko-KR" sz="1100" dirty="0">
                <a:solidFill>
                  <a:schemeClr val="bg1"/>
                </a:solidFill>
              </a:rPr>
              <a:t>·</a:t>
            </a:r>
            <a:r>
              <a:rPr lang="ko-KR" altLang="en-US" sz="1100" dirty="0">
                <a:solidFill>
                  <a:schemeClr val="bg1"/>
                </a:solidFill>
              </a:rPr>
              <a:t>소방서</a:t>
            </a:r>
            <a:r>
              <a:rPr lang="en-US" altLang="ko-KR" sz="1100" dirty="0">
                <a:solidFill>
                  <a:schemeClr val="bg1"/>
                </a:solidFill>
              </a:rPr>
              <a:t>·</a:t>
            </a:r>
            <a:r>
              <a:rPr lang="ko-KR" altLang="en-US" sz="1100" dirty="0">
                <a:solidFill>
                  <a:schemeClr val="bg1"/>
                </a:solidFill>
              </a:rPr>
              <a:t>교통 관제 시스템</a:t>
            </a:r>
          </a:p>
          <a:p>
            <a:r>
              <a:rPr lang="en-US" altLang="ko-KR" sz="1100" dirty="0">
                <a:solidFill>
                  <a:schemeClr val="bg1"/>
                </a:solidFill>
              </a:rPr>
              <a:t>-</a:t>
            </a:r>
            <a:r>
              <a:rPr lang="ko-KR" altLang="en-US" sz="1100" dirty="0" err="1">
                <a:solidFill>
                  <a:schemeClr val="bg1"/>
                </a:solidFill>
              </a:rPr>
              <a:t>모빌리티</a:t>
            </a:r>
            <a:r>
              <a:rPr lang="ko-KR" altLang="en-US" sz="1100" dirty="0">
                <a:solidFill>
                  <a:schemeClr val="bg1"/>
                </a:solidFill>
              </a:rPr>
              <a:t> 연계</a:t>
            </a:r>
            <a:r>
              <a:rPr lang="en-US" altLang="ko-KR" sz="1100" dirty="0">
                <a:solidFill>
                  <a:schemeClr val="bg1"/>
                </a:solidFill>
              </a:rPr>
              <a:t>: </a:t>
            </a:r>
            <a:r>
              <a:rPr lang="ko-KR" altLang="en-US" sz="1100" dirty="0">
                <a:solidFill>
                  <a:schemeClr val="bg1"/>
                </a:solidFill>
              </a:rPr>
              <a:t>버스</a:t>
            </a:r>
            <a:r>
              <a:rPr lang="en-US" altLang="ko-KR" sz="1100" dirty="0">
                <a:solidFill>
                  <a:schemeClr val="bg1"/>
                </a:solidFill>
              </a:rPr>
              <a:t>·</a:t>
            </a:r>
            <a:r>
              <a:rPr lang="ko-KR" altLang="en-US" sz="1100" dirty="0">
                <a:solidFill>
                  <a:schemeClr val="bg1"/>
                </a:solidFill>
              </a:rPr>
              <a:t>택시</a:t>
            </a:r>
            <a:r>
              <a:rPr lang="en-US" altLang="ko-KR" sz="1100" dirty="0">
                <a:solidFill>
                  <a:schemeClr val="bg1"/>
                </a:solidFill>
              </a:rPr>
              <a:t>·</a:t>
            </a:r>
            <a:r>
              <a:rPr lang="ko-KR" altLang="en-US" sz="1100" dirty="0">
                <a:solidFill>
                  <a:schemeClr val="bg1"/>
                </a:solidFill>
              </a:rPr>
              <a:t>공유 서비스</a:t>
            </a:r>
          </a:p>
          <a:p>
            <a:r>
              <a:rPr lang="en-US" altLang="ko-KR" sz="1100" dirty="0">
                <a:solidFill>
                  <a:schemeClr val="bg1"/>
                </a:solidFill>
              </a:rPr>
              <a:t>-</a:t>
            </a:r>
            <a:r>
              <a:rPr lang="ko-KR" altLang="en-US" sz="1100" dirty="0">
                <a:solidFill>
                  <a:schemeClr val="bg1"/>
                </a:solidFill>
              </a:rPr>
              <a:t>스마트시티 연계</a:t>
            </a:r>
            <a:r>
              <a:rPr lang="en-US" altLang="ko-KR" sz="1100" dirty="0">
                <a:solidFill>
                  <a:schemeClr val="bg1"/>
                </a:solidFill>
              </a:rPr>
              <a:t>: </a:t>
            </a:r>
            <a:r>
              <a:rPr lang="ko-KR" altLang="en-US" sz="1100" dirty="0">
                <a:solidFill>
                  <a:schemeClr val="bg1"/>
                </a:solidFill>
              </a:rPr>
              <a:t>국토교통부</a:t>
            </a:r>
            <a:r>
              <a:rPr lang="en-US" altLang="ko-KR" sz="1100" dirty="0">
                <a:solidFill>
                  <a:schemeClr val="bg1"/>
                </a:solidFill>
              </a:rPr>
              <a:t>·</a:t>
            </a:r>
            <a:r>
              <a:rPr lang="ko-KR" altLang="en-US" sz="1100" dirty="0">
                <a:solidFill>
                  <a:schemeClr val="bg1"/>
                </a:solidFill>
              </a:rPr>
              <a:t>데이터 센터 연계</a:t>
            </a:r>
          </a:p>
        </p:txBody>
      </p:sp>
    </p:spTree>
    <p:extLst>
      <p:ext uri="{BB962C8B-B14F-4D97-AF65-F5344CB8AC3E}">
        <p14:creationId xmlns:p14="http://schemas.microsoft.com/office/powerpoint/2010/main" val="1697395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25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A33107B7-D2C0-4478-8DEF-A419EC93A5D7}"/>
              </a:ext>
            </a:extLst>
          </p:cNvPr>
          <p:cNvSpPr txBox="1"/>
          <p:nvPr/>
        </p:nvSpPr>
        <p:spPr>
          <a:xfrm>
            <a:off x="455779" y="67699"/>
            <a:ext cx="4108787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rgbClr val="30AEA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Service flow chart </a:t>
            </a:r>
          </a:p>
        </p:txBody>
      </p:sp>
      <p:sp>
        <p:nvSpPr>
          <p:cNvPr id="45" name="직사각형 34">
            <a:extLst>
              <a:ext uri="{FF2B5EF4-FFF2-40B4-BE49-F238E27FC236}">
                <a16:creationId xmlns:a16="http://schemas.microsoft.com/office/drawing/2014/main" id="{899A0B31-B7D0-4756-868D-4A73D517B1D0}"/>
              </a:ext>
            </a:extLst>
          </p:cNvPr>
          <p:cNvSpPr/>
          <p:nvPr/>
        </p:nvSpPr>
        <p:spPr>
          <a:xfrm>
            <a:off x="-1936" y="88168"/>
            <a:ext cx="528990" cy="482282"/>
          </a:xfrm>
          <a:custGeom>
            <a:avLst/>
            <a:gdLst>
              <a:gd name="connsiteX0" fmla="*/ 0 w 457715"/>
              <a:gd name="connsiteY0" fmla="*/ 0 h 482282"/>
              <a:gd name="connsiteX1" fmla="*/ 457715 w 457715"/>
              <a:gd name="connsiteY1" fmla="*/ 0 h 482282"/>
              <a:gd name="connsiteX2" fmla="*/ 457715 w 457715"/>
              <a:gd name="connsiteY2" fmla="*/ 482282 h 482282"/>
              <a:gd name="connsiteX3" fmla="*/ 0 w 457715"/>
              <a:gd name="connsiteY3" fmla="*/ 482282 h 482282"/>
              <a:gd name="connsiteX4" fmla="*/ 0 w 457715"/>
              <a:gd name="connsiteY4" fmla="*/ 0 h 482282"/>
              <a:gd name="connsiteX0" fmla="*/ 0 w 457715"/>
              <a:gd name="connsiteY0" fmla="*/ 0 h 482282"/>
              <a:gd name="connsiteX1" fmla="*/ 457715 w 457715"/>
              <a:gd name="connsiteY1" fmla="*/ 0 h 482282"/>
              <a:gd name="connsiteX2" fmla="*/ 387865 w 457715"/>
              <a:gd name="connsiteY2" fmla="*/ 480695 h 482282"/>
              <a:gd name="connsiteX3" fmla="*/ 0 w 457715"/>
              <a:gd name="connsiteY3" fmla="*/ 482282 h 482282"/>
              <a:gd name="connsiteX4" fmla="*/ 0 w 457715"/>
              <a:gd name="connsiteY4" fmla="*/ 0 h 482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715" h="482282">
                <a:moveTo>
                  <a:pt x="0" y="0"/>
                </a:moveTo>
                <a:lnTo>
                  <a:pt x="457715" y="0"/>
                </a:lnTo>
                <a:lnTo>
                  <a:pt x="387865" y="480695"/>
                </a:lnTo>
                <a:lnTo>
                  <a:pt x="0" y="482282"/>
                </a:lnTo>
                <a:lnTo>
                  <a:pt x="0" y="0"/>
                </a:lnTo>
                <a:close/>
              </a:path>
            </a:pathLst>
          </a:custGeom>
          <a:solidFill>
            <a:srgbClr val="30AE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73A051B-381C-4719-B9AE-C088908071CB}"/>
              </a:ext>
            </a:extLst>
          </p:cNvPr>
          <p:cNvSpPr txBox="1"/>
          <p:nvPr/>
        </p:nvSpPr>
        <p:spPr>
          <a:xfrm>
            <a:off x="475016" y="566130"/>
            <a:ext cx="5174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서비스 흐름도 사용자 설정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FE99C64-8280-4314-B86C-A35BB014291F}"/>
              </a:ext>
            </a:extLst>
          </p:cNvPr>
          <p:cNvSpPr/>
          <p:nvPr/>
        </p:nvSpPr>
        <p:spPr>
          <a:xfrm rot="10800000" flipV="1">
            <a:off x="5021765" y="3078160"/>
            <a:ext cx="2148468" cy="543317"/>
          </a:xfrm>
          <a:prstGeom prst="roundRect">
            <a:avLst>
              <a:gd name="adj" fmla="val 50000"/>
            </a:avLst>
          </a:prstGeom>
          <a:solidFill>
            <a:srgbClr val="30AE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긴급대응 기관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D15A418-2E61-4447-90EC-2AE1B3280969}"/>
              </a:ext>
            </a:extLst>
          </p:cNvPr>
          <p:cNvSpPr/>
          <p:nvPr/>
        </p:nvSpPr>
        <p:spPr>
          <a:xfrm rot="10800000" flipV="1">
            <a:off x="2572213" y="3078159"/>
            <a:ext cx="2148468" cy="543317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교통 관제센터 관리자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FEC0979-0F08-4B27-A200-9D2015DB3E50}"/>
              </a:ext>
            </a:extLst>
          </p:cNvPr>
          <p:cNvSpPr/>
          <p:nvPr/>
        </p:nvSpPr>
        <p:spPr>
          <a:xfrm rot="10800000" flipV="1">
            <a:off x="7424851" y="3074810"/>
            <a:ext cx="2148468" cy="543317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지자체</a:t>
            </a:r>
            <a:endParaRPr lang="en-US" altLang="ko-KR" sz="1400" b="1" dirty="0"/>
          </a:p>
          <a:p>
            <a:pPr algn="ctr"/>
            <a:r>
              <a:rPr lang="ko-KR" altLang="en-US" sz="1400" b="1" dirty="0"/>
              <a:t>교통 정책 담당자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D385F16-820F-4C5F-998C-17F14357A0F9}"/>
              </a:ext>
            </a:extLst>
          </p:cNvPr>
          <p:cNvSpPr/>
          <p:nvPr/>
        </p:nvSpPr>
        <p:spPr>
          <a:xfrm>
            <a:off x="492044" y="1297184"/>
            <a:ext cx="1475679" cy="144158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sx="101000" sy="101000" algn="tl" rotWithShape="0">
              <a:prstClr val="black">
                <a:alpha val="8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B23C643-93FF-4991-8F73-50EAAA6B3EC3}"/>
              </a:ext>
            </a:extLst>
          </p:cNvPr>
          <p:cNvSpPr/>
          <p:nvPr/>
        </p:nvSpPr>
        <p:spPr>
          <a:xfrm rot="10800000" flipV="1">
            <a:off x="9827935" y="3065939"/>
            <a:ext cx="2148468" cy="543317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 err="1"/>
              <a:t>모빌리티</a:t>
            </a:r>
            <a:r>
              <a:rPr lang="ko-KR" altLang="en-US" sz="1400" b="1" dirty="0"/>
              <a:t> 파트너사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BC9C57F-B5D6-4154-923E-87857410284B}"/>
              </a:ext>
            </a:extLst>
          </p:cNvPr>
          <p:cNvSpPr/>
          <p:nvPr/>
        </p:nvSpPr>
        <p:spPr>
          <a:xfrm rot="10800000" flipV="1">
            <a:off x="122661" y="3074809"/>
            <a:ext cx="2148468" cy="543317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/>
              <a:t>일반시민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F781B08-4C38-487C-A398-DD1317131FB4}"/>
              </a:ext>
            </a:extLst>
          </p:cNvPr>
          <p:cNvSpPr/>
          <p:nvPr/>
        </p:nvSpPr>
        <p:spPr>
          <a:xfrm>
            <a:off x="7763105" y="1300989"/>
            <a:ext cx="1475679" cy="144158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sx="101000" sy="101000" algn="tl" rotWithShape="0">
              <a:prstClr val="black">
                <a:alpha val="8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303BD98-9F98-4E0B-874D-9C6203B3E831}"/>
              </a:ext>
            </a:extLst>
          </p:cNvPr>
          <p:cNvSpPr/>
          <p:nvPr/>
        </p:nvSpPr>
        <p:spPr>
          <a:xfrm>
            <a:off x="2908607" y="1297186"/>
            <a:ext cx="1475679" cy="144158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sx="101000" sy="101000" algn="tl" rotWithShape="0">
              <a:prstClr val="black">
                <a:alpha val="8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DA167D8-306F-4A94-BCE8-BEEF3CC145B4}"/>
              </a:ext>
            </a:extLst>
          </p:cNvPr>
          <p:cNvSpPr/>
          <p:nvPr/>
        </p:nvSpPr>
        <p:spPr>
          <a:xfrm>
            <a:off x="5358159" y="1297185"/>
            <a:ext cx="1475679" cy="1441585"/>
          </a:xfrm>
          <a:prstGeom prst="rect">
            <a:avLst/>
          </a:prstGeom>
          <a:solidFill>
            <a:srgbClr val="30AEAA"/>
          </a:solidFill>
          <a:ln>
            <a:noFill/>
          </a:ln>
          <a:effectLst>
            <a:outerShdw blurRad="50800" dist="38100" dir="2700000" sx="101000" sy="101000" algn="tl" rotWithShape="0">
              <a:schemeClr val="tx1">
                <a:lumMod val="50000"/>
                <a:lumOff val="50000"/>
                <a:alpha val="8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AD2F6B6-F8B3-4D9E-B7F6-61504533B1E6}"/>
              </a:ext>
            </a:extLst>
          </p:cNvPr>
          <p:cNvSpPr/>
          <p:nvPr/>
        </p:nvSpPr>
        <p:spPr>
          <a:xfrm>
            <a:off x="10168051" y="1297185"/>
            <a:ext cx="1475679" cy="144158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sx="101000" sy="101000" algn="tl" rotWithShape="0">
              <a:prstClr val="black">
                <a:alpha val="8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9BBF2A7-1188-4245-BAF8-85FBDC91B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49" y="1550270"/>
            <a:ext cx="952500" cy="95250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18ABA136-D588-4F57-B9FA-C8EA3C8444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0196" y="1552129"/>
            <a:ext cx="952500" cy="952500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77FAFBDA-A66B-4492-97F7-E85D6ADA0D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2835" y="1550270"/>
            <a:ext cx="952500" cy="95250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8A2BDE53-1E56-4229-B2F6-D4D64CEEE7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006" y="1541727"/>
            <a:ext cx="952500" cy="952500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883CA483-D691-4B16-A259-A9B477CE38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5919" y="1541727"/>
            <a:ext cx="952500" cy="952500"/>
          </a:xfrm>
          <a:prstGeom prst="rect">
            <a:avLst/>
          </a:prstGeom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A1CCAB53-B8FD-4783-8BB8-53311562EE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65" y="6417517"/>
            <a:ext cx="966068" cy="543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793BFC1-4C97-4793-8061-37CF073A9D4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22660" y="3830437"/>
            <a:ext cx="2148467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설명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ko-KR" sz="1000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-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ITS 서비스를 직접 이용하는 주체로, 도로 주행, 대중교통 이용, 공유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모빌리티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 호출 등을 수행함.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기능 예시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-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실시간 교통 정보 확인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-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최적 경로 탐색 및 네비게이션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-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대중교통·공유모빌리티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 통합 예약 (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MaaS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-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혼잡 구간 우회 안내, 정체 경고 수신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설정 목적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ko-KR" sz="1000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-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개인화된 교통정보 제공, 편리한 통합 이동수단 이용,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사고·위험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 상황에 대한 빠른 대응 유도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584511A-C7E3-4C1E-AA6B-28EF61C37480}"/>
              </a:ext>
            </a:extLst>
          </p:cNvPr>
          <p:cNvSpPr txBox="1"/>
          <p:nvPr/>
        </p:nvSpPr>
        <p:spPr>
          <a:xfrm>
            <a:off x="2478278" y="3830437"/>
            <a:ext cx="233633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설명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</a:p>
          <a:p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-ITS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인프라 운영 및 교통 흐름을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실시간으로 모니터링하고 제어하는 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주체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기능 예시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</a:p>
          <a:p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-CCTV/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센서 기반 도로상황 감시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신호제어 시스템 운영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-AI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기반 혼잡 예측 및 해소 방안 적용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긴급차량 우선 신호 설정</a:t>
            </a:r>
          </a:p>
          <a:p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설정 목적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</a:p>
          <a:p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도시 전역의 교통 흐름 안정화 및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실시간 대응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효율적 인프라 운영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28ADAA-413D-4744-8A3E-55F5D12AF28B}"/>
              </a:ext>
            </a:extLst>
          </p:cNvPr>
          <p:cNvSpPr txBox="1"/>
          <p:nvPr/>
        </p:nvSpPr>
        <p:spPr>
          <a:xfrm>
            <a:off x="5021764" y="3830437"/>
            <a:ext cx="2148469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설명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</a:p>
          <a:p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사고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·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재난 발생 시 신속한 출동과 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대응을 담당하는 기관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기능 예시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</a:p>
          <a:p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사고 발생 알림 수신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최단 경로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신호 우선 설정 요청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현장 도착 예상 시간 공유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관제센터 연계 대응</a:t>
            </a:r>
          </a:p>
          <a:p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설정 목적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</a:p>
          <a:p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사고 </a:t>
            </a:r>
            <a:r>
              <a:rPr lang="ko-KR" alt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골든타임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확보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출동 지연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최소화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생명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·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자산 보호 강화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325F7F2-3508-48F6-AEFF-C7E160878C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4851" y="3753493"/>
            <a:ext cx="2148468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설명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ko-KR" sz="1000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-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지역 교통 정책 수립, 평가, </a:t>
            </a:r>
            <a:endParaRPr kumimoji="0" lang="en-US" altLang="ko-KR" sz="1000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도시계획 연계 분석 등을 담당하는 </a:t>
            </a:r>
            <a:endParaRPr kumimoji="0" lang="en-US" altLang="ko-KR" sz="1000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공공 부문 사용자.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기능 예시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-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교통량, 혼잡도, 이동 패턴 데이터 </a:t>
            </a:r>
            <a:endParaRPr kumimoji="0" lang="en-US" altLang="ko-KR" sz="1000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분석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-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환경/교통사고 통계 기반 정책 수립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-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ITS 도입 효과 분석 리포트 활용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설정 목적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: </a:t>
            </a:r>
            <a:endParaRPr kumimoji="0" lang="en-US" altLang="ko-KR" sz="1000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-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데이터 기반의 교통정책 수립 및 </a:t>
            </a:r>
            <a:endParaRPr kumimoji="0" lang="en-US" altLang="ko-KR" sz="1000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개선, 지속 가능한 도시교통 구축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14B241B0-D655-4D85-90D8-0A0C3F7A19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7935" y="3753493"/>
            <a:ext cx="2148468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설명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: </a:t>
            </a:r>
            <a:endParaRPr kumimoji="0" lang="en-US" altLang="ko-KR" sz="1000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-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ITS 시스템과 연동되어 서비스를</a:t>
            </a:r>
            <a:endParaRPr kumimoji="0" lang="en-US" altLang="ko-KR" sz="1000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제공하는 민간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모빌리티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 기업 및</a:t>
            </a:r>
            <a:endParaRPr kumimoji="0" lang="en-US" altLang="ko-KR" sz="1000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운영 주체.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기능 예시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-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교통 데이터 공유 및 수신 (예: </a:t>
            </a:r>
            <a:endParaRPr kumimoji="0" lang="en-US" altLang="ko-KR" sz="1000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정체구간 회피)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-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위치정보 기반 운행 최적화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-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차량 실시간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위치·승객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 수 공유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-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MaaS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 통합 시스템 연계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설정 목적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ko-KR" sz="1000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-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민관 협력 기반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모빌리티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 혁신, </a:t>
            </a:r>
            <a:endParaRPr kumimoji="0" lang="en-US" altLang="ko-KR" sz="1000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서비스 질 향상 및 도시 이동 효율 </a:t>
            </a:r>
            <a:endParaRPr kumimoji="0" lang="en-US" altLang="ko-KR" sz="1000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극대화</a:t>
            </a:r>
          </a:p>
        </p:txBody>
      </p:sp>
    </p:spTree>
    <p:extLst>
      <p:ext uri="{BB962C8B-B14F-4D97-AF65-F5344CB8AC3E}">
        <p14:creationId xmlns:p14="http://schemas.microsoft.com/office/powerpoint/2010/main" val="31220971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5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91B4E84D-AB47-464B-8776-825E6DA3D071}"/>
              </a:ext>
            </a:extLst>
          </p:cNvPr>
          <p:cNvSpPr/>
          <p:nvPr/>
        </p:nvSpPr>
        <p:spPr>
          <a:xfrm>
            <a:off x="7344937" y="1"/>
            <a:ext cx="4847063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50800" dist="63500" dir="10800000" algn="r" rotWithShape="0">
              <a:schemeClr val="tx1">
                <a:lumMod val="75000"/>
                <a:lumOff val="2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33107B7-D2C0-4478-8DEF-A419EC93A5D7}"/>
              </a:ext>
            </a:extLst>
          </p:cNvPr>
          <p:cNvSpPr txBox="1"/>
          <p:nvPr/>
        </p:nvSpPr>
        <p:spPr>
          <a:xfrm>
            <a:off x="455779" y="67699"/>
            <a:ext cx="4108787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rgbClr val="30AEA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Service flow chart </a:t>
            </a:r>
          </a:p>
        </p:txBody>
      </p:sp>
      <p:sp>
        <p:nvSpPr>
          <p:cNvPr id="45" name="직사각형 34">
            <a:extLst>
              <a:ext uri="{FF2B5EF4-FFF2-40B4-BE49-F238E27FC236}">
                <a16:creationId xmlns:a16="http://schemas.microsoft.com/office/drawing/2014/main" id="{899A0B31-B7D0-4756-868D-4A73D517B1D0}"/>
              </a:ext>
            </a:extLst>
          </p:cNvPr>
          <p:cNvSpPr/>
          <p:nvPr/>
        </p:nvSpPr>
        <p:spPr>
          <a:xfrm>
            <a:off x="-1936" y="88168"/>
            <a:ext cx="528990" cy="482282"/>
          </a:xfrm>
          <a:custGeom>
            <a:avLst/>
            <a:gdLst>
              <a:gd name="connsiteX0" fmla="*/ 0 w 457715"/>
              <a:gd name="connsiteY0" fmla="*/ 0 h 482282"/>
              <a:gd name="connsiteX1" fmla="*/ 457715 w 457715"/>
              <a:gd name="connsiteY1" fmla="*/ 0 h 482282"/>
              <a:gd name="connsiteX2" fmla="*/ 457715 w 457715"/>
              <a:gd name="connsiteY2" fmla="*/ 482282 h 482282"/>
              <a:gd name="connsiteX3" fmla="*/ 0 w 457715"/>
              <a:gd name="connsiteY3" fmla="*/ 482282 h 482282"/>
              <a:gd name="connsiteX4" fmla="*/ 0 w 457715"/>
              <a:gd name="connsiteY4" fmla="*/ 0 h 482282"/>
              <a:gd name="connsiteX0" fmla="*/ 0 w 457715"/>
              <a:gd name="connsiteY0" fmla="*/ 0 h 482282"/>
              <a:gd name="connsiteX1" fmla="*/ 457715 w 457715"/>
              <a:gd name="connsiteY1" fmla="*/ 0 h 482282"/>
              <a:gd name="connsiteX2" fmla="*/ 387865 w 457715"/>
              <a:gd name="connsiteY2" fmla="*/ 480695 h 482282"/>
              <a:gd name="connsiteX3" fmla="*/ 0 w 457715"/>
              <a:gd name="connsiteY3" fmla="*/ 482282 h 482282"/>
              <a:gd name="connsiteX4" fmla="*/ 0 w 457715"/>
              <a:gd name="connsiteY4" fmla="*/ 0 h 482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715" h="482282">
                <a:moveTo>
                  <a:pt x="0" y="0"/>
                </a:moveTo>
                <a:lnTo>
                  <a:pt x="457715" y="0"/>
                </a:lnTo>
                <a:lnTo>
                  <a:pt x="387865" y="480695"/>
                </a:lnTo>
                <a:lnTo>
                  <a:pt x="0" y="482282"/>
                </a:lnTo>
                <a:lnTo>
                  <a:pt x="0" y="0"/>
                </a:lnTo>
                <a:close/>
              </a:path>
            </a:pathLst>
          </a:custGeom>
          <a:solidFill>
            <a:srgbClr val="30AE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73A051B-381C-4719-B9AE-C088908071CB}"/>
              </a:ext>
            </a:extLst>
          </p:cNvPr>
          <p:cNvSpPr txBox="1"/>
          <p:nvPr/>
        </p:nvSpPr>
        <p:spPr>
          <a:xfrm>
            <a:off x="475016" y="566130"/>
            <a:ext cx="5174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서비스 흐름도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7D68E8-58FE-46F1-909E-440C3308F71F}"/>
              </a:ext>
            </a:extLst>
          </p:cNvPr>
          <p:cNvSpPr txBox="1"/>
          <p:nvPr/>
        </p:nvSpPr>
        <p:spPr>
          <a:xfrm>
            <a:off x="7508486" y="2465553"/>
            <a:ext cx="1427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</a:rPr>
              <a:t>역할별 분리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07CEA5-0244-416E-8ED7-EB829CD46E64}"/>
              </a:ext>
            </a:extLst>
          </p:cNvPr>
          <p:cNvSpPr txBox="1"/>
          <p:nvPr/>
        </p:nvSpPr>
        <p:spPr>
          <a:xfrm>
            <a:off x="7508486" y="2834884"/>
            <a:ext cx="428207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</a:rPr>
              <a:t>-</a:t>
            </a:r>
            <a:r>
              <a:rPr lang="ko-KR" altLang="en-US" sz="1400" b="1" dirty="0">
                <a:solidFill>
                  <a:schemeClr val="bg1"/>
                </a:solidFill>
              </a:rPr>
              <a:t>일반 시민</a:t>
            </a:r>
            <a:r>
              <a:rPr lang="en-US" altLang="ko-KR" sz="1400" b="1" dirty="0">
                <a:solidFill>
                  <a:schemeClr val="bg1"/>
                </a:solidFill>
              </a:rPr>
              <a:t>-</a:t>
            </a:r>
            <a:r>
              <a:rPr lang="ko-KR" altLang="en-US" sz="1400" dirty="0">
                <a:solidFill>
                  <a:schemeClr val="bg1"/>
                </a:solidFill>
              </a:rPr>
              <a:t>탐색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ko-KR" altLang="en-US" sz="1400" dirty="0">
                <a:solidFill>
                  <a:schemeClr val="bg1"/>
                </a:solidFill>
              </a:rPr>
              <a:t>정보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ko-KR" altLang="en-US" sz="1400" dirty="0">
                <a:solidFill>
                  <a:schemeClr val="bg1"/>
                </a:solidFill>
              </a:rPr>
              <a:t>이용 중심</a:t>
            </a:r>
            <a:endParaRPr lang="en-US" altLang="ko-KR" sz="1400" dirty="0">
              <a:solidFill>
                <a:schemeClr val="bg1"/>
              </a:solidFill>
            </a:endParaRPr>
          </a:p>
          <a:p>
            <a:endParaRPr lang="en-US" altLang="ko-KR" sz="1400" b="1" dirty="0">
              <a:solidFill>
                <a:schemeClr val="bg1"/>
              </a:solidFill>
            </a:endParaRPr>
          </a:p>
          <a:p>
            <a:r>
              <a:rPr lang="en-US" altLang="ko-KR" sz="1400" b="1" dirty="0">
                <a:solidFill>
                  <a:schemeClr val="bg1"/>
                </a:solidFill>
              </a:rPr>
              <a:t>-</a:t>
            </a:r>
            <a:r>
              <a:rPr lang="ko-KR" altLang="en-US" sz="1400" b="1" dirty="0">
                <a:solidFill>
                  <a:schemeClr val="bg1"/>
                </a:solidFill>
              </a:rPr>
              <a:t>긴급대응기관</a:t>
            </a:r>
            <a:r>
              <a:rPr lang="en-US" altLang="ko-KR" sz="1400" b="1" dirty="0">
                <a:solidFill>
                  <a:schemeClr val="bg1"/>
                </a:solidFill>
              </a:rPr>
              <a:t>-</a:t>
            </a:r>
            <a:r>
              <a:rPr lang="ko-KR" altLang="en-US" sz="1400" dirty="0">
                <a:solidFill>
                  <a:schemeClr val="bg1"/>
                </a:solidFill>
              </a:rPr>
              <a:t>감지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ko-KR" altLang="en-US" sz="1400" dirty="0">
                <a:solidFill>
                  <a:schemeClr val="bg1"/>
                </a:solidFill>
              </a:rPr>
              <a:t>알림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ko-KR" altLang="en-US" sz="1400" dirty="0">
                <a:solidFill>
                  <a:schemeClr val="bg1"/>
                </a:solidFill>
              </a:rPr>
              <a:t>현황 중심</a:t>
            </a:r>
            <a:endParaRPr lang="en-US" altLang="ko-KR" sz="1400" dirty="0">
              <a:solidFill>
                <a:schemeClr val="bg1"/>
              </a:solidFill>
            </a:endParaRPr>
          </a:p>
          <a:p>
            <a:endParaRPr lang="en-US" altLang="ko-KR" sz="1400" b="1" dirty="0">
              <a:solidFill>
                <a:schemeClr val="bg1"/>
              </a:solidFill>
            </a:endParaRPr>
          </a:p>
          <a:p>
            <a:r>
              <a:rPr lang="en-US" altLang="ko-KR" sz="1400" b="1" dirty="0">
                <a:solidFill>
                  <a:schemeClr val="bg1"/>
                </a:solidFill>
              </a:rPr>
              <a:t>-</a:t>
            </a:r>
            <a:r>
              <a:rPr lang="ko-KR" altLang="en-US" sz="1400" b="1" dirty="0">
                <a:solidFill>
                  <a:schemeClr val="bg1"/>
                </a:solidFill>
              </a:rPr>
              <a:t>지자체 교통 정책 담당자</a:t>
            </a:r>
            <a:r>
              <a:rPr lang="en-US" altLang="ko-KR" sz="1400" b="1" dirty="0">
                <a:solidFill>
                  <a:schemeClr val="bg1"/>
                </a:solidFill>
              </a:rPr>
              <a:t>-</a:t>
            </a:r>
            <a:r>
              <a:rPr lang="ko-KR" altLang="en-US" sz="1400" dirty="0">
                <a:solidFill>
                  <a:schemeClr val="bg1"/>
                </a:solidFill>
              </a:rPr>
              <a:t>제보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ko-KR" altLang="en-US" sz="1400" dirty="0">
                <a:solidFill>
                  <a:schemeClr val="bg1"/>
                </a:solidFill>
              </a:rPr>
              <a:t>시나리오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ko-KR" altLang="en-US" sz="1400" dirty="0">
                <a:solidFill>
                  <a:schemeClr val="bg1"/>
                </a:solidFill>
              </a:rPr>
              <a:t>분석 중심</a:t>
            </a:r>
            <a:endParaRPr lang="en-US" altLang="ko-KR" sz="1400" dirty="0">
              <a:solidFill>
                <a:schemeClr val="bg1"/>
              </a:solidFill>
            </a:endParaRPr>
          </a:p>
          <a:p>
            <a:endParaRPr lang="en-US" altLang="ko-KR" sz="1400" b="1" dirty="0">
              <a:solidFill>
                <a:schemeClr val="bg1"/>
              </a:solidFill>
            </a:endParaRPr>
          </a:p>
          <a:p>
            <a:r>
              <a:rPr lang="ko-KR" altLang="en-US" sz="1400" b="1" dirty="0">
                <a:solidFill>
                  <a:schemeClr val="bg1"/>
                </a:solidFill>
              </a:rPr>
              <a:t>교통 관제센터 관리자</a:t>
            </a:r>
            <a:r>
              <a:rPr lang="en-US" altLang="ko-KR" sz="1400" b="1" dirty="0">
                <a:solidFill>
                  <a:schemeClr val="bg1"/>
                </a:solidFill>
              </a:rPr>
              <a:t>-</a:t>
            </a:r>
            <a:r>
              <a:rPr lang="ko-KR" altLang="en-US" sz="1400" dirty="0">
                <a:solidFill>
                  <a:schemeClr val="bg1"/>
                </a:solidFill>
              </a:rPr>
              <a:t>혼잡도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ko-KR" altLang="en-US" sz="1400" dirty="0">
                <a:solidFill>
                  <a:schemeClr val="bg1"/>
                </a:solidFill>
              </a:rPr>
              <a:t>알림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ko-KR" altLang="en-US" sz="1400" dirty="0">
                <a:solidFill>
                  <a:schemeClr val="bg1"/>
                </a:solidFill>
              </a:rPr>
              <a:t>통계 중심</a:t>
            </a:r>
            <a:endParaRPr lang="en-US" altLang="ko-KR" sz="1400" dirty="0">
              <a:solidFill>
                <a:schemeClr val="bg1"/>
              </a:solidFill>
            </a:endParaRPr>
          </a:p>
          <a:p>
            <a:endParaRPr lang="en-US" altLang="ko-KR" sz="1400" b="1" dirty="0">
              <a:solidFill>
                <a:schemeClr val="bg1"/>
              </a:solidFill>
            </a:endParaRPr>
          </a:p>
          <a:p>
            <a:r>
              <a:rPr lang="ko-KR" altLang="en-US" sz="1400" b="1" dirty="0" err="1">
                <a:solidFill>
                  <a:schemeClr val="bg1"/>
                </a:solidFill>
              </a:rPr>
              <a:t>모빌리티</a:t>
            </a:r>
            <a:r>
              <a:rPr lang="ko-KR" altLang="en-US" sz="1400" b="1" dirty="0">
                <a:solidFill>
                  <a:schemeClr val="bg1"/>
                </a:solidFill>
              </a:rPr>
              <a:t> 파트너사</a:t>
            </a:r>
            <a:r>
              <a:rPr lang="en-US" altLang="ko-KR" sz="1400" b="1" dirty="0">
                <a:solidFill>
                  <a:schemeClr val="bg1"/>
                </a:solidFill>
              </a:rPr>
              <a:t>-</a:t>
            </a:r>
            <a:r>
              <a:rPr lang="ko-KR" altLang="en-US" sz="1400" dirty="0">
                <a:solidFill>
                  <a:schemeClr val="bg1"/>
                </a:solidFill>
              </a:rPr>
              <a:t>정보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ko-KR" altLang="en-US" sz="1400" dirty="0">
                <a:solidFill>
                  <a:schemeClr val="bg1"/>
                </a:solidFill>
              </a:rPr>
              <a:t>실시간 추적 중심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E14201ED-6223-4A96-A734-E273420F7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65" y="6417517"/>
            <a:ext cx="966068" cy="543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618672F3-5862-49EC-A0FC-B8E558045A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223" y="498431"/>
            <a:ext cx="4629222" cy="629187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B0B9399-CEF9-4F33-956D-5D8FCC2427DE}"/>
              </a:ext>
            </a:extLst>
          </p:cNvPr>
          <p:cNvSpPr txBox="1"/>
          <p:nvPr/>
        </p:nvSpPr>
        <p:spPr>
          <a:xfrm>
            <a:off x="7508486" y="5363980"/>
            <a:ext cx="1427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</a:rPr>
              <a:t>흐름도 특징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705542-6C7E-4C2F-BCBE-EB9B4AD96A4A}"/>
              </a:ext>
            </a:extLst>
          </p:cNvPr>
          <p:cNvSpPr txBox="1"/>
          <p:nvPr/>
        </p:nvSpPr>
        <p:spPr>
          <a:xfrm>
            <a:off x="7508486" y="5733312"/>
            <a:ext cx="43935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</a:rPr>
              <a:t>서비스를 표와 같이 </a:t>
            </a:r>
            <a:r>
              <a:rPr lang="ko-KR" altLang="en-US" sz="1400" b="1" dirty="0">
                <a:solidFill>
                  <a:schemeClr val="bg1"/>
                </a:solidFill>
              </a:rPr>
              <a:t>사용자</a:t>
            </a:r>
            <a:r>
              <a:rPr lang="en-US" altLang="ko-KR" sz="1400" b="1" dirty="0">
                <a:solidFill>
                  <a:schemeClr val="bg1"/>
                </a:solidFill>
              </a:rPr>
              <a:t>, </a:t>
            </a:r>
            <a:r>
              <a:rPr lang="ko-KR" altLang="en-US" sz="1400" b="1" dirty="0">
                <a:solidFill>
                  <a:schemeClr val="bg1"/>
                </a:solidFill>
              </a:rPr>
              <a:t>기상</a:t>
            </a:r>
            <a:r>
              <a:rPr lang="en-US" altLang="ko-KR" sz="1400" b="1" dirty="0">
                <a:solidFill>
                  <a:schemeClr val="bg1"/>
                </a:solidFill>
              </a:rPr>
              <a:t>, </a:t>
            </a:r>
            <a:r>
              <a:rPr lang="ko-KR" altLang="en-US" sz="1400" b="1" dirty="0">
                <a:solidFill>
                  <a:schemeClr val="bg1"/>
                </a:solidFill>
              </a:rPr>
              <a:t>긴급 대응</a:t>
            </a:r>
            <a:r>
              <a:rPr lang="en-US" altLang="ko-KR" sz="1400" b="1" dirty="0">
                <a:solidFill>
                  <a:schemeClr val="bg1"/>
                </a:solidFill>
              </a:rPr>
              <a:t>, </a:t>
            </a:r>
            <a:r>
              <a:rPr lang="ko-KR" altLang="en-US" sz="1400" b="1" dirty="0">
                <a:solidFill>
                  <a:schemeClr val="bg1"/>
                </a:solidFill>
              </a:rPr>
              <a:t>정책 관련</a:t>
            </a:r>
            <a:r>
              <a:rPr lang="en-US" altLang="ko-KR" sz="1400" b="1" dirty="0">
                <a:solidFill>
                  <a:schemeClr val="bg1"/>
                </a:solidFill>
              </a:rPr>
              <a:t>, </a:t>
            </a:r>
            <a:r>
              <a:rPr lang="ko-KR" altLang="en-US" sz="1400" b="1" dirty="0">
                <a:solidFill>
                  <a:schemeClr val="bg1"/>
                </a:solidFill>
              </a:rPr>
              <a:t>교통 관제</a:t>
            </a:r>
            <a:r>
              <a:rPr lang="en-US" altLang="ko-KR" sz="1400" b="1" dirty="0">
                <a:solidFill>
                  <a:schemeClr val="bg1"/>
                </a:solidFill>
              </a:rPr>
              <a:t>, </a:t>
            </a:r>
            <a:r>
              <a:rPr lang="ko-KR" altLang="en-US" sz="1400" b="1" dirty="0">
                <a:solidFill>
                  <a:schemeClr val="bg1"/>
                </a:solidFill>
              </a:rPr>
              <a:t>파트너 서비스로 </a:t>
            </a:r>
            <a:r>
              <a:rPr lang="ko-KR" altLang="en-US" sz="1400" dirty="0">
                <a:solidFill>
                  <a:schemeClr val="bg1"/>
                </a:solidFill>
              </a:rPr>
              <a:t>나누어 활용하고</a:t>
            </a:r>
            <a:endParaRPr lang="en-US" altLang="ko-KR" sz="1400" dirty="0">
              <a:solidFill>
                <a:schemeClr val="bg1"/>
              </a:solidFill>
            </a:endParaRPr>
          </a:p>
          <a:p>
            <a:r>
              <a:rPr lang="en-US" altLang="ko-KR" sz="1400" dirty="0">
                <a:solidFill>
                  <a:schemeClr val="bg1"/>
                </a:solidFill>
              </a:rPr>
              <a:t>DB</a:t>
            </a:r>
            <a:r>
              <a:rPr lang="ko-KR" altLang="en-US" sz="1400" dirty="0">
                <a:solidFill>
                  <a:schemeClr val="bg1"/>
                </a:solidFill>
              </a:rPr>
              <a:t>를 </a:t>
            </a:r>
            <a:r>
              <a:rPr lang="ko-KR" altLang="en-US" sz="1400" b="1" dirty="0">
                <a:solidFill>
                  <a:schemeClr val="bg1"/>
                </a:solidFill>
              </a:rPr>
              <a:t>사용자</a:t>
            </a:r>
            <a:r>
              <a:rPr lang="en-US" altLang="ko-KR" sz="1400" b="1" dirty="0">
                <a:solidFill>
                  <a:schemeClr val="bg1"/>
                </a:solidFill>
              </a:rPr>
              <a:t>, </a:t>
            </a:r>
            <a:r>
              <a:rPr lang="ko-KR" altLang="en-US" sz="1400" b="1" dirty="0">
                <a:solidFill>
                  <a:schemeClr val="bg1"/>
                </a:solidFill>
              </a:rPr>
              <a:t>기상</a:t>
            </a:r>
            <a:r>
              <a:rPr lang="en-US" altLang="ko-KR" sz="1400" b="1" dirty="0">
                <a:solidFill>
                  <a:schemeClr val="bg1"/>
                </a:solidFill>
              </a:rPr>
              <a:t>, </a:t>
            </a:r>
            <a:r>
              <a:rPr lang="ko-KR" altLang="en-US" sz="1400" b="1" dirty="0">
                <a:solidFill>
                  <a:schemeClr val="bg1"/>
                </a:solidFill>
              </a:rPr>
              <a:t>긴급</a:t>
            </a:r>
            <a:r>
              <a:rPr lang="en-US" altLang="ko-KR" sz="1400" b="1" dirty="0">
                <a:solidFill>
                  <a:schemeClr val="bg1"/>
                </a:solidFill>
              </a:rPr>
              <a:t>, </a:t>
            </a:r>
            <a:r>
              <a:rPr lang="ko-KR" altLang="en-US" sz="1400" b="1" dirty="0">
                <a:solidFill>
                  <a:schemeClr val="bg1"/>
                </a:solidFill>
              </a:rPr>
              <a:t>정책</a:t>
            </a:r>
            <a:r>
              <a:rPr lang="en-US" altLang="ko-KR" sz="1400" b="1" dirty="0">
                <a:solidFill>
                  <a:schemeClr val="bg1"/>
                </a:solidFill>
              </a:rPr>
              <a:t>, </a:t>
            </a:r>
            <a:r>
              <a:rPr lang="ko-KR" altLang="en-US" sz="1400" b="1" dirty="0">
                <a:solidFill>
                  <a:schemeClr val="bg1"/>
                </a:solidFill>
              </a:rPr>
              <a:t>교통 관제</a:t>
            </a:r>
            <a:r>
              <a:rPr lang="en-US" altLang="ko-KR" sz="1400" b="1" dirty="0">
                <a:solidFill>
                  <a:schemeClr val="bg1"/>
                </a:solidFill>
              </a:rPr>
              <a:t>, </a:t>
            </a:r>
            <a:r>
              <a:rPr lang="ko-KR" altLang="en-US" sz="1400" b="1" dirty="0" err="1">
                <a:solidFill>
                  <a:schemeClr val="bg1"/>
                </a:solidFill>
              </a:rPr>
              <a:t>모빌리티</a:t>
            </a:r>
            <a:endParaRPr lang="en-US" altLang="ko-KR" sz="1400" b="1" dirty="0">
              <a:solidFill>
                <a:schemeClr val="bg1"/>
              </a:solidFill>
            </a:endParaRPr>
          </a:p>
          <a:p>
            <a:r>
              <a:rPr lang="ko-KR" altLang="en-US" sz="1400" dirty="0">
                <a:solidFill>
                  <a:schemeClr val="bg1"/>
                </a:solidFill>
              </a:rPr>
              <a:t>총 </a:t>
            </a:r>
            <a:r>
              <a:rPr lang="en-US" altLang="ko-KR" sz="1400" dirty="0">
                <a:solidFill>
                  <a:schemeClr val="bg1"/>
                </a:solidFill>
              </a:rPr>
              <a:t>6</a:t>
            </a:r>
            <a:r>
              <a:rPr lang="ko-KR" altLang="en-US" sz="1400" dirty="0">
                <a:solidFill>
                  <a:schemeClr val="bg1"/>
                </a:solidFill>
              </a:rPr>
              <a:t>개의 항목으로 분류</a:t>
            </a:r>
          </a:p>
        </p:txBody>
      </p:sp>
    </p:spTree>
    <p:extLst>
      <p:ext uri="{BB962C8B-B14F-4D97-AF65-F5344CB8AC3E}">
        <p14:creationId xmlns:p14="http://schemas.microsoft.com/office/powerpoint/2010/main" val="6447180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A33107B7-D2C0-4478-8DEF-A419EC93A5D7}"/>
              </a:ext>
            </a:extLst>
          </p:cNvPr>
          <p:cNvSpPr txBox="1"/>
          <p:nvPr/>
        </p:nvSpPr>
        <p:spPr>
          <a:xfrm>
            <a:off x="455779" y="67699"/>
            <a:ext cx="4108787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rgbClr val="30AEA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Prototype </a:t>
            </a:r>
          </a:p>
        </p:txBody>
      </p:sp>
      <p:sp>
        <p:nvSpPr>
          <p:cNvPr id="45" name="직사각형 34">
            <a:extLst>
              <a:ext uri="{FF2B5EF4-FFF2-40B4-BE49-F238E27FC236}">
                <a16:creationId xmlns:a16="http://schemas.microsoft.com/office/drawing/2014/main" id="{899A0B31-B7D0-4756-868D-4A73D517B1D0}"/>
              </a:ext>
            </a:extLst>
          </p:cNvPr>
          <p:cNvSpPr/>
          <p:nvPr/>
        </p:nvSpPr>
        <p:spPr>
          <a:xfrm>
            <a:off x="-1936" y="88168"/>
            <a:ext cx="528990" cy="482282"/>
          </a:xfrm>
          <a:custGeom>
            <a:avLst/>
            <a:gdLst>
              <a:gd name="connsiteX0" fmla="*/ 0 w 457715"/>
              <a:gd name="connsiteY0" fmla="*/ 0 h 482282"/>
              <a:gd name="connsiteX1" fmla="*/ 457715 w 457715"/>
              <a:gd name="connsiteY1" fmla="*/ 0 h 482282"/>
              <a:gd name="connsiteX2" fmla="*/ 457715 w 457715"/>
              <a:gd name="connsiteY2" fmla="*/ 482282 h 482282"/>
              <a:gd name="connsiteX3" fmla="*/ 0 w 457715"/>
              <a:gd name="connsiteY3" fmla="*/ 482282 h 482282"/>
              <a:gd name="connsiteX4" fmla="*/ 0 w 457715"/>
              <a:gd name="connsiteY4" fmla="*/ 0 h 482282"/>
              <a:gd name="connsiteX0" fmla="*/ 0 w 457715"/>
              <a:gd name="connsiteY0" fmla="*/ 0 h 482282"/>
              <a:gd name="connsiteX1" fmla="*/ 457715 w 457715"/>
              <a:gd name="connsiteY1" fmla="*/ 0 h 482282"/>
              <a:gd name="connsiteX2" fmla="*/ 387865 w 457715"/>
              <a:gd name="connsiteY2" fmla="*/ 480695 h 482282"/>
              <a:gd name="connsiteX3" fmla="*/ 0 w 457715"/>
              <a:gd name="connsiteY3" fmla="*/ 482282 h 482282"/>
              <a:gd name="connsiteX4" fmla="*/ 0 w 457715"/>
              <a:gd name="connsiteY4" fmla="*/ 0 h 482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715" h="482282">
                <a:moveTo>
                  <a:pt x="0" y="0"/>
                </a:moveTo>
                <a:lnTo>
                  <a:pt x="457715" y="0"/>
                </a:lnTo>
                <a:lnTo>
                  <a:pt x="387865" y="480695"/>
                </a:lnTo>
                <a:lnTo>
                  <a:pt x="0" y="482282"/>
                </a:lnTo>
                <a:lnTo>
                  <a:pt x="0" y="0"/>
                </a:lnTo>
                <a:close/>
              </a:path>
            </a:pathLst>
          </a:custGeom>
          <a:solidFill>
            <a:srgbClr val="30AE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798E529-C0D3-4EA9-B975-C452B0854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65" y="6417517"/>
            <a:ext cx="966068" cy="543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C2F88E7-686B-423C-89AA-3FB81FDA5AF3}"/>
              </a:ext>
            </a:extLst>
          </p:cNvPr>
          <p:cNvSpPr txBox="1"/>
          <p:nvPr/>
        </p:nvSpPr>
        <p:spPr>
          <a:xfrm>
            <a:off x="475016" y="566130"/>
            <a:ext cx="5174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앱 플로우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로그인 화면 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UI)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C023B22-20E3-46A3-9436-86EA9E581D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049" y="873907"/>
            <a:ext cx="10653902" cy="5666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209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A33107B7-D2C0-4478-8DEF-A419EC93A5D7}"/>
              </a:ext>
            </a:extLst>
          </p:cNvPr>
          <p:cNvSpPr txBox="1"/>
          <p:nvPr/>
        </p:nvSpPr>
        <p:spPr>
          <a:xfrm>
            <a:off x="455779" y="67699"/>
            <a:ext cx="4108787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rgbClr val="30AEA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Prototype </a:t>
            </a:r>
          </a:p>
        </p:txBody>
      </p:sp>
      <p:sp>
        <p:nvSpPr>
          <p:cNvPr id="45" name="직사각형 34">
            <a:extLst>
              <a:ext uri="{FF2B5EF4-FFF2-40B4-BE49-F238E27FC236}">
                <a16:creationId xmlns:a16="http://schemas.microsoft.com/office/drawing/2014/main" id="{899A0B31-B7D0-4756-868D-4A73D517B1D0}"/>
              </a:ext>
            </a:extLst>
          </p:cNvPr>
          <p:cNvSpPr/>
          <p:nvPr/>
        </p:nvSpPr>
        <p:spPr>
          <a:xfrm>
            <a:off x="-1936" y="88168"/>
            <a:ext cx="528990" cy="482282"/>
          </a:xfrm>
          <a:custGeom>
            <a:avLst/>
            <a:gdLst>
              <a:gd name="connsiteX0" fmla="*/ 0 w 457715"/>
              <a:gd name="connsiteY0" fmla="*/ 0 h 482282"/>
              <a:gd name="connsiteX1" fmla="*/ 457715 w 457715"/>
              <a:gd name="connsiteY1" fmla="*/ 0 h 482282"/>
              <a:gd name="connsiteX2" fmla="*/ 457715 w 457715"/>
              <a:gd name="connsiteY2" fmla="*/ 482282 h 482282"/>
              <a:gd name="connsiteX3" fmla="*/ 0 w 457715"/>
              <a:gd name="connsiteY3" fmla="*/ 482282 h 482282"/>
              <a:gd name="connsiteX4" fmla="*/ 0 w 457715"/>
              <a:gd name="connsiteY4" fmla="*/ 0 h 482282"/>
              <a:gd name="connsiteX0" fmla="*/ 0 w 457715"/>
              <a:gd name="connsiteY0" fmla="*/ 0 h 482282"/>
              <a:gd name="connsiteX1" fmla="*/ 457715 w 457715"/>
              <a:gd name="connsiteY1" fmla="*/ 0 h 482282"/>
              <a:gd name="connsiteX2" fmla="*/ 387865 w 457715"/>
              <a:gd name="connsiteY2" fmla="*/ 480695 h 482282"/>
              <a:gd name="connsiteX3" fmla="*/ 0 w 457715"/>
              <a:gd name="connsiteY3" fmla="*/ 482282 h 482282"/>
              <a:gd name="connsiteX4" fmla="*/ 0 w 457715"/>
              <a:gd name="connsiteY4" fmla="*/ 0 h 482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715" h="482282">
                <a:moveTo>
                  <a:pt x="0" y="0"/>
                </a:moveTo>
                <a:lnTo>
                  <a:pt x="457715" y="0"/>
                </a:lnTo>
                <a:lnTo>
                  <a:pt x="387865" y="480695"/>
                </a:lnTo>
                <a:lnTo>
                  <a:pt x="0" y="482282"/>
                </a:lnTo>
                <a:lnTo>
                  <a:pt x="0" y="0"/>
                </a:lnTo>
                <a:close/>
              </a:path>
            </a:pathLst>
          </a:custGeom>
          <a:solidFill>
            <a:srgbClr val="30AE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798E529-C0D3-4EA9-B975-C452B0854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65" y="6417517"/>
            <a:ext cx="966068" cy="543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62A049-C9B5-4739-95B5-D4308F857B10}"/>
              </a:ext>
            </a:extLst>
          </p:cNvPr>
          <p:cNvSpPr txBox="1"/>
          <p:nvPr/>
        </p:nvSpPr>
        <p:spPr>
          <a:xfrm>
            <a:off x="475016" y="566130"/>
            <a:ext cx="5174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앱 플로우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시민제보 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UI)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218D6C3-5090-4302-AE22-66BB359FE5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44" y="1089350"/>
            <a:ext cx="11899711" cy="5248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31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A33107B7-D2C0-4478-8DEF-A419EC93A5D7}"/>
              </a:ext>
            </a:extLst>
          </p:cNvPr>
          <p:cNvSpPr txBox="1"/>
          <p:nvPr/>
        </p:nvSpPr>
        <p:spPr>
          <a:xfrm>
            <a:off x="455779" y="67699"/>
            <a:ext cx="4108787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rgbClr val="30AEA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Prototype </a:t>
            </a:r>
          </a:p>
        </p:txBody>
      </p:sp>
      <p:sp>
        <p:nvSpPr>
          <p:cNvPr id="45" name="직사각형 34">
            <a:extLst>
              <a:ext uri="{FF2B5EF4-FFF2-40B4-BE49-F238E27FC236}">
                <a16:creationId xmlns:a16="http://schemas.microsoft.com/office/drawing/2014/main" id="{899A0B31-B7D0-4756-868D-4A73D517B1D0}"/>
              </a:ext>
            </a:extLst>
          </p:cNvPr>
          <p:cNvSpPr/>
          <p:nvPr/>
        </p:nvSpPr>
        <p:spPr>
          <a:xfrm>
            <a:off x="-1936" y="88168"/>
            <a:ext cx="528990" cy="482282"/>
          </a:xfrm>
          <a:custGeom>
            <a:avLst/>
            <a:gdLst>
              <a:gd name="connsiteX0" fmla="*/ 0 w 457715"/>
              <a:gd name="connsiteY0" fmla="*/ 0 h 482282"/>
              <a:gd name="connsiteX1" fmla="*/ 457715 w 457715"/>
              <a:gd name="connsiteY1" fmla="*/ 0 h 482282"/>
              <a:gd name="connsiteX2" fmla="*/ 457715 w 457715"/>
              <a:gd name="connsiteY2" fmla="*/ 482282 h 482282"/>
              <a:gd name="connsiteX3" fmla="*/ 0 w 457715"/>
              <a:gd name="connsiteY3" fmla="*/ 482282 h 482282"/>
              <a:gd name="connsiteX4" fmla="*/ 0 w 457715"/>
              <a:gd name="connsiteY4" fmla="*/ 0 h 482282"/>
              <a:gd name="connsiteX0" fmla="*/ 0 w 457715"/>
              <a:gd name="connsiteY0" fmla="*/ 0 h 482282"/>
              <a:gd name="connsiteX1" fmla="*/ 457715 w 457715"/>
              <a:gd name="connsiteY1" fmla="*/ 0 h 482282"/>
              <a:gd name="connsiteX2" fmla="*/ 387865 w 457715"/>
              <a:gd name="connsiteY2" fmla="*/ 480695 h 482282"/>
              <a:gd name="connsiteX3" fmla="*/ 0 w 457715"/>
              <a:gd name="connsiteY3" fmla="*/ 482282 h 482282"/>
              <a:gd name="connsiteX4" fmla="*/ 0 w 457715"/>
              <a:gd name="connsiteY4" fmla="*/ 0 h 482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715" h="482282">
                <a:moveTo>
                  <a:pt x="0" y="0"/>
                </a:moveTo>
                <a:lnTo>
                  <a:pt x="457715" y="0"/>
                </a:lnTo>
                <a:lnTo>
                  <a:pt x="387865" y="480695"/>
                </a:lnTo>
                <a:lnTo>
                  <a:pt x="0" y="482282"/>
                </a:lnTo>
                <a:lnTo>
                  <a:pt x="0" y="0"/>
                </a:lnTo>
                <a:close/>
              </a:path>
            </a:pathLst>
          </a:custGeom>
          <a:solidFill>
            <a:srgbClr val="30AE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798E529-C0D3-4EA9-B975-C452B0854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65" y="6417517"/>
            <a:ext cx="966068" cy="543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5BD6BCED-05B6-45D2-A910-5DB071D185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7715" y="0"/>
            <a:ext cx="850867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1FF6F4B-8386-40C0-A6C7-48B673334A10}"/>
              </a:ext>
            </a:extLst>
          </p:cNvPr>
          <p:cNvSpPr txBox="1"/>
          <p:nvPr/>
        </p:nvSpPr>
        <p:spPr>
          <a:xfrm>
            <a:off x="475016" y="566130"/>
            <a:ext cx="5174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앱 플로우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egoe UI" panose="020B0502040204020203" pitchFamily="34" charset="0"/>
              </a:rPr>
              <a:t>도로정보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egoe UI" panose="020B0502040204020203" pitchFamily="34" charset="0"/>
              </a:rPr>
              <a:t>UI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43194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A33107B7-D2C0-4478-8DEF-A419EC93A5D7}"/>
              </a:ext>
            </a:extLst>
          </p:cNvPr>
          <p:cNvSpPr txBox="1"/>
          <p:nvPr/>
        </p:nvSpPr>
        <p:spPr>
          <a:xfrm>
            <a:off x="455779" y="67699"/>
            <a:ext cx="4108787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rgbClr val="30AEA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Prototype </a:t>
            </a:r>
          </a:p>
        </p:txBody>
      </p:sp>
      <p:sp>
        <p:nvSpPr>
          <p:cNvPr id="45" name="직사각형 34">
            <a:extLst>
              <a:ext uri="{FF2B5EF4-FFF2-40B4-BE49-F238E27FC236}">
                <a16:creationId xmlns:a16="http://schemas.microsoft.com/office/drawing/2014/main" id="{899A0B31-B7D0-4756-868D-4A73D517B1D0}"/>
              </a:ext>
            </a:extLst>
          </p:cNvPr>
          <p:cNvSpPr/>
          <p:nvPr/>
        </p:nvSpPr>
        <p:spPr>
          <a:xfrm>
            <a:off x="-1936" y="88168"/>
            <a:ext cx="528990" cy="482282"/>
          </a:xfrm>
          <a:custGeom>
            <a:avLst/>
            <a:gdLst>
              <a:gd name="connsiteX0" fmla="*/ 0 w 457715"/>
              <a:gd name="connsiteY0" fmla="*/ 0 h 482282"/>
              <a:gd name="connsiteX1" fmla="*/ 457715 w 457715"/>
              <a:gd name="connsiteY1" fmla="*/ 0 h 482282"/>
              <a:gd name="connsiteX2" fmla="*/ 457715 w 457715"/>
              <a:gd name="connsiteY2" fmla="*/ 482282 h 482282"/>
              <a:gd name="connsiteX3" fmla="*/ 0 w 457715"/>
              <a:gd name="connsiteY3" fmla="*/ 482282 h 482282"/>
              <a:gd name="connsiteX4" fmla="*/ 0 w 457715"/>
              <a:gd name="connsiteY4" fmla="*/ 0 h 482282"/>
              <a:gd name="connsiteX0" fmla="*/ 0 w 457715"/>
              <a:gd name="connsiteY0" fmla="*/ 0 h 482282"/>
              <a:gd name="connsiteX1" fmla="*/ 457715 w 457715"/>
              <a:gd name="connsiteY1" fmla="*/ 0 h 482282"/>
              <a:gd name="connsiteX2" fmla="*/ 387865 w 457715"/>
              <a:gd name="connsiteY2" fmla="*/ 480695 h 482282"/>
              <a:gd name="connsiteX3" fmla="*/ 0 w 457715"/>
              <a:gd name="connsiteY3" fmla="*/ 482282 h 482282"/>
              <a:gd name="connsiteX4" fmla="*/ 0 w 457715"/>
              <a:gd name="connsiteY4" fmla="*/ 0 h 482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715" h="482282">
                <a:moveTo>
                  <a:pt x="0" y="0"/>
                </a:moveTo>
                <a:lnTo>
                  <a:pt x="457715" y="0"/>
                </a:lnTo>
                <a:lnTo>
                  <a:pt x="387865" y="480695"/>
                </a:lnTo>
                <a:lnTo>
                  <a:pt x="0" y="482282"/>
                </a:lnTo>
                <a:lnTo>
                  <a:pt x="0" y="0"/>
                </a:lnTo>
                <a:close/>
              </a:path>
            </a:pathLst>
          </a:custGeom>
          <a:solidFill>
            <a:srgbClr val="30AE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798E529-C0D3-4EA9-B975-C452B0854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65" y="6417517"/>
            <a:ext cx="966068" cy="543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0C20F5CC-A6B0-4E21-ABF4-4C58B12512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750" y="1089350"/>
            <a:ext cx="11646499" cy="49532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4623341-4CF6-4450-80AC-0E86D9F3179F}"/>
              </a:ext>
            </a:extLst>
          </p:cNvPr>
          <p:cNvSpPr txBox="1"/>
          <p:nvPr/>
        </p:nvSpPr>
        <p:spPr>
          <a:xfrm>
            <a:off x="475016" y="566130"/>
            <a:ext cx="5174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대시보드 플로우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로그인 화면 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UI)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30863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A33107B7-D2C0-4478-8DEF-A419EC93A5D7}"/>
              </a:ext>
            </a:extLst>
          </p:cNvPr>
          <p:cNvSpPr txBox="1"/>
          <p:nvPr/>
        </p:nvSpPr>
        <p:spPr>
          <a:xfrm>
            <a:off x="455779" y="67699"/>
            <a:ext cx="4108787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rgbClr val="30AEA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Prototype </a:t>
            </a:r>
          </a:p>
        </p:txBody>
      </p:sp>
      <p:sp>
        <p:nvSpPr>
          <p:cNvPr id="45" name="직사각형 34">
            <a:extLst>
              <a:ext uri="{FF2B5EF4-FFF2-40B4-BE49-F238E27FC236}">
                <a16:creationId xmlns:a16="http://schemas.microsoft.com/office/drawing/2014/main" id="{899A0B31-B7D0-4756-868D-4A73D517B1D0}"/>
              </a:ext>
            </a:extLst>
          </p:cNvPr>
          <p:cNvSpPr/>
          <p:nvPr/>
        </p:nvSpPr>
        <p:spPr>
          <a:xfrm>
            <a:off x="-1936" y="88168"/>
            <a:ext cx="528990" cy="482282"/>
          </a:xfrm>
          <a:custGeom>
            <a:avLst/>
            <a:gdLst>
              <a:gd name="connsiteX0" fmla="*/ 0 w 457715"/>
              <a:gd name="connsiteY0" fmla="*/ 0 h 482282"/>
              <a:gd name="connsiteX1" fmla="*/ 457715 w 457715"/>
              <a:gd name="connsiteY1" fmla="*/ 0 h 482282"/>
              <a:gd name="connsiteX2" fmla="*/ 457715 w 457715"/>
              <a:gd name="connsiteY2" fmla="*/ 482282 h 482282"/>
              <a:gd name="connsiteX3" fmla="*/ 0 w 457715"/>
              <a:gd name="connsiteY3" fmla="*/ 482282 h 482282"/>
              <a:gd name="connsiteX4" fmla="*/ 0 w 457715"/>
              <a:gd name="connsiteY4" fmla="*/ 0 h 482282"/>
              <a:gd name="connsiteX0" fmla="*/ 0 w 457715"/>
              <a:gd name="connsiteY0" fmla="*/ 0 h 482282"/>
              <a:gd name="connsiteX1" fmla="*/ 457715 w 457715"/>
              <a:gd name="connsiteY1" fmla="*/ 0 h 482282"/>
              <a:gd name="connsiteX2" fmla="*/ 387865 w 457715"/>
              <a:gd name="connsiteY2" fmla="*/ 480695 h 482282"/>
              <a:gd name="connsiteX3" fmla="*/ 0 w 457715"/>
              <a:gd name="connsiteY3" fmla="*/ 482282 h 482282"/>
              <a:gd name="connsiteX4" fmla="*/ 0 w 457715"/>
              <a:gd name="connsiteY4" fmla="*/ 0 h 482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715" h="482282">
                <a:moveTo>
                  <a:pt x="0" y="0"/>
                </a:moveTo>
                <a:lnTo>
                  <a:pt x="457715" y="0"/>
                </a:lnTo>
                <a:lnTo>
                  <a:pt x="387865" y="480695"/>
                </a:lnTo>
                <a:lnTo>
                  <a:pt x="0" y="482282"/>
                </a:lnTo>
                <a:lnTo>
                  <a:pt x="0" y="0"/>
                </a:lnTo>
                <a:close/>
              </a:path>
            </a:pathLst>
          </a:custGeom>
          <a:solidFill>
            <a:srgbClr val="30AE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798E529-C0D3-4EA9-B975-C452B0854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65" y="6417517"/>
            <a:ext cx="966068" cy="543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C7D9C2D-856A-4003-AAB4-FF87D624D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559" y="1372338"/>
            <a:ext cx="6830970" cy="467359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13073A5-EE32-4F61-890E-01D7DB2276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1391" y="2228431"/>
            <a:ext cx="4146730" cy="29614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F4BC590-BC06-4138-B665-F3258A35C6A9}"/>
              </a:ext>
            </a:extLst>
          </p:cNvPr>
          <p:cNvSpPr txBox="1"/>
          <p:nvPr/>
        </p:nvSpPr>
        <p:spPr>
          <a:xfrm>
            <a:off x="475016" y="566130"/>
            <a:ext cx="5174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대시보드 플로우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모니터링 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UI)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62578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A33107B7-D2C0-4478-8DEF-A419EC93A5D7}"/>
              </a:ext>
            </a:extLst>
          </p:cNvPr>
          <p:cNvSpPr txBox="1"/>
          <p:nvPr/>
        </p:nvSpPr>
        <p:spPr>
          <a:xfrm>
            <a:off x="455779" y="67699"/>
            <a:ext cx="4108787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rgbClr val="30AEA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Prototype </a:t>
            </a:r>
          </a:p>
        </p:txBody>
      </p:sp>
      <p:sp>
        <p:nvSpPr>
          <p:cNvPr id="45" name="직사각형 34">
            <a:extLst>
              <a:ext uri="{FF2B5EF4-FFF2-40B4-BE49-F238E27FC236}">
                <a16:creationId xmlns:a16="http://schemas.microsoft.com/office/drawing/2014/main" id="{899A0B31-B7D0-4756-868D-4A73D517B1D0}"/>
              </a:ext>
            </a:extLst>
          </p:cNvPr>
          <p:cNvSpPr/>
          <p:nvPr/>
        </p:nvSpPr>
        <p:spPr>
          <a:xfrm>
            <a:off x="-1936" y="88168"/>
            <a:ext cx="528990" cy="482282"/>
          </a:xfrm>
          <a:custGeom>
            <a:avLst/>
            <a:gdLst>
              <a:gd name="connsiteX0" fmla="*/ 0 w 457715"/>
              <a:gd name="connsiteY0" fmla="*/ 0 h 482282"/>
              <a:gd name="connsiteX1" fmla="*/ 457715 w 457715"/>
              <a:gd name="connsiteY1" fmla="*/ 0 h 482282"/>
              <a:gd name="connsiteX2" fmla="*/ 457715 w 457715"/>
              <a:gd name="connsiteY2" fmla="*/ 482282 h 482282"/>
              <a:gd name="connsiteX3" fmla="*/ 0 w 457715"/>
              <a:gd name="connsiteY3" fmla="*/ 482282 h 482282"/>
              <a:gd name="connsiteX4" fmla="*/ 0 w 457715"/>
              <a:gd name="connsiteY4" fmla="*/ 0 h 482282"/>
              <a:gd name="connsiteX0" fmla="*/ 0 w 457715"/>
              <a:gd name="connsiteY0" fmla="*/ 0 h 482282"/>
              <a:gd name="connsiteX1" fmla="*/ 457715 w 457715"/>
              <a:gd name="connsiteY1" fmla="*/ 0 h 482282"/>
              <a:gd name="connsiteX2" fmla="*/ 387865 w 457715"/>
              <a:gd name="connsiteY2" fmla="*/ 480695 h 482282"/>
              <a:gd name="connsiteX3" fmla="*/ 0 w 457715"/>
              <a:gd name="connsiteY3" fmla="*/ 482282 h 482282"/>
              <a:gd name="connsiteX4" fmla="*/ 0 w 457715"/>
              <a:gd name="connsiteY4" fmla="*/ 0 h 482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715" h="482282">
                <a:moveTo>
                  <a:pt x="0" y="0"/>
                </a:moveTo>
                <a:lnTo>
                  <a:pt x="457715" y="0"/>
                </a:lnTo>
                <a:lnTo>
                  <a:pt x="387865" y="480695"/>
                </a:lnTo>
                <a:lnTo>
                  <a:pt x="0" y="482282"/>
                </a:lnTo>
                <a:lnTo>
                  <a:pt x="0" y="0"/>
                </a:lnTo>
                <a:close/>
              </a:path>
            </a:pathLst>
          </a:custGeom>
          <a:solidFill>
            <a:srgbClr val="30AE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798E529-C0D3-4EA9-B975-C452B0854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65" y="6417517"/>
            <a:ext cx="966068" cy="543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D04820FF-4C2E-446F-B16D-C648062CC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450" y="1372338"/>
            <a:ext cx="6448434" cy="445387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4EDAB73-75D1-4E9B-A8BF-4DC41D7561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8129" y="2163061"/>
            <a:ext cx="4630355" cy="29279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72150F-3374-4BF6-BDBD-B2666DC10168}"/>
              </a:ext>
            </a:extLst>
          </p:cNvPr>
          <p:cNvSpPr txBox="1"/>
          <p:nvPr/>
        </p:nvSpPr>
        <p:spPr>
          <a:xfrm>
            <a:off x="475016" y="566130"/>
            <a:ext cx="5174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대시보드 플로우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이벤트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UI)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44810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A33107B7-D2C0-4478-8DEF-A419EC93A5D7}"/>
              </a:ext>
            </a:extLst>
          </p:cNvPr>
          <p:cNvSpPr txBox="1"/>
          <p:nvPr/>
        </p:nvSpPr>
        <p:spPr>
          <a:xfrm>
            <a:off x="455779" y="67699"/>
            <a:ext cx="4108787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rgbClr val="30AEA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Prototype </a:t>
            </a:r>
          </a:p>
        </p:txBody>
      </p:sp>
      <p:sp>
        <p:nvSpPr>
          <p:cNvPr id="45" name="직사각형 34">
            <a:extLst>
              <a:ext uri="{FF2B5EF4-FFF2-40B4-BE49-F238E27FC236}">
                <a16:creationId xmlns:a16="http://schemas.microsoft.com/office/drawing/2014/main" id="{899A0B31-B7D0-4756-868D-4A73D517B1D0}"/>
              </a:ext>
            </a:extLst>
          </p:cNvPr>
          <p:cNvSpPr/>
          <p:nvPr/>
        </p:nvSpPr>
        <p:spPr>
          <a:xfrm>
            <a:off x="-1936" y="88168"/>
            <a:ext cx="528990" cy="482282"/>
          </a:xfrm>
          <a:custGeom>
            <a:avLst/>
            <a:gdLst>
              <a:gd name="connsiteX0" fmla="*/ 0 w 457715"/>
              <a:gd name="connsiteY0" fmla="*/ 0 h 482282"/>
              <a:gd name="connsiteX1" fmla="*/ 457715 w 457715"/>
              <a:gd name="connsiteY1" fmla="*/ 0 h 482282"/>
              <a:gd name="connsiteX2" fmla="*/ 457715 w 457715"/>
              <a:gd name="connsiteY2" fmla="*/ 482282 h 482282"/>
              <a:gd name="connsiteX3" fmla="*/ 0 w 457715"/>
              <a:gd name="connsiteY3" fmla="*/ 482282 h 482282"/>
              <a:gd name="connsiteX4" fmla="*/ 0 w 457715"/>
              <a:gd name="connsiteY4" fmla="*/ 0 h 482282"/>
              <a:gd name="connsiteX0" fmla="*/ 0 w 457715"/>
              <a:gd name="connsiteY0" fmla="*/ 0 h 482282"/>
              <a:gd name="connsiteX1" fmla="*/ 457715 w 457715"/>
              <a:gd name="connsiteY1" fmla="*/ 0 h 482282"/>
              <a:gd name="connsiteX2" fmla="*/ 387865 w 457715"/>
              <a:gd name="connsiteY2" fmla="*/ 480695 h 482282"/>
              <a:gd name="connsiteX3" fmla="*/ 0 w 457715"/>
              <a:gd name="connsiteY3" fmla="*/ 482282 h 482282"/>
              <a:gd name="connsiteX4" fmla="*/ 0 w 457715"/>
              <a:gd name="connsiteY4" fmla="*/ 0 h 482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715" h="482282">
                <a:moveTo>
                  <a:pt x="0" y="0"/>
                </a:moveTo>
                <a:lnTo>
                  <a:pt x="457715" y="0"/>
                </a:lnTo>
                <a:lnTo>
                  <a:pt x="387865" y="480695"/>
                </a:lnTo>
                <a:lnTo>
                  <a:pt x="0" y="482282"/>
                </a:lnTo>
                <a:lnTo>
                  <a:pt x="0" y="0"/>
                </a:lnTo>
                <a:close/>
              </a:path>
            </a:pathLst>
          </a:custGeom>
          <a:solidFill>
            <a:srgbClr val="30AE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798E529-C0D3-4EA9-B975-C452B0854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65" y="6417517"/>
            <a:ext cx="966068" cy="543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0164DA3-173B-4852-98B8-7AF36ED7A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504" y="1833877"/>
            <a:ext cx="5708380" cy="388730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EA19F65-1575-48B3-BED4-14ABC6442D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1503" y="2599996"/>
            <a:ext cx="6165993" cy="399233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87DE74D-6D9B-431A-BBF4-1428D09867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9286" y="67699"/>
            <a:ext cx="3949903" cy="26163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76A949F-F0CC-4D55-8742-F8B07130F106}"/>
              </a:ext>
            </a:extLst>
          </p:cNvPr>
          <p:cNvSpPr txBox="1"/>
          <p:nvPr/>
        </p:nvSpPr>
        <p:spPr>
          <a:xfrm>
            <a:off x="475016" y="566130"/>
            <a:ext cx="5174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대시보드 플로우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이벤트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 UI)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53104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A33107B7-D2C0-4478-8DEF-A419EC93A5D7}"/>
              </a:ext>
            </a:extLst>
          </p:cNvPr>
          <p:cNvSpPr txBox="1"/>
          <p:nvPr/>
        </p:nvSpPr>
        <p:spPr>
          <a:xfrm>
            <a:off x="455779" y="67699"/>
            <a:ext cx="4108787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rgbClr val="30AEA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Prototype </a:t>
            </a:r>
          </a:p>
        </p:txBody>
      </p:sp>
      <p:sp>
        <p:nvSpPr>
          <p:cNvPr id="45" name="직사각형 34">
            <a:extLst>
              <a:ext uri="{FF2B5EF4-FFF2-40B4-BE49-F238E27FC236}">
                <a16:creationId xmlns:a16="http://schemas.microsoft.com/office/drawing/2014/main" id="{899A0B31-B7D0-4756-868D-4A73D517B1D0}"/>
              </a:ext>
            </a:extLst>
          </p:cNvPr>
          <p:cNvSpPr/>
          <p:nvPr/>
        </p:nvSpPr>
        <p:spPr>
          <a:xfrm>
            <a:off x="-1936" y="88168"/>
            <a:ext cx="528990" cy="482282"/>
          </a:xfrm>
          <a:custGeom>
            <a:avLst/>
            <a:gdLst>
              <a:gd name="connsiteX0" fmla="*/ 0 w 457715"/>
              <a:gd name="connsiteY0" fmla="*/ 0 h 482282"/>
              <a:gd name="connsiteX1" fmla="*/ 457715 w 457715"/>
              <a:gd name="connsiteY1" fmla="*/ 0 h 482282"/>
              <a:gd name="connsiteX2" fmla="*/ 457715 w 457715"/>
              <a:gd name="connsiteY2" fmla="*/ 482282 h 482282"/>
              <a:gd name="connsiteX3" fmla="*/ 0 w 457715"/>
              <a:gd name="connsiteY3" fmla="*/ 482282 h 482282"/>
              <a:gd name="connsiteX4" fmla="*/ 0 w 457715"/>
              <a:gd name="connsiteY4" fmla="*/ 0 h 482282"/>
              <a:gd name="connsiteX0" fmla="*/ 0 w 457715"/>
              <a:gd name="connsiteY0" fmla="*/ 0 h 482282"/>
              <a:gd name="connsiteX1" fmla="*/ 457715 w 457715"/>
              <a:gd name="connsiteY1" fmla="*/ 0 h 482282"/>
              <a:gd name="connsiteX2" fmla="*/ 387865 w 457715"/>
              <a:gd name="connsiteY2" fmla="*/ 480695 h 482282"/>
              <a:gd name="connsiteX3" fmla="*/ 0 w 457715"/>
              <a:gd name="connsiteY3" fmla="*/ 482282 h 482282"/>
              <a:gd name="connsiteX4" fmla="*/ 0 w 457715"/>
              <a:gd name="connsiteY4" fmla="*/ 0 h 482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715" h="482282">
                <a:moveTo>
                  <a:pt x="0" y="0"/>
                </a:moveTo>
                <a:lnTo>
                  <a:pt x="457715" y="0"/>
                </a:lnTo>
                <a:lnTo>
                  <a:pt x="387865" y="480695"/>
                </a:lnTo>
                <a:lnTo>
                  <a:pt x="0" y="482282"/>
                </a:lnTo>
                <a:lnTo>
                  <a:pt x="0" y="0"/>
                </a:lnTo>
                <a:close/>
              </a:path>
            </a:pathLst>
          </a:custGeom>
          <a:solidFill>
            <a:srgbClr val="30AE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798E529-C0D3-4EA9-B975-C452B0854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65" y="6417517"/>
            <a:ext cx="966068" cy="543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F4D9909C-DD0A-4683-9081-79E45EA004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133" y="1917608"/>
            <a:ext cx="4818899" cy="345620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14951B4-6037-4BDF-A5CF-5EF41535E0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9190" y="329309"/>
            <a:ext cx="4265140" cy="309039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C5266C4-F9DA-460B-9762-06B0D6038D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4930" y="3645643"/>
            <a:ext cx="4209400" cy="30143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657B6C-0B1D-4CCA-9C8C-F3B218BD6D30}"/>
              </a:ext>
            </a:extLst>
          </p:cNvPr>
          <p:cNvSpPr txBox="1"/>
          <p:nvPr/>
        </p:nvSpPr>
        <p:spPr>
          <a:xfrm>
            <a:off x="475016" y="566130"/>
            <a:ext cx="5174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대시보드 플로우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(Traffic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Congestion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UI)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29698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25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A33107B7-D2C0-4478-8DEF-A419EC93A5D7}"/>
              </a:ext>
            </a:extLst>
          </p:cNvPr>
          <p:cNvSpPr txBox="1"/>
          <p:nvPr/>
        </p:nvSpPr>
        <p:spPr>
          <a:xfrm>
            <a:off x="455779" y="67699"/>
            <a:ext cx="4108787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rgbClr val="30AEA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Prototype </a:t>
            </a:r>
          </a:p>
        </p:txBody>
      </p:sp>
      <p:sp>
        <p:nvSpPr>
          <p:cNvPr id="45" name="직사각형 34">
            <a:extLst>
              <a:ext uri="{FF2B5EF4-FFF2-40B4-BE49-F238E27FC236}">
                <a16:creationId xmlns:a16="http://schemas.microsoft.com/office/drawing/2014/main" id="{899A0B31-B7D0-4756-868D-4A73D517B1D0}"/>
              </a:ext>
            </a:extLst>
          </p:cNvPr>
          <p:cNvSpPr/>
          <p:nvPr/>
        </p:nvSpPr>
        <p:spPr>
          <a:xfrm>
            <a:off x="-1936" y="88168"/>
            <a:ext cx="528990" cy="482282"/>
          </a:xfrm>
          <a:custGeom>
            <a:avLst/>
            <a:gdLst>
              <a:gd name="connsiteX0" fmla="*/ 0 w 457715"/>
              <a:gd name="connsiteY0" fmla="*/ 0 h 482282"/>
              <a:gd name="connsiteX1" fmla="*/ 457715 w 457715"/>
              <a:gd name="connsiteY1" fmla="*/ 0 h 482282"/>
              <a:gd name="connsiteX2" fmla="*/ 457715 w 457715"/>
              <a:gd name="connsiteY2" fmla="*/ 482282 h 482282"/>
              <a:gd name="connsiteX3" fmla="*/ 0 w 457715"/>
              <a:gd name="connsiteY3" fmla="*/ 482282 h 482282"/>
              <a:gd name="connsiteX4" fmla="*/ 0 w 457715"/>
              <a:gd name="connsiteY4" fmla="*/ 0 h 482282"/>
              <a:gd name="connsiteX0" fmla="*/ 0 w 457715"/>
              <a:gd name="connsiteY0" fmla="*/ 0 h 482282"/>
              <a:gd name="connsiteX1" fmla="*/ 457715 w 457715"/>
              <a:gd name="connsiteY1" fmla="*/ 0 h 482282"/>
              <a:gd name="connsiteX2" fmla="*/ 387865 w 457715"/>
              <a:gd name="connsiteY2" fmla="*/ 480695 h 482282"/>
              <a:gd name="connsiteX3" fmla="*/ 0 w 457715"/>
              <a:gd name="connsiteY3" fmla="*/ 482282 h 482282"/>
              <a:gd name="connsiteX4" fmla="*/ 0 w 457715"/>
              <a:gd name="connsiteY4" fmla="*/ 0 h 482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715" h="482282">
                <a:moveTo>
                  <a:pt x="0" y="0"/>
                </a:moveTo>
                <a:lnTo>
                  <a:pt x="457715" y="0"/>
                </a:lnTo>
                <a:lnTo>
                  <a:pt x="387865" y="480695"/>
                </a:lnTo>
                <a:lnTo>
                  <a:pt x="0" y="482282"/>
                </a:lnTo>
                <a:lnTo>
                  <a:pt x="0" y="0"/>
                </a:lnTo>
                <a:close/>
              </a:path>
            </a:pathLst>
          </a:custGeom>
          <a:solidFill>
            <a:srgbClr val="30AE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73A051B-381C-4719-B9AE-C088908071CB}"/>
              </a:ext>
            </a:extLst>
          </p:cNvPr>
          <p:cNvSpPr txBox="1"/>
          <p:nvPr/>
        </p:nvSpPr>
        <p:spPr>
          <a:xfrm>
            <a:off x="1386468" y="1667477"/>
            <a:ext cx="5174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앱 플로우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798E529-C0D3-4EA9-B975-C452B0854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65" y="6417517"/>
            <a:ext cx="966068" cy="543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D86D41-F46E-47FC-A342-CE50A5EBEF03}"/>
              </a:ext>
            </a:extLst>
          </p:cNvPr>
          <p:cNvSpPr txBox="1"/>
          <p:nvPr/>
        </p:nvSpPr>
        <p:spPr>
          <a:xfrm>
            <a:off x="1386468" y="1972864"/>
            <a:ext cx="941906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effectLst/>
                <a:latin typeface="Segoe UI" panose="020B0502040204020203" pitchFamily="34" charset="0"/>
                <a:hlinkClick r:id="rId4"/>
              </a:rPr>
              <a:t>https://www.figma.com/proto/afNMB6pfVZiegDUG8hKfk1/%ED%94%84%EB%A1%9C%ED%86%A0%ED%83%80%EC%9E%85-%EC%8B%A4%EC%8A%B5?node-id=0-1&amp;p=f&amp;t=0og8Fg93QyoqOtYE-0&amp;scaling=scale-down&amp;content-scaling=fixed&amp;starting-point-node-id=116%3A947&amp;show-proto-sidebar=1</a:t>
            </a:r>
            <a:r>
              <a:rPr lang="ko-KR" altLang="en-US" dirty="0">
                <a:effectLst/>
                <a:latin typeface="Segoe UI" panose="020B0502040204020203" pitchFamily="34" charset="0"/>
              </a:rPr>
              <a:t> </a:t>
            </a:r>
            <a:endParaRPr lang="en-US" altLang="ko-KR" dirty="0">
              <a:effectLst/>
              <a:latin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B12FF2-5B9A-4635-8962-115EC797AEB0}"/>
              </a:ext>
            </a:extLst>
          </p:cNvPr>
          <p:cNvSpPr txBox="1"/>
          <p:nvPr/>
        </p:nvSpPr>
        <p:spPr>
          <a:xfrm>
            <a:off x="1386468" y="3682417"/>
            <a:ext cx="5174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대시보드 플로우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0C28E2-6A71-4407-AEAD-80546778A79E}"/>
              </a:ext>
            </a:extLst>
          </p:cNvPr>
          <p:cNvSpPr txBox="1"/>
          <p:nvPr/>
        </p:nvSpPr>
        <p:spPr>
          <a:xfrm>
            <a:off x="1386468" y="3990194"/>
            <a:ext cx="94190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effectLst/>
                <a:latin typeface="Segoe UI" panose="020B0502040204020203" pitchFamily="34" charset="0"/>
                <a:hlinkClick r:id="rId5"/>
              </a:rPr>
              <a:t>https://www.figma.com/proto/afNMB6pfVZiegDUG8hKfk1/%ED%94%84%EB%A1%9C%ED%86%A0%ED%83%80%EC%9E%85-%EC%8B%A4%EC%8A%B5?node-id=32-1173&amp;p=f&amp;t=0og8Fg93QyoqOtYE-0&amp;scaling=min-zoom&amp;content-scaling=fixed&amp;starting-point-node-id=70%3A517&amp;show-proto-sidebar=1</a:t>
            </a:r>
            <a:r>
              <a:rPr lang="en-US" altLang="ko-KR" dirty="0">
                <a:effectLst/>
                <a:latin typeface="Segoe UI" panose="020B0502040204020203" pitchFamily="34" charset="0"/>
              </a:rPr>
              <a:t> 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D84D94-3375-47E3-AD9B-3AC7D44B2518}"/>
              </a:ext>
            </a:extLst>
          </p:cNvPr>
          <p:cNvSpPr txBox="1"/>
          <p:nvPr/>
        </p:nvSpPr>
        <p:spPr>
          <a:xfrm>
            <a:off x="475016" y="566130"/>
            <a:ext cx="5174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Figma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링크</a:t>
            </a:r>
          </a:p>
        </p:txBody>
      </p:sp>
    </p:spTree>
    <p:extLst>
      <p:ext uri="{BB962C8B-B14F-4D97-AF65-F5344CB8AC3E}">
        <p14:creationId xmlns:p14="http://schemas.microsoft.com/office/powerpoint/2010/main" val="11210510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A33107B7-D2C0-4478-8DEF-A419EC93A5D7}"/>
              </a:ext>
            </a:extLst>
          </p:cNvPr>
          <p:cNvSpPr txBox="1"/>
          <p:nvPr/>
        </p:nvSpPr>
        <p:spPr>
          <a:xfrm>
            <a:off x="455779" y="67699"/>
            <a:ext cx="4108787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Expected effect</a:t>
            </a:r>
          </a:p>
        </p:txBody>
      </p:sp>
      <p:sp>
        <p:nvSpPr>
          <p:cNvPr id="45" name="직사각형 34">
            <a:extLst>
              <a:ext uri="{FF2B5EF4-FFF2-40B4-BE49-F238E27FC236}">
                <a16:creationId xmlns:a16="http://schemas.microsoft.com/office/drawing/2014/main" id="{899A0B31-B7D0-4756-868D-4A73D517B1D0}"/>
              </a:ext>
            </a:extLst>
          </p:cNvPr>
          <p:cNvSpPr/>
          <p:nvPr/>
        </p:nvSpPr>
        <p:spPr>
          <a:xfrm>
            <a:off x="-1936" y="88168"/>
            <a:ext cx="528990" cy="482282"/>
          </a:xfrm>
          <a:custGeom>
            <a:avLst/>
            <a:gdLst>
              <a:gd name="connsiteX0" fmla="*/ 0 w 457715"/>
              <a:gd name="connsiteY0" fmla="*/ 0 h 482282"/>
              <a:gd name="connsiteX1" fmla="*/ 457715 w 457715"/>
              <a:gd name="connsiteY1" fmla="*/ 0 h 482282"/>
              <a:gd name="connsiteX2" fmla="*/ 457715 w 457715"/>
              <a:gd name="connsiteY2" fmla="*/ 482282 h 482282"/>
              <a:gd name="connsiteX3" fmla="*/ 0 w 457715"/>
              <a:gd name="connsiteY3" fmla="*/ 482282 h 482282"/>
              <a:gd name="connsiteX4" fmla="*/ 0 w 457715"/>
              <a:gd name="connsiteY4" fmla="*/ 0 h 482282"/>
              <a:gd name="connsiteX0" fmla="*/ 0 w 457715"/>
              <a:gd name="connsiteY0" fmla="*/ 0 h 482282"/>
              <a:gd name="connsiteX1" fmla="*/ 457715 w 457715"/>
              <a:gd name="connsiteY1" fmla="*/ 0 h 482282"/>
              <a:gd name="connsiteX2" fmla="*/ 387865 w 457715"/>
              <a:gd name="connsiteY2" fmla="*/ 480695 h 482282"/>
              <a:gd name="connsiteX3" fmla="*/ 0 w 457715"/>
              <a:gd name="connsiteY3" fmla="*/ 482282 h 482282"/>
              <a:gd name="connsiteX4" fmla="*/ 0 w 457715"/>
              <a:gd name="connsiteY4" fmla="*/ 0 h 482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715" h="482282">
                <a:moveTo>
                  <a:pt x="0" y="0"/>
                </a:moveTo>
                <a:lnTo>
                  <a:pt x="457715" y="0"/>
                </a:lnTo>
                <a:lnTo>
                  <a:pt x="387865" y="480695"/>
                </a:lnTo>
                <a:lnTo>
                  <a:pt x="0" y="482282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73A051B-381C-4719-B9AE-C088908071CB}"/>
              </a:ext>
            </a:extLst>
          </p:cNvPr>
          <p:cNvSpPr txBox="1"/>
          <p:nvPr/>
        </p:nvSpPr>
        <p:spPr>
          <a:xfrm>
            <a:off x="475016" y="566130"/>
            <a:ext cx="5174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기대효과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4656104-4221-4AAF-BA7F-6167024524F5}"/>
              </a:ext>
            </a:extLst>
          </p:cNvPr>
          <p:cNvSpPr/>
          <p:nvPr/>
        </p:nvSpPr>
        <p:spPr>
          <a:xfrm>
            <a:off x="8861497" y="0"/>
            <a:ext cx="2572214" cy="6858000"/>
          </a:xfrm>
          <a:prstGeom prst="rect">
            <a:avLst/>
          </a:pr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-100000"/>
                      </a14:imgEffect>
                      <a14:imgEffect>
                        <a14:saturation sat="25000"/>
                      </a14:imgEffect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8076778-BF04-4F41-A279-6705DDC1484F}"/>
              </a:ext>
            </a:extLst>
          </p:cNvPr>
          <p:cNvSpPr/>
          <p:nvPr/>
        </p:nvSpPr>
        <p:spPr>
          <a:xfrm>
            <a:off x="8430319" y="1390185"/>
            <a:ext cx="951571" cy="3337932"/>
          </a:xfrm>
          <a:prstGeom prst="rect">
            <a:avLst/>
          </a:prstGeom>
          <a:solidFill>
            <a:srgbClr val="30AEAA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7ABCAC9-C530-437F-B265-082128289FDF}"/>
              </a:ext>
            </a:extLst>
          </p:cNvPr>
          <p:cNvSpPr/>
          <p:nvPr/>
        </p:nvSpPr>
        <p:spPr>
          <a:xfrm>
            <a:off x="8222164" y="0"/>
            <a:ext cx="416311" cy="28993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3C7A6F5-7C8C-418E-B8C5-E08255FFD0E6}"/>
              </a:ext>
            </a:extLst>
          </p:cNvPr>
          <p:cNvSpPr/>
          <p:nvPr/>
        </p:nvSpPr>
        <p:spPr>
          <a:xfrm>
            <a:off x="11247852" y="3612995"/>
            <a:ext cx="617036" cy="2891883"/>
          </a:xfrm>
          <a:prstGeom prst="rect">
            <a:avLst/>
          </a:prstGeom>
          <a:solidFill>
            <a:schemeClr val="bg2">
              <a:lumMod val="75000"/>
              <a:alpha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FA8D10C0-B682-44E6-947D-3ED02262F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65" y="6417517"/>
            <a:ext cx="966068" cy="543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C9A8E44-C88E-4DD0-93E1-524C8E8F1F99}"/>
              </a:ext>
            </a:extLst>
          </p:cNvPr>
          <p:cNvSpPr txBox="1"/>
          <p:nvPr/>
        </p:nvSpPr>
        <p:spPr>
          <a:xfrm>
            <a:off x="262559" y="942364"/>
            <a:ext cx="881688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</a:rPr>
              <a:t>1.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 연간 혼잡 비용 절감</a:t>
            </a:r>
            <a:b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</a:b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약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3~5%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교통 혼잡도 개선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 예상</a:t>
            </a:r>
            <a:b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</a:b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→ 수도권 기준 약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1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조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1,000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억 원 이상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의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연간 혼잡 비용 절감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 가능</a:t>
            </a:r>
            <a:b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</a:b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※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국토부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2023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년 기준 연간 혼잡비용 약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38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조 원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Segoe UI" panose="020B0502040204020203" pitchFamily="34" charset="0"/>
            </a:endParaRPr>
          </a:p>
          <a:p>
            <a:b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</a:b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</a:rPr>
              <a:t>2.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 교통사고 반응 시간 단축</a:t>
            </a:r>
            <a:b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</a:b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AI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기반 사고 감지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+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긴급기관 연동으로</a:t>
            </a:r>
            <a:b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</a:b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평균 사고 감지 및 대응 시간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30~40%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단축</a:t>
            </a:r>
            <a:b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</a:b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→ </a:t>
            </a:r>
            <a:r>
              <a:rPr lang="ko-KR" altLang="en-US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골든타임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 확보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,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생명 구호 확률 증가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Segoe UI" panose="020B0502040204020203" pitchFamily="34" charset="0"/>
            </a:endParaRPr>
          </a:p>
          <a:p>
            <a:b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</a:b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</a:rPr>
              <a:t>3.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 시민 만족도 및 앱 활용도</a:t>
            </a:r>
            <a:b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</a:b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실시간 정보 제공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+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맞춤 경로 안내로</a:t>
            </a:r>
            <a:b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</a:b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시민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1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인당 연간 평균 통행시간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12~18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시간 감소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 예상</a:t>
            </a:r>
            <a:b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</a:b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→ 출퇴근 효율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,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여가시간 확보 증가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Segoe UI" panose="020B0502040204020203" pitchFamily="34" charset="0"/>
            </a:endParaRPr>
          </a:p>
          <a:p>
            <a:b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</a:b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</a:rPr>
              <a:t>4.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 공공행정 효율화</a:t>
            </a:r>
            <a:b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</a:b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교통 정책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/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시설 투자 우선순위 의사결정 지원</a:t>
            </a:r>
            <a:b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</a:b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→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 민원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20%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감소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,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 공공예산 낭비 최소화</a:t>
            </a:r>
            <a:b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</a:b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→ 장기적 관점에서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 시설 유지보수 비용 절감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Segoe UI" panose="020B0502040204020203" pitchFamily="34" charset="0"/>
            </a:endParaRPr>
          </a:p>
          <a:p>
            <a:b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</a:b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</a:rPr>
              <a:t>5.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</a:rPr>
              <a:t>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온실가스 감축 기여</a:t>
            </a:r>
            <a:b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</a:b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정체 감소에 따른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공회전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 감소로</a:t>
            </a:r>
            <a:b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</a:b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CO₂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배출량 연간 약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8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만 톤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감축 가능</a:t>
            </a:r>
            <a:b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</a:b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→ 이는 약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110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만 그루 나무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심는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효과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570D5D-A708-4BC5-92CF-B329113732D0}"/>
              </a:ext>
            </a:extLst>
          </p:cNvPr>
          <p:cNvSpPr txBox="1"/>
          <p:nvPr/>
        </p:nvSpPr>
        <p:spPr>
          <a:xfrm>
            <a:off x="4088475" y="5530180"/>
            <a:ext cx="472284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이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ITS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시스템이 상용화될 경우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,</a:t>
            </a:r>
            <a:b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</a:b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연간 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1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조 원 이상의 사회적 비용을 절감하고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,</a:t>
            </a:r>
            <a:b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</a:b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시민의 안전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·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시간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·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환경 모두를 개선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하는</a:t>
            </a:r>
            <a:b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</a:b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UI" panose="020B0502040204020203" pitchFamily="34" charset="0"/>
              </a:rPr>
              <a:t>지속가능한 도시교통 모델로 확장 가능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별: 꼭짓점 5개 5">
            <a:extLst>
              <a:ext uri="{FF2B5EF4-FFF2-40B4-BE49-F238E27FC236}">
                <a16:creationId xmlns:a16="http://schemas.microsoft.com/office/drawing/2014/main" id="{0822D663-61D2-4EAA-A3C7-77FF145D5C0E}"/>
              </a:ext>
            </a:extLst>
          </p:cNvPr>
          <p:cNvSpPr/>
          <p:nvPr/>
        </p:nvSpPr>
        <p:spPr>
          <a:xfrm rot="1624730">
            <a:off x="3897975" y="5307929"/>
            <a:ext cx="317500" cy="317500"/>
          </a:xfrm>
          <a:prstGeom prst="star5">
            <a:avLst/>
          </a:prstGeom>
          <a:solidFill>
            <a:srgbClr val="30AE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67342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4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Marker/>
                    </a14:imgEffect>
                    <a14:imgEffect>
                      <a14:sharpenSoften amount="-100000"/>
                    </a14:imgEffect>
                    <a14:imgEffect>
                      <a14:brightnessContrast bright="-77000" contrast="3500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34EF1DE0-F391-4C88-A925-487D88C22D45}"/>
              </a:ext>
            </a:extLst>
          </p:cNvPr>
          <p:cNvSpPr/>
          <p:nvPr/>
        </p:nvSpPr>
        <p:spPr>
          <a:xfrm>
            <a:off x="2887857" y="3429000"/>
            <a:ext cx="6416279" cy="464342"/>
          </a:xfrm>
          <a:prstGeom prst="rect">
            <a:avLst/>
          </a:prstGeom>
          <a:solidFill>
            <a:srgbClr val="30AEAA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DX_10</a:t>
            </a:r>
            <a:r>
              <a:rPr lang="ko-KR" altLang="en-US" b="1" dirty="0">
                <a:solidFill>
                  <a:schemeClr val="tx1"/>
                </a:solidFill>
              </a:rPr>
              <a:t>반</a:t>
            </a:r>
            <a:r>
              <a:rPr lang="en-US" altLang="ko-KR" b="1" dirty="0">
                <a:solidFill>
                  <a:schemeClr val="tx1"/>
                </a:solidFill>
              </a:rPr>
              <a:t>_26</a:t>
            </a:r>
            <a:r>
              <a:rPr lang="ko-KR" altLang="en-US" b="1" dirty="0">
                <a:solidFill>
                  <a:schemeClr val="tx1"/>
                </a:solidFill>
              </a:rPr>
              <a:t>조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67C9DE3F-7BEC-4379-87B0-E18EA514C9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65" y="6417517"/>
            <a:ext cx="966068" cy="543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2D3F1C-C051-4EB8-8EC1-54AB6D32C74F}"/>
              </a:ext>
            </a:extLst>
          </p:cNvPr>
          <p:cNvSpPr txBox="1"/>
          <p:nvPr/>
        </p:nvSpPr>
        <p:spPr>
          <a:xfrm>
            <a:off x="4444738" y="2534591"/>
            <a:ext cx="33025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bg1"/>
                </a:solidFill>
                <a:latin typeface="Gadugi" panose="020B0502040204020203" pitchFamily="34" charset="0"/>
              </a:rPr>
              <a:t>END</a:t>
            </a:r>
            <a:endParaRPr lang="ko-KR" altLang="en-US" sz="6000" b="1" dirty="0">
              <a:solidFill>
                <a:schemeClr val="bg1"/>
              </a:solidFill>
              <a:latin typeface="Gadug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4673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703</TotalTime>
  <Words>2021</Words>
  <Application>Microsoft Office PowerPoint</Application>
  <PresentationFormat>와이드스크린</PresentationFormat>
  <Paragraphs>311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9" baseType="lpstr">
      <vt:lpstr>NanumSquareEB</vt:lpstr>
      <vt:lpstr>맑은 고딕</vt:lpstr>
      <vt:lpstr>Arial</vt:lpstr>
      <vt:lpstr>Bahnschrift SemiBold SemiConden</vt:lpstr>
      <vt:lpstr>Gadugi</vt:lpstr>
      <vt:lpstr>Segoe UI</vt:lpstr>
      <vt:lpstr>Office 테마</vt:lpstr>
      <vt:lpstr>도심 교통 데이터를 활용한 ITS기획 및 인프라 설계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DX_10반_26조</dc:title>
  <dc:creator>User</dc:creator>
  <cp:lastModifiedBy>User</cp:lastModifiedBy>
  <cp:revision>66</cp:revision>
  <dcterms:created xsi:type="dcterms:W3CDTF">2025-06-19T01:52:14Z</dcterms:created>
  <dcterms:modified xsi:type="dcterms:W3CDTF">2025-06-20T05:45:14Z</dcterms:modified>
</cp:coreProperties>
</file>